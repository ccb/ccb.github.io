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1"/>
  </p:notesMasterIdLst>
  <p:sldIdLst>
    <p:sldId id="257" r:id="rId2"/>
    <p:sldId id="258" r:id="rId3"/>
    <p:sldId id="636" r:id="rId4"/>
    <p:sldId id="637" r:id="rId5"/>
    <p:sldId id="638" r:id="rId6"/>
    <p:sldId id="651" r:id="rId7"/>
    <p:sldId id="262" r:id="rId8"/>
    <p:sldId id="684" r:id="rId9"/>
    <p:sldId id="264" r:id="rId10"/>
    <p:sldId id="263" r:id="rId11"/>
    <p:sldId id="622" r:id="rId12"/>
    <p:sldId id="270" r:id="rId13"/>
    <p:sldId id="656" r:id="rId14"/>
    <p:sldId id="682" r:id="rId15"/>
    <p:sldId id="658" r:id="rId16"/>
    <p:sldId id="286" r:id="rId17"/>
    <p:sldId id="683" r:id="rId18"/>
    <p:sldId id="289" r:id="rId19"/>
    <p:sldId id="660" r:id="rId20"/>
    <p:sldId id="659" r:id="rId21"/>
    <p:sldId id="661" r:id="rId22"/>
    <p:sldId id="294" r:id="rId23"/>
    <p:sldId id="628" r:id="rId24"/>
    <p:sldId id="662" r:id="rId25"/>
    <p:sldId id="586" r:id="rId26"/>
    <p:sldId id="589" r:id="rId27"/>
    <p:sldId id="314" r:id="rId28"/>
    <p:sldId id="315" r:id="rId29"/>
    <p:sldId id="317" r:id="rId30"/>
    <p:sldId id="666" r:id="rId31"/>
    <p:sldId id="667" r:id="rId32"/>
    <p:sldId id="669" r:id="rId33"/>
    <p:sldId id="671" r:id="rId34"/>
    <p:sldId id="685" r:id="rId35"/>
    <p:sldId id="602" r:id="rId36"/>
    <p:sldId id="631" r:id="rId37"/>
    <p:sldId id="687" r:id="rId38"/>
    <p:sldId id="688" r:id="rId39"/>
    <p:sldId id="591" r:id="rId40"/>
    <p:sldId id="546" r:id="rId41"/>
    <p:sldId id="679" r:id="rId42"/>
    <p:sldId id="592" r:id="rId43"/>
    <p:sldId id="533" r:id="rId44"/>
    <p:sldId id="601" r:id="rId45"/>
    <p:sldId id="630" r:id="rId46"/>
    <p:sldId id="680" r:id="rId47"/>
    <p:sldId id="681" r:id="rId48"/>
    <p:sldId id="604" r:id="rId49"/>
    <p:sldId id="556" r:id="rId50"/>
    <p:sldId id="690" r:id="rId51"/>
    <p:sldId id="603" r:id="rId52"/>
    <p:sldId id="562" r:id="rId53"/>
    <p:sldId id="563" r:id="rId54"/>
    <p:sldId id="691" r:id="rId55"/>
    <p:sldId id="692" r:id="rId56"/>
    <p:sldId id="607" r:id="rId57"/>
    <p:sldId id="608" r:id="rId58"/>
    <p:sldId id="673" r:id="rId59"/>
    <p:sldId id="675" r:id="rId60"/>
    <p:sldId id="674" r:id="rId61"/>
    <p:sldId id="676" r:id="rId62"/>
    <p:sldId id="609" r:id="rId63"/>
    <p:sldId id="610" r:id="rId64"/>
    <p:sldId id="621" r:id="rId65"/>
    <p:sldId id="677" r:id="rId66"/>
    <p:sldId id="678" r:id="rId67"/>
    <p:sldId id="611" r:id="rId68"/>
    <p:sldId id="615" r:id="rId69"/>
    <p:sldId id="619" r:id="rId70"/>
    <p:sldId id="646" r:id="rId71"/>
    <p:sldId id="632" r:id="rId72"/>
    <p:sldId id="639" r:id="rId73"/>
    <p:sldId id="649" r:id="rId74"/>
    <p:sldId id="640" r:id="rId75"/>
    <p:sldId id="641" r:id="rId76"/>
    <p:sldId id="642" r:id="rId77"/>
    <p:sldId id="643" r:id="rId78"/>
    <p:sldId id="644" r:id="rId79"/>
    <p:sldId id="693" r:id="rId8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677FBB74-7774-35BC-70AF-6456B07FB17F}" name="Kashyap, Aditya Mahesh" initials="AK" userId="S::kashyap@upenn.edu::c91cc1ec-693d-40ad-bc6d-b0e0d1958548"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BB0003"/>
    <a:srgbClr val="FC675D"/>
    <a:srgbClr val="FFC000"/>
    <a:srgbClr val="E6CA8A"/>
    <a:srgbClr val="ABC0E5"/>
    <a:srgbClr val="B3C5E6"/>
    <a:srgbClr val="E6C991"/>
    <a:srgbClr val="FFF9CF"/>
    <a:srgbClr val="BFFFBF"/>
    <a:srgbClr val="F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5610"/>
  </p:normalViewPr>
  <p:slideViewPr>
    <p:cSldViewPr snapToGrid="0">
      <p:cViewPr>
        <p:scale>
          <a:sx n="115" d="100"/>
          <a:sy n="115" d="100"/>
        </p:scale>
        <p:origin x="472" y="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783BF7-43BF-D744-B378-38DDE9649A2C}" type="datetimeFigureOut">
              <a:rPr lang="en-US" smtClean="0"/>
              <a:t>1/15/25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C9B0D0-4838-D54D-9085-AA89CF79E392}" type="slidenum">
              <a:rPr lang="en-US" smtClean="0"/>
              <a:t>‹#›</a:t>
            </a:fld>
            <a:endParaRPr lang="en-US"/>
          </a:p>
        </p:txBody>
      </p:sp>
    </p:spTree>
    <p:extLst>
      <p:ext uri="{BB962C8B-B14F-4D97-AF65-F5344CB8AC3E}">
        <p14:creationId xmlns:p14="http://schemas.microsoft.com/office/powerpoint/2010/main" val="1130085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C9B0D0-4838-D54D-9085-AA89CF79E392}" type="slidenum">
              <a:rPr lang="en-US" smtClean="0"/>
              <a:t>49</a:t>
            </a:fld>
            <a:endParaRPr lang="en-US"/>
          </a:p>
        </p:txBody>
      </p:sp>
    </p:spTree>
    <p:extLst>
      <p:ext uri="{BB962C8B-B14F-4D97-AF65-F5344CB8AC3E}">
        <p14:creationId xmlns:p14="http://schemas.microsoft.com/office/powerpoint/2010/main" val="1911998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C9B0D0-4838-D54D-9085-AA89CF79E392}" type="slidenum">
              <a:rPr lang="en-US" smtClean="0"/>
              <a:t>50</a:t>
            </a:fld>
            <a:endParaRPr lang="en-US"/>
          </a:p>
        </p:txBody>
      </p:sp>
    </p:spTree>
    <p:extLst>
      <p:ext uri="{BB962C8B-B14F-4D97-AF65-F5344CB8AC3E}">
        <p14:creationId xmlns:p14="http://schemas.microsoft.com/office/powerpoint/2010/main" val="2175766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73BBF-7E5A-04B3-509B-79B7813252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6C83B90-0EEC-8780-782C-4AB86685BE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8F7E78-27BF-FD1A-19B4-C38DCAE3780A}"/>
              </a:ext>
            </a:extLst>
          </p:cNvPr>
          <p:cNvSpPr>
            <a:spLocks noGrp="1"/>
          </p:cNvSpPr>
          <p:nvPr>
            <p:ph type="dt" sz="half" idx="10"/>
          </p:nvPr>
        </p:nvSpPr>
        <p:spPr/>
        <p:txBody>
          <a:bodyPr/>
          <a:lstStyle/>
          <a:p>
            <a:fld id="{7AAD3A36-1171-4841-9945-C012B76B4C24}" type="datetime1">
              <a:rPr lang="en-US" smtClean="0"/>
              <a:t>1/18/25</a:t>
            </a:fld>
            <a:endParaRPr lang="en-US"/>
          </a:p>
        </p:txBody>
      </p:sp>
      <p:sp>
        <p:nvSpPr>
          <p:cNvPr id="5" name="Footer Placeholder 4">
            <a:extLst>
              <a:ext uri="{FF2B5EF4-FFF2-40B4-BE49-F238E27FC236}">
                <a16:creationId xmlns:a16="http://schemas.microsoft.com/office/drawing/2014/main" id="{0C2F50DA-E7CA-0379-446A-8C3BA2609A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0E152B-3A6D-413E-7842-5C89BC0DDADF}"/>
              </a:ext>
            </a:extLst>
          </p:cNvPr>
          <p:cNvSpPr>
            <a:spLocks noGrp="1"/>
          </p:cNvSpPr>
          <p:nvPr>
            <p:ph type="sldNum" sz="quarter" idx="12"/>
          </p:nvPr>
        </p:nvSpPr>
        <p:spPr/>
        <p:txBody>
          <a:bodyPr/>
          <a:lstStyle/>
          <a:p>
            <a:fld id="{BDA8D12A-5188-A74B-8183-7E806E12A340}" type="slidenum">
              <a:rPr lang="en-US" smtClean="0"/>
              <a:t>‹#›</a:t>
            </a:fld>
            <a:endParaRPr lang="en-US"/>
          </a:p>
        </p:txBody>
      </p:sp>
    </p:spTree>
    <p:extLst>
      <p:ext uri="{BB962C8B-B14F-4D97-AF65-F5344CB8AC3E}">
        <p14:creationId xmlns:p14="http://schemas.microsoft.com/office/powerpoint/2010/main" val="3516793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EDA7F-DC9A-ABE6-5379-23A415518A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665DD6-3B3A-D82C-49CF-F83503F2C6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11545E-D310-4D80-3B13-700618CE91F0}"/>
              </a:ext>
            </a:extLst>
          </p:cNvPr>
          <p:cNvSpPr>
            <a:spLocks noGrp="1"/>
          </p:cNvSpPr>
          <p:nvPr>
            <p:ph type="dt" sz="half" idx="10"/>
          </p:nvPr>
        </p:nvSpPr>
        <p:spPr/>
        <p:txBody>
          <a:bodyPr/>
          <a:lstStyle/>
          <a:p>
            <a:fld id="{C3E6ACA6-BBDB-354A-8CAC-F5F283FBB7C4}" type="datetime1">
              <a:rPr lang="en-US" smtClean="0"/>
              <a:t>1/18/25</a:t>
            </a:fld>
            <a:endParaRPr lang="en-US"/>
          </a:p>
        </p:txBody>
      </p:sp>
      <p:sp>
        <p:nvSpPr>
          <p:cNvPr id="5" name="Footer Placeholder 4">
            <a:extLst>
              <a:ext uri="{FF2B5EF4-FFF2-40B4-BE49-F238E27FC236}">
                <a16:creationId xmlns:a16="http://schemas.microsoft.com/office/drawing/2014/main" id="{076658C3-6465-61C7-2B78-4280489517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9A4F2D-D0CB-F28A-F055-387CD9D57401}"/>
              </a:ext>
            </a:extLst>
          </p:cNvPr>
          <p:cNvSpPr>
            <a:spLocks noGrp="1"/>
          </p:cNvSpPr>
          <p:nvPr>
            <p:ph type="sldNum" sz="quarter" idx="12"/>
          </p:nvPr>
        </p:nvSpPr>
        <p:spPr>
          <a:xfrm>
            <a:off x="9190464" y="230188"/>
            <a:ext cx="2743200" cy="365125"/>
          </a:xfrm>
        </p:spPr>
        <p:txBody>
          <a:bodyPr/>
          <a:lstStyle>
            <a:lvl1pPr>
              <a:defRPr sz="1600"/>
            </a:lvl1pPr>
          </a:lstStyle>
          <a:p>
            <a:fld id="{BDA8D12A-5188-A74B-8183-7E806E12A340}" type="slidenum">
              <a:rPr lang="en-US" smtClean="0"/>
              <a:pPr/>
              <a:t>‹#›</a:t>
            </a:fld>
            <a:endParaRPr lang="en-US" dirty="0"/>
          </a:p>
        </p:txBody>
      </p:sp>
    </p:spTree>
    <p:extLst>
      <p:ext uri="{BB962C8B-B14F-4D97-AF65-F5344CB8AC3E}">
        <p14:creationId xmlns:p14="http://schemas.microsoft.com/office/powerpoint/2010/main" val="1140419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EEC3E-CA3B-3A93-9058-F8EC50C233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ADDCB53-E435-F5BD-2960-6AC5A92571C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E976C2-CB71-91CC-F0C1-A0AEA550AD61}"/>
              </a:ext>
            </a:extLst>
          </p:cNvPr>
          <p:cNvSpPr>
            <a:spLocks noGrp="1"/>
          </p:cNvSpPr>
          <p:nvPr>
            <p:ph type="dt" sz="half" idx="10"/>
          </p:nvPr>
        </p:nvSpPr>
        <p:spPr/>
        <p:txBody>
          <a:bodyPr/>
          <a:lstStyle/>
          <a:p>
            <a:fld id="{E7E06C0C-AA85-B546-8CC7-B6A2485272B9}" type="datetime1">
              <a:rPr lang="en-US" smtClean="0"/>
              <a:t>1/18/25</a:t>
            </a:fld>
            <a:endParaRPr lang="en-US"/>
          </a:p>
        </p:txBody>
      </p:sp>
      <p:sp>
        <p:nvSpPr>
          <p:cNvPr id="5" name="Footer Placeholder 4">
            <a:extLst>
              <a:ext uri="{FF2B5EF4-FFF2-40B4-BE49-F238E27FC236}">
                <a16:creationId xmlns:a16="http://schemas.microsoft.com/office/drawing/2014/main" id="{5EE52918-46C9-1AE6-DD89-318C5D4DCD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47E553-B9EB-4153-FBA0-83A121AD6C57}"/>
              </a:ext>
            </a:extLst>
          </p:cNvPr>
          <p:cNvSpPr>
            <a:spLocks noGrp="1"/>
          </p:cNvSpPr>
          <p:nvPr>
            <p:ph type="sldNum" sz="quarter" idx="12"/>
          </p:nvPr>
        </p:nvSpPr>
        <p:spPr/>
        <p:txBody>
          <a:bodyPr/>
          <a:lstStyle/>
          <a:p>
            <a:fld id="{BDA8D12A-5188-A74B-8183-7E806E12A340}" type="slidenum">
              <a:rPr lang="en-US" smtClean="0"/>
              <a:t>‹#›</a:t>
            </a:fld>
            <a:endParaRPr lang="en-US"/>
          </a:p>
        </p:txBody>
      </p:sp>
    </p:spTree>
    <p:extLst>
      <p:ext uri="{BB962C8B-B14F-4D97-AF65-F5344CB8AC3E}">
        <p14:creationId xmlns:p14="http://schemas.microsoft.com/office/powerpoint/2010/main" val="1750270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CB9F3-9648-81B9-AA9A-1698554A9F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F9E9C7-39DE-F8C2-949B-6C82B4B24F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1F26FB4-0831-D4A2-4F09-B04C2310D2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FE97CC-9FF9-D0F2-CC18-13555AC88BB4}"/>
              </a:ext>
            </a:extLst>
          </p:cNvPr>
          <p:cNvSpPr>
            <a:spLocks noGrp="1"/>
          </p:cNvSpPr>
          <p:nvPr>
            <p:ph type="dt" sz="half" idx="10"/>
          </p:nvPr>
        </p:nvSpPr>
        <p:spPr/>
        <p:txBody>
          <a:bodyPr/>
          <a:lstStyle/>
          <a:p>
            <a:fld id="{D5F71CB4-0A44-8942-BCE8-B4F5102D53E7}" type="datetime1">
              <a:rPr lang="en-US" smtClean="0"/>
              <a:t>1/18/25</a:t>
            </a:fld>
            <a:endParaRPr lang="en-US"/>
          </a:p>
        </p:txBody>
      </p:sp>
      <p:sp>
        <p:nvSpPr>
          <p:cNvPr id="6" name="Footer Placeholder 5">
            <a:extLst>
              <a:ext uri="{FF2B5EF4-FFF2-40B4-BE49-F238E27FC236}">
                <a16:creationId xmlns:a16="http://schemas.microsoft.com/office/drawing/2014/main" id="{5AC97A1E-2AE6-AE40-67D1-6E5417C725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848814-ECCA-FE20-4C9B-99E20635F164}"/>
              </a:ext>
            </a:extLst>
          </p:cNvPr>
          <p:cNvSpPr>
            <a:spLocks noGrp="1"/>
          </p:cNvSpPr>
          <p:nvPr>
            <p:ph type="sldNum" sz="quarter" idx="12"/>
          </p:nvPr>
        </p:nvSpPr>
        <p:spPr/>
        <p:txBody>
          <a:bodyPr/>
          <a:lstStyle/>
          <a:p>
            <a:fld id="{BDA8D12A-5188-A74B-8183-7E806E12A340}" type="slidenum">
              <a:rPr lang="en-US" smtClean="0"/>
              <a:t>‹#›</a:t>
            </a:fld>
            <a:endParaRPr lang="en-US"/>
          </a:p>
        </p:txBody>
      </p:sp>
    </p:spTree>
    <p:extLst>
      <p:ext uri="{BB962C8B-B14F-4D97-AF65-F5344CB8AC3E}">
        <p14:creationId xmlns:p14="http://schemas.microsoft.com/office/powerpoint/2010/main" val="2197575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FFCEC-CDDA-0F7B-E01A-C6156365993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0761B4C-C6EB-67D0-E105-E2751FA8CD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D21CDF-790F-3730-E744-2D41EA35B4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06F4B8-3967-276B-0B4E-173D7D2D7F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FAC15D-8D04-7C61-0A62-C624171A4F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18EF54-C53D-A2D8-76E2-C1596A8E673A}"/>
              </a:ext>
            </a:extLst>
          </p:cNvPr>
          <p:cNvSpPr>
            <a:spLocks noGrp="1"/>
          </p:cNvSpPr>
          <p:nvPr>
            <p:ph type="dt" sz="half" idx="10"/>
          </p:nvPr>
        </p:nvSpPr>
        <p:spPr/>
        <p:txBody>
          <a:bodyPr/>
          <a:lstStyle/>
          <a:p>
            <a:fld id="{D9FDFC7C-1A43-074B-B1F2-4CCFCB501654}" type="datetime1">
              <a:rPr lang="en-US" smtClean="0"/>
              <a:t>1/18/25</a:t>
            </a:fld>
            <a:endParaRPr lang="en-US"/>
          </a:p>
        </p:txBody>
      </p:sp>
      <p:sp>
        <p:nvSpPr>
          <p:cNvPr id="8" name="Footer Placeholder 7">
            <a:extLst>
              <a:ext uri="{FF2B5EF4-FFF2-40B4-BE49-F238E27FC236}">
                <a16:creationId xmlns:a16="http://schemas.microsoft.com/office/drawing/2014/main" id="{9B5474C2-5B83-734A-5E2D-D970C1F863E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BC09DB-3AAB-A9B3-CDC4-B78AAAD5FA80}"/>
              </a:ext>
            </a:extLst>
          </p:cNvPr>
          <p:cNvSpPr>
            <a:spLocks noGrp="1"/>
          </p:cNvSpPr>
          <p:nvPr>
            <p:ph type="sldNum" sz="quarter" idx="12"/>
          </p:nvPr>
        </p:nvSpPr>
        <p:spPr/>
        <p:txBody>
          <a:bodyPr/>
          <a:lstStyle/>
          <a:p>
            <a:fld id="{BDA8D12A-5188-A74B-8183-7E806E12A340}" type="slidenum">
              <a:rPr lang="en-US" smtClean="0"/>
              <a:t>‹#›</a:t>
            </a:fld>
            <a:endParaRPr lang="en-US"/>
          </a:p>
        </p:txBody>
      </p:sp>
    </p:spTree>
    <p:extLst>
      <p:ext uri="{BB962C8B-B14F-4D97-AF65-F5344CB8AC3E}">
        <p14:creationId xmlns:p14="http://schemas.microsoft.com/office/powerpoint/2010/main" val="4039142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87432-B1E2-FD96-AF69-9ECC66537E0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4A720F-557C-B281-CF6A-B6CE436F6522}"/>
              </a:ext>
            </a:extLst>
          </p:cNvPr>
          <p:cNvSpPr>
            <a:spLocks noGrp="1"/>
          </p:cNvSpPr>
          <p:nvPr>
            <p:ph type="dt" sz="half" idx="10"/>
          </p:nvPr>
        </p:nvSpPr>
        <p:spPr/>
        <p:txBody>
          <a:bodyPr/>
          <a:lstStyle/>
          <a:p>
            <a:fld id="{15473EAB-6433-4642-A94B-C9A166ECB381}" type="datetime1">
              <a:rPr lang="en-US" smtClean="0"/>
              <a:t>1/18/25</a:t>
            </a:fld>
            <a:endParaRPr lang="en-US"/>
          </a:p>
        </p:txBody>
      </p:sp>
      <p:sp>
        <p:nvSpPr>
          <p:cNvPr id="4" name="Footer Placeholder 3">
            <a:extLst>
              <a:ext uri="{FF2B5EF4-FFF2-40B4-BE49-F238E27FC236}">
                <a16:creationId xmlns:a16="http://schemas.microsoft.com/office/drawing/2014/main" id="{176CE408-A0AF-193E-F8F8-B978626BD26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FDACE2D-9CAD-EF4C-C4EF-3BF91B161AFF}"/>
              </a:ext>
            </a:extLst>
          </p:cNvPr>
          <p:cNvSpPr>
            <a:spLocks noGrp="1"/>
          </p:cNvSpPr>
          <p:nvPr>
            <p:ph type="sldNum" sz="quarter" idx="12"/>
          </p:nvPr>
        </p:nvSpPr>
        <p:spPr/>
        <p:txBody>
          <a:bodyPr/>
          <a:lstStyle/>
          <a:p>
            <a:fld id="{BDA8D12A-5188-A74B-8183-7E806E12A340}" type="slidenum">
              <a:rPr lang="en-US" smtClean="0"/>
              <a:t>‹#›</a:t>
            </a:fld>
            <a:endParaRPr lang="en-US"/>
          </a:p>
        </p:txBody>
      </p:sp>
    </p:spTree>
    <p:extLst>
      <p:ext uri="{BB962C8B-B14F-4D97-AF65-F5344CB8AC3E}">
        <p14:creationId xmlns:p14="http://schemas.microsoft.com/office/powerpoint/2010/main" val="3876816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B3E13F-BDDB-8502-8BB6-00C24DC2980A}"/>
              </a:ext>
            </a:extLst>
          </p:cNvPr>
          <p:cNvSpPr>
            <a:spLocks noGrp="1"/>
          </p:cNvSpPr>
          <p:nvPr>
            <p:ph type="dt" sz="half" idx="10"/>
          </p:nvPr>
        </p:nvSpPr>
        <p:spPr/>
        <p:txBody>
          <a:bodyPr/>
          <a:lstStyle/>
          <a:p>
            <a:fld id="{8C3FA815-2618-0A4D-A1AF-E2ED7EB85028}" type="datetime1">
              <a:rPr lang="en-US" smtClean="0"/>
              <a:t>1/18/25</a:t>
            </a:fld>
            <a:endParaRPr lang="en-US"/>
          </a:p>
        </p:txBody>
      </p:sp>
      <p:sp>
        <p:nvSpPr>
          <p:cNvPr id="3" name="Footer Placeholder 2">
            <a:extLst>
              <a:ext uri="{FF2B5EF4-FFF2-40B4-BE49-F238E27FC236}">
                <a16:creationId xmlns:a16="http://schemas.microsoft.com/office/drawing/2014/main" id="{74E35D63-627D-824F-2CC0-DFA0C63DB84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3D05A6D-1FAA-BCA3-716B-DDBC29DD8F82}"/>
              </a:ext>
            </a:extLst>
          </p:cNvPr>
          <p:cNvSpPr>
            <a:spLocks noGrp="1"/>
          </p:cNvSpPr>
          <p:nvPr>
            <p:ph type="sldNum" sz="quarter" idx="12"/>
          </p:nvPr>
        </p:nvSpPr>
        <p:spPr/>
        <p:txBody>
          <a:bodyPr/>
          <a:lstStyle/>
          <a:p>
            <a:fld id="{BDA8D12A-5188-A74B-8183-7E806E12A340}" type="slidenum">
              <a:rPr lang="en-US" smtClean="0"/>
              <a:t>‹#›</a:t>
            </a:fld>
            <a:endParaRPr lang="en-US"/>
          </a:p>
        </p:txBody>
      </p:sp>
    </p:spTree>
    <p:extLst>
      <p:ext uri="{BB962C8B-B14F-4D97-AF65-F5344CB8AC3E}">
        <p14:creationId xmlns:p14="http://schemas.microsoft.com/office/powerpoint/2010/main" val="964830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77BB0-E63C-EF0F-860A-FAB876F8EA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091F1CA-41CD-ED0F-C2B1-BCF518D64B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F26A4F-503B-6389-8A5B-809A6FBF57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8AB8D0-7486-49F3-4EDD-1EE6BC76E470}"/>
              </a:ext>
            </a:extLst>
          </p:cNvPr>
          <p:cNvSpPr>
            <a:spLocks noGrp="1"/>
          </p:cNvSpPr>
          <p:nvPr>
            <p:ph type="dt" sz="half" idx="10"/>
          </p:nvPr>
        </p:nvSpPr>
        <p:spPr/>
        <p:txBody>
          <a:bodyPr/>
          <a:lstStyle/>
          <a:p>
            <a:fld id="{25962552-3C4C-F04E-AEE1-C85E9D39F7F3}" type="datetime1">
              <a:rPr lang="en-US" smtClean="0"/>
              <a:t>1/18/25</a:t>
            </a:fld>
            <a:endParaRPr lang="en-US"/>
          </a:p>
        </p:txBody>
      </p:sp>
      <p:sp>
        <p:nvSpPr>
          <p:cNvPr id="6" name="Footer Placeholder 5">
            <a:extLst>
              <a:ext uri="{FF2B5EF4-FFF2-40B4-BE49-F238E27FC236}">
                <a16:creationId xmlns:a16="http://schemas.microsoft.com/office/drawing/2014/main" id="{C28E3751-A454-CB5E-D912-18440D65A2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4D7785-C914-AB17-2FDD-F29F66F32F24}"/>
              </a:ext>
            </a:extLst>
          </p:cNvPr>
          <p:cNvSpPr>
            <a:spLocks noGrp="1"/>
          </p:cNvSpPr>
          <p:nvPr>
            <p:ph type="sldNum" sz="quarter" idx="12"/>
          </p:nvPr>
        </p:nvSpPr>
        <p:spPr/>
        <p:txBody>
          <a:bodyPr/>
          <a:lstStyle/>
          <a:p>
            <a:fld id="{BDA8D12A-5188-A74B-8183-7E806E12A340}" type="slidenum">
              <a:rPr lang="en-US" smtClean="0"/>
              <a:t>‹#›</a:t>
            </a:fld>
            <a:endParaRPr lang="en-US"/>
          </a:p>
        </p:txBody>
      </p:sp>
    </p:spTree>
    <p:extLst>
      <p:ext uri="{BB962C8B-B14F-4D97-AF65-F5344CB8AC3E}">
        <p14:creationId xmlns:p14="http://schemas.microsoft.com/office/powerpoint/2010/main" val="3040813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3DA53-82E6-700A-DC5F-4809B1552D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291857A-E569-E530-91BF-E0621462E6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4D8CE6B-FDF1-5A75-43E7-893B85A701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14F484-6EFA-83A8-72EF-999B81501C1A}"/>
              </a:ext>
            </a:extLst>
          </p:cNvPr>
          <p:cNvSpPr>
            <a:spLocks noGrp="1"/>
          </p:cNvSpPr>
          <p:nvPr>
            <p:ph type="dt" sz="half" idx="10"/>
          </p:nvPr>
        </p:nvSpPr>
        <p:spPr/>
        <p:txBody>
          <a:bodyPr/>
          <a:lstStyle/>
          <a:p>
            <a:fld id="{70D8818E-AF9D-FD4B-9515-ED0BEA37C6C1}" type="datetime1">
              <a:rPr lang="en-US" smtClean="0"/>
              <a:t>1/18/25</a:t>
            </a:fld>
            <a:endParaRPr lang="en-US"/>
          </a:p>
        </p:txBody>
      </p:sp>
      <p:sp>
        <p:nvSpPr>
          <p:cNvPr id="6" name="Footer Placeholder 5">
            <a:extLst>
              <a:ext uri="{FF2B5EF4-FFF2-40B4-BE49-F238E27FC236}">
                <a16:creationId xmlns:a16="http://schemas.microsoft.com/office/drawing/2014/main" id="{2A9635C7-08DE-FD8A-D796-55B70B7195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6B484E-4A79-216A-8D73-7835CAAEAFFC}"/>
              </a:ext>
            </a:extLst>
          </p:cNvPr>
          <p:cNvSpPr>
            <a:spLocks noGrp="1"/>
          </p:cNvSpPr>
          <p:nvPr>
            <p:ph type="sldNum" sz="quarter" idx="12"/>
          </p:nvPr>
        </p:nvSpPr>
        <p:spPr/>
        <p:txBody>
          <a:bodyPr/>
          <a:lstStyle/>
          <a:p>
            <a:fld id="{BDA8D12A-5188-A74B-8183-7E806E12A340}" type="slidenum">
              <a:rPr lang="en-US" smtClean="0"/>
              <a:t>‹#›</a:t>
            </a:fld>
            <a:endParaRPr lang="en-US"/>
          </a:p>
        </p:txBody>
      </p:sp>
    </p:spTree>
    <p:extLst>
      <p:ext uri="{BB962C8B-B14F-4D97-AF65-F5344CB8AC3E}">
        <p14:creationId xmlns:p14="http://schemas.microsoft.com/office/powerpoint/2010/main" val="3871412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87FF9-0588-2BFF-CC0B-AFC3BF2CE8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F465723-B187-4AEB-3087-56BFBCDD2DA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1D5004-3BD3-C2C2-C26B-74BD3881D14D}"/>
              </a:ext>
            </a:extLst>
          </p:cNvPr>
          <p:cNvSpPr>
            <a:spLocks noGrp="1"/>
          </p:cNvSpPr>
          <p:nvPr>
            <p:ph type="dt" sz="half" idx="10"/>
          </p:nvPr>
        </p:nvSpPr>
        <p:spPr/>
        <p:txBody>
          <a:bodyPr/>
          <a:lstStyle/>
          <a:p>
            <a:fld id="{AA3A0CF6-0B04-DE44-A660-9A78F681579C}" type="datetime1">
              <a:rPr lang="en-US" smtClean="0"/>
              <a:t>1/18/25</a:t>
            </a:fld>
            <a:endParaRPr lang="en-US"/>
          </a:p>
        </p:txBody>
      </p:sp>
      <p:sp>
        <p:nvSpPr>
          <p:cNvPr id="5" name="Footer Placeholder 4">
            <a:extLst>
              <a:ext uri="{FF2B5EF4-FFF2-40B4-BE49-F238E27FC236}">
                <a16:creationId xmlns:a16="http://schemas.microsoft.com/office/drawing/2014/main" id="{141DA712-2F81-D496-611C-7DD2F053BB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BB5E41-381B-139F-4B3D-664C8276BB3E}"/>
              </a:ext>
            </a:extLst>
          </p:cNvPr>
          <p:cNvSpPr>
            <a:spLocks noGrp="1"/>
          </p:cNvSpPr>
          <p:nvPr>
            <p:ph type="sldNum" sz="quarter" idx="12"/>
          </p:nvPr>
        </p:nvSpPr>
        <p:spPr/>
        <p:txBody>
          <a:bodyPr/>
          <a:lstStyle/>
          <a:p>
            <a:fld id="{BDA8D12A-5188-A74B-8183-7E806E12A340}" type="slidenum">
              <a:rPr lang="en-US" smtClean="0"/>
              <a:t>‹#›</a:t>
            </a:fld>
            <a:endParaRPr lang="en-US"/>
          </a:p>
        </p:txBody>
      </p:sp>
    </p:spTree>
    <p:extLst>
      <p:ext uri="{BB962C8B-B14F-4D97-AF65-F5344CB8AC3E}">
        <p14:creationId xmlns:p14="http://schemas.microsoft.com/office/powerpoint/2010/main" val="78475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C259C6-4C88-7D38-5E34-87E0CC116D4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2616D3-7B80-9FCA-5EB0-7D09859467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63FD76-5A94-4768-C8BE-8FDAB2302046}"/>
              </a:ext>
            </a:extLst>
          </p:cNvPr>
          <p:cNvSpPr>
            <a:spLocks noGrp="1"/>
          </p:cNvSpPr>
          <p:nvPr>
            <p:ph type="dt" sz="half" idx="10"/>
          </p:nvPr>
        </p:nvSpPr>
        <p:spPr/>
        <p:txBody>
          <a:bodyPr/>
          <a:lstStyle/>
          <a:p>
            <a:fld id="{5FA2DB03-B673-224C-81FF-10CB2DC088EA}" type="datetime1">
              <a:rPr lang="en-US" smtClean="0"/>
              <a:t>1/18/25</a:t>
            </a:fld>
            <a:endParaRPr lang="en-US"/>
          </a:p>
        </p:txBody>
      </p:sp>
      <p:sp>
        <p:nvSpPr>
          <p:cNvPr id="5" name="Footer Placeholder 4">
            <a:extLst>
              <a:ext uri="{FF2B5EF4-FFF2-40B4-BE49-F238E27FC236}">
                <a16:creationId xmlns:a16="http://schemas.microsoft.com/office/drawing/2014/main" id="{9BF3C587-295B-30C9-D3A1-6964D10885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A02178-8F8C-DA5E-B164-9D96BBE84D48}"/>
              </a:ext>
            </a:extLst>
          </p:cNvPr>
          <p:cNvSpPr>
            <a:spLocks noGrp="1"/>
          </p:cNvSpPr>
          <p:nvPr>
            <p:ph type="sldNum" sz="quarter" idx="12"/>
          </p:nvPr>
        </p:nvSpPr>
        <p:spPr/>
        <p:txBody>
          <a:bodyPr/>
          <a:lstStyle/>
          <a:p>
            <a:fld id="{BDA8D12A-5188-A74B-8183-7E806E12A340}" type="slidenum">
              <a:rPr lang="en-US" smtClean="0"/>
              <a:t>‹#›</a:t>
            </a:fld>
            <a:endParaRPr lang="en-US"/>
          </a:p>
        </p:txBody>
      </p:sp>
    </p:spTree>
    <p:extLst>
      <p:ext uri="{BB962C8B-B14F-4D97-AF65-F5344CB8AC3E}">
        <p14:creationId xmlns:p14="http://schemas.microsoft.com/office/powerpoint/2010/main" val="195984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D86939-A98E-427D-E77C-19510340F3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3384EA9-209C-2679-0896-292FEF7153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E7A2C0-F31D-B356-F4AD-9D0EB5B367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57F8B4-24F6-484B-BB1C-01BC047F6F42}" type="datetime1">
              <a:rPr lang="en-US" smtClean="0"/>
              <a:t>1/18/25</a:t>
            </a:fld>
            <a:endParaRPr lang="en-US"/>
          </a:p>
        </p:txBody>
      </p:sp>
      <p:sp>
        <p:nvSpPr>
          <p:cNvPr id="5" name="Footer Placeholder 4">
            <a:extLst>
              <a:ext uri="{FF2B5EF4-FFF2-40B4-BE49-F238E27FC236}">
                <a16:creationId xmlns:a16="http://schemas.microsoft.com/office/drawing/2014/main" id="{A54AF863-B01B-E5DF-D48E-8416E54E60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49238EE-D8DB-B998-AFE9-7971F4AFC4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A8D12A-5188-A74B-8183-7E806E12A340}" type="slidenum">
              <a:rPr lang="en-US" smtClean="0"/>
              <a:t>‹#›</a:t>
            </a:fld>
            <a:endParaRPr lang="en-US"/>
          </a:p>
        </p:txBody>
      </p:sp>
    </p:spTree>
    <p:extLst>
      <p:ext uri="{BB962C8B-B14F-4D97-AF65-F5344CB8AC3E}">
        <p14:creationId xmlns:p14="http://schemas.microsoft.com/office/powerpoint/2010/main" val="691024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1CB90-A7F3-B937-EB94-018C6B666E88}"/>
              </a:ext>
            </a:extLst>
          </p:cNvPr>
          <p:cNvSpPr>
            <a:spLocks noGrp="1"/>
          </p:cNvSpPr>
          <p:nvPr>
            <p:ph type="ctrTitle"/>
          </p:nvPr>
        </p:nvSpPr>
        <p:spPr>
          <a:xfrm>
            <a:off x="1439917" y="406400"/>
            <a:ext cx="9144000" cy="2387600"/>
          </a:xfrm>
        </p:spPr>
        <p:txBody>
          <a:bodyPr>
            <a:noAutofit/>
          </a:bodyPr>
          <a:lstStyle/>
          <a:p>
            <a:r>
              <a:rPr lang="en-US" sz="3200" b="0" i="0" u="none" strike="noStrike" dirty="0">
                <a:effectLst/>
                <a:latin typeface="Arial" panose="020B0604020202020204" pitchFamily="34" charset="0"/>
              </a:rPr>
              <a:t>Applying Language Models to Patient Health</a:t>
            </a:r>
            <a:br>
              <a:rPr lang="en-US" sz="3200" dirty="0"/>
            </a:br>
            <a:r>
              <a:rPr lang="en-US" sz="3200" b="0" i="0" u="none" strike="noStrike" dirty="0">
                <a:effectLst/>
                <a:latin typeface="Arial" panose="020B0604020202020204" pitchFamily="34" charset="0"/>
              </a:rPr>
              <a:t>Records: Acronym Expansion, Long Document</a:t>
            </a:r>
            <a:br>
              <a:rPr lang="en-US" sz="3200" dirty="0"/>
            </a:br>
            <a:r>
              <a:rPr lang="en-US" sz="3200" b="0" i="0" u="none" strike="noStrike" dirty="0">
                <a:effectLst/>
                <a:latin typeface="Arial" panose="020B0604020202020204" pitchFamily="34" charset="0"/>
              </a:rPr>
              <a:t>Classification and Explainable Predictions</a:t>
            </a:r>
            <a:endParaRPr lang="en-US" sz="3200" dirty="0"/>
          </a:p>
        </p:txBody>
      </p:sp>
      <p:sp>
        <p:nvSpPr>
          <p:cNvPr id="3" name="Subtitle 2">
            <a:extLst>
              <a:ext uri="{FF2B5EF4-FFF2-40B4-BE49-F238E27FC236}">
                <a16:creationId xmlns:a16="http://schemas.microsoft.com/office/drawing/2014/main" id="{634C0AA8-740A-2D05-7E77-9F4A56A58C15}"/>
              </a:ext>
            </a:extLst>
          </p:cNvPr>
          <p:cNvSpPr>
            <a:spLocks noGrp="1"/>
          </p:cNvSpPr>
          <p:nvPr>
            <p:ph type="subTitle" idx="1"/>
          </p:nvPr>
        </p:nvSpPr>
        <p:spPr>
          <a:xfrm>
            <a:off x="1439916" y="3126049"/>
            <a:ext cx="9974317" cy="1655762"/>
          </a:xfrm>
        </p:spPr>
        <p:txBody>
          <a:bodyPr>
            <a:normAutofit fontScale="85000" lnSpcReduction="10000"/>
          </a:bodyPr>
          <a:lstStyle/>
          <a:p>
            <a:pPr algn="l"/>
            <a:r>
              <a:rPr lang="en-US" dirty="0"/>
              <a:t>Aditya M. Kashyap’s Dissertation Defense</a:t>
            </a:r>
          </a:p>
          <a:p>
            <a:pPr algn="l"/>
            <a:r>
              <a:rPr lang="en-US" dirty="0"/>
              <a:t>Jan 20</a:t>
            </a:r>
            <a:r>
              <a:rPr lang="en-US" baseline="30000" dirty="0"/>
              <a:t>th</a:t>
            </a:r>
            <a:r>
              <a:rPr lang="en-US" dirty="0"/>
              <a:t>, 2025	</a:t>
            </a:r>
          </a:p>
          <a:p>
            <a:pPr algn="l"/>
            <a:r>
              <a:rPr lang="en-US" dirty="0"/>
              <a:t>Advisers: Chris </a:t>
            </a:r>
            <a:r>
              <a:rPr lang="en-US" dirty="0" err="1"/>
              <a:t>Callison</a:t>
            </a:r>
            <a:r>
              <a:rPr lang="en-US" dirty="0"/>
              <a:t>-Burch, Mary Regina Boland</a:t>
            </a:r>
          </a:p>
          <a:p>
            <a:pPr algn="l"/>
            <a:r>
              <a:rPr lang="en-US" dirty="0"/>
              <a:t>Committee: Lyle Ungar, Mark Liberman, Li Shen, Ying Ding (University of Texas at Austin)</a:t>
            </a:r>
          </a:p>
        </p:txBody>
      </p:sp>
      <p:pic>
        <p:nvPicPr>
          <p:cNvPr id="33796" name="Picture 4" descr="Penn Engineering Blog - Posts from the School of Engineering and Applied  Science">
            <a:extLst>
              <a:ext uri="{FF2B5EF4-FFF2-40B4-BE49-F238E27FC236}">
                <a16:creationId xmlns:a16="http://schemas.microsoft.com/office/drawing/2014/main" id="{71A6C73B-C56D-6029-F74F-ED009FD47C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890" y="5187122"/>
            <a:ext cx="3351989" cy="1166492"/>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3800" name="Picture 8">
            <a:extLst>
              <a:ext uri="{FF2B5EF4-FFF2-40B4-BE49-F238E27FC236}">
                <a16:creationId xmlns:a16="http://schemas.microsoft.com/office/drawing/2014/main" id="{47DD6ACD-0B9C-960C-C600-87AB42D650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9564" y="4859352"/>
            <a:ext cx="1736129" cy="1736129"/>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5461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681C8-2523-C547-D61B-11E0952DA62A}"/>
              </a:ext>
            </a:extLst>
          </p:cNvPr>
          <p:cNvSpPr>
            <a:spLocks noGrp="1"/>
          </p:cNvSpPr>
          <p:nvPr>
            <p:ph type="title"/>
          </p:nvPr>
        </p:nvSpPr>
        <p:spPr/>
        <p:txBody>
          <a:bodyPr/>
          <a:lstStyle/>
          <a:p>
            <a:r>
              <a:rPr lang="en-US" dirty="0"/>
              <a:t>Clinical NLP</a:t>
            </a:r>
          </a:p>
        </p:txBody>
      </p:sp>
      <p:sp>
        <p:nvSpPr>
          <p:cNvPr id="4" name="Rounded Rectangle 3">
            <a:extLst>
              <a:ext uri="{FF2B5EF4-FFF2-40B4-BE49-F238E27FC236}">
                <a16:creationId xmlns:a16="http://schemas.microsoft.com/office/drawing/2014/main" id="{4473558C-6F73-44A8-3FEB-2A0D299458BF}"/>
              </a:ext>
            </a:extLst>
          </p:cNvPr>
          <p:cNvSpPr/>
          <p:nvPr/>
        </p:nvSpPr>
        <p:spPr>
          <a:xfrm>
            <a:off x="838200" y="1690689"/>
            <a:ext cx="10848975" cy="2852736"/>
          </a:xfrm>
          <a:prstGeom prst="roundRect">
            <a:avLst/>
          </a:prstGeom>
          <a:solidFill>
            <a:schemeClr val="accent1">
              <a:lumMod val="60000"/>
              <a:lumOff val="40000"/>
            </a:schemeClr>
          </a:solidFill>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r>
              <a:rPr lang="en-US" sz="1800" dirty="0">
                <a:effectLst/>
                <a:latin typeface="Arial" panose="020B0604020202020204" pitchFamily="34" charset="0"/>
              </a:rPr>
              <a:t>History of Present Illness: 75 </a:t>
            </a:r>
            <a:r>
              <a:rPr lang="en-US" sz="1800" dirty="0" err="1">
                <a:effectLst/>
                <a:latin typeface="Arial" panose="020B0604020202020204" pitchFamily="34" charset="0"/>
              </a:rPr>
              <a:t>yo</a:t>
            </a:r>
            <a:r>
              <a:rPr lang="en-US" sz="1800" dirty="0">
                <a:effectLst/>
                <a:latin typeface="Arial" panose="020B0604020202020204" pitchFamily="34" charset="0"/>
              </a:rPr>
              <a:t> male, advanced gastric ca</a:t>
            </a:r>
            <a:r>
              <a:rPr lang="en-US" sz="1800" dirty="0">
                <a:latin typeface="Arial" panose="020B0604020202020204" pitchFamily="34" charset="0"/>
              </a:rPr>
              <a:t> </a:t>
            </a:r>
            <a:r>
              <a:rPr lang="en-US" sz="1800" dirty="0">
                <a:effectLst/>
                <a:latin typeface="Arial" panose="020B0604020202020204" pitchFamily="34" charset="0"/>
              </a:rPr>
              <a:t>recently started on chemotherapy presenting and </a:t>
            </a:r>
            <a:r>
              <a:rPr lang="en-US" sz="1800" dirty="0" err="1">
                <a:effectLst/>
                <a:latin typeface="Arial" panose="020B0604020202020204" pitchFamily="34" charset="0"/>
              </a:rPr>
              <a:t>hypotensiona</a:t>
            </a:r>
            <a:r>
              <a:rPr lang="en-US" sz="1800" dirty="0">
                <a:latin typeface="Arial" panose="020B0604020202020204" pitchFamily="34" charset="0"/>
              </a:rPr>
              <a:t> </a:t>
            </a:r>
            <a:r>
              <a:rPr lang="en-US" sz="1800" dirty="0" err="1">
                <a:effectLst/>
                <a:latin typeface="Arial" panose="020B0604020202020204" pitchFamily="34" charset="0"/>
              </a:rPr>
              <a:t>nd</a:t>
            </a:r>
            <a:r>
              <a:rPr lang="en-US" sz="1800" dirty="0">
                <a:effectLst/>
                <a:latin typeface="Arial" panose="020B0604020202020204" pitchFamily="34" charset="0"/>
              </a:rPr>
              <a:t> episode of </a:t>
            </a:r>
            <a:r>
              <a:rPr lang="en-US" sz="1800" dirty="0" err="1">
                <a:effectLst/>
                <a:latin typeface="Arial" panose="020B0604020202020204" pitchFamily="34" charset="0"/>
              </a:rPr>
              <a:t>unresponsivenes</a:t>
            </a:r>
            <a:r>
              <a:rPr lang="en-US" sz="1800" dirty="0">
                <a:effectLst/>
                <a:latin typeface="Arial" panose="020B0604020202020204" pitchFamily="34" charset="0"/>
              </a:rPr>
              <a:t> after diarrhea and narcotics +</a:t>
            </a:r>
            <a:r>
              <a:rPr lang="en-US" sz="1800" dirty="0">
                <a:latin typeface="Arial" panose="020B0604020202020204" pitchFamily="34" charset="0"/>
              </a:rPr>
              <a:t> </a:t>
            </a:r>
            <a:r>
              <a:rPr lang="en-US" sz="1800" dirty="0" err="1">
                <a:effectLst/>
                <a:latin typeface="Arial" panose="020B0604020202020204" pitchFamily="34" charset="0"/>
              </a:rPr>
              <a:t>megace</a:t>
            </a:r>
            <a:r>
              <a:rPr lang="en-US" sz="1800" dirty="0">
                <a:effectLst/>
                <a:latin typeface="Arial" panose="020B0604020202020204" pitchFamily="34" charset="0"/>
              </a:rPr>
              <a:t>. Pt was seen on [**] by his oncologist where he was</a:t>
            </a:r>
            <a:r>
              <a:rPr lang="en-US" sz="1800" dirty="0">
                <a:latin typeface="Arial" panose="020B0604020202020204" pitchFamily="34" charset="0"/>
              </a:rPr>
              <a:t> </a:t>
            </a:r>
            <a:r>
              <a:rPr lang="en-US" sz="1800" dirty="0">
                <a:effectLst/>
                <a:latin typeface="Arial" panose="020B0604020202020204" pitchFamily="34" charset="0"/>
              </a:rPr>
              <a:t>determine to be hypovolemic and received a total of 3 IVF</a:t>
            </a:r>
            <a:r>
              <a:rPr lang="en-US" sz="1800" dirty="0">
                <a:latin typeface="Arial" panose="020B0604020202020204" pitchFamily="34" charset="0"/>
              </a:rPr>
              <a:t> </a:t>
            </a:r>
            <a:r>
              <a:rPr lang="en-US" sz="1800" dirty="0">
                <a:effectLst/>
                <a:latin typeface="Arial" panose="020B0604020202020204" pitchFamily="34" charset="0"/>
              </a:rPr>
              <a:t>between We and Fri but still c/o poor po intake secondary to</a:t>
            </a:r>
            <a:r>
              <a:rPr lang="en-US" sz="1800" dirty="0">
                <a:latin typeface="Arial" panose="020B0604020202020204" pitchFamily="34" charset="0"/>
              </a:rPr>
              <a:t> </a:t>
            </a:r>
            <a:r>
              <a:rPr lang="en-US" sz="1800" dirty="0">
                <a:effectLst/>
                <a:latin typeface="Arial" panose="020B0604020202020204" pitchFamily="34" charset="0"/>
              </a:rPr>
              <a:t>abdominal pain and fullness, nausea, and decreased appetite.</a:t>
            </a:r>
            <a:r>
              <a:rPr lang="en-US" sz="1800" dirty="0">
                <a:latin typeface="Arial" panose="020B0604020202020204" pitchFamily="34" charset="0"/>
              </a:rPr>
              <a:t> </a:t>
            </a:r>
            <a:r>
              <a:rPr lang="en-US" sz="1800" dirty="0">
                <a:effectLst/>
                <a:latin typeface="Arial" panose="020B0604020202020204" pitchFamily="34" charset="0"/>
              </a:rPr>
              <a:t>This morning upon awakening </a:t>
            </a:r>
            <a:r>
              <a:rPr lang="en-US" sz="1800" dirty="0" err="1">
                <a:effectLst/>
                <a:latin typeface="Arial" panose="020B0604020202020204" pitchFamily="34" charset="0"/>
              </a:rPr>
              <a:t>pt</a:t>
            </a:r>
            <a:r>
              <a:rPr lang="en-US" sz="1800" dirty="0">
                <a:effectLst/>
                <a:latin typeface="Arial" panose="020B0604020202020204" pitchFamily="34" charset="0"/>
              </a:rPr>
              <a:t> was lethargic. He took</a:t>
            </a:r>
            <a:r>
              <a:rPr lang="en-US" sz="1800" dirty="0">
                <a:latin typeface="Arial" panose="020B0604020202020204" pitchFamily="34" charset="0"/>
              </a:rPr>
              <a:t> </a:t>
            </a:r>
            <a:r>
              <a:rPr lang="en-US" sz="1800" dirty="0">
                <a:effectLst/>
                <a:latin typeface="Arial" panose="020B0604020202020204" pitchFamily="34" charset="0"/>
              </a:rPr>
              <a:t>MSO4, </a:t>
            </a:r>
            <a:r>
              <a:rPr lang="en-US" sz="1800" dirty="0" err="1">
                <a:effectLst/>
                <a:latin typeface="Arial" panose="020B0604020202020204" pitchFamily="34" charset="0"/>
              </a:rPr>
              <a:t>Dilaudid</a:t>
            </a:r>
            <a:r>
              <a:rPr lang="en-US" sz="1800" dirty="0">
                <a:effectLst/>
                <a:latin typeface="Arial" panose="020B0604020202020204" pitchFamily="34" charset="0"/>
              </a:rPr>
              <a:t> and an unspecified dose of </a:t>
            </a:r>
            <a:r>
              <a:rPr lang="en-US" sz="1800" dirty="0" err="1">
                <a:effectLst/>
                <a:latin typeface="Arial" panose="020B0604020202020204" pitchFamily="34" charset="0"/>
              </a:rPr>
              <a:t>Megace</a:t>
            </a:r>
            <a:r>
              <a:rPr lang="en-US" sz="1800" dirty="0">
                <a:effectLst/>
                <a:latin typeface="Arial" panose="020B0604020202020204" pitchFamily="34" charset="0"/>
              </a:rPr>
              <a:t>. He then</a:t>
            </a:r>
            <a:r>
              <a:rPr lang="en-US" sz="1800" dirty="0">
                <a:latin typeface="Arial" panose="020B0604020202020204" pitchFamily="34" charset="0"/>
              </a:rPr>
              <a:t> </a:t>
            </a:r>
            <a:r>
              <a:rPr lang="en-US" sz="1800" dirty="0">
                <a:effectLst/>
                <a:latin typeface="Arial" panose="020B0604020202020204" pitchFamily="34" charset="0"/>
              </a:rPr>
              <a:t>became flushed and pale, had copious diarrhea (non-bloody),</a:t>
            </a:r>
            <a:r>
              <a:rPr lang="en-US" sz="1800" dirty="0">
                <a:latin typeface="Arial" panose="020B0604020202020204" pitchFamily="34" charset="0"/>
              </a:rPr>
              <a:t> </a:t>
            </a:r>
            <a:r>
              <a:rPr lang="en-US" sz="1800" dirty="0">
                <a:effectLst/>
                <a:latin typeface="Arial" panose="020B0604020202020204" pitchFamily="34" charset="0"/>
              </a:rPr>
              <a:t>then became unresponsive. EMS called and he was found </a:t>
            </a:r>
            <a:r>
              <a:rPr lang="en-US" sz="1800" dirty="0" err="1">
                <a:effectLst/>
                <a:latin typeface="Arial" panose="020B0604020202020204" pitchFamily="34" charset="0"/>
              </a:rPr>
              <a:t>withSBP</a:t>
            </a:r>
            <a:r>
              <a:rPr lang="en-US" sz="1800" dirty="0">
                <a:effectLst/>
                <a:latin typeface="Arial" panose="020B0604020202020204" pitchFamily="34" charset="0"/>
              </a:rPr>
              <a:t> 80. Narcan  given with improvement in mental status but</a:t>
            </a:r>
            <a:r>
              <a:rPr lang="en-US" sz="1800" dirty="0">
                <a:latin typeface="Arial" panose="020B0604020202020204" pitchFamily="34" charset="0"/>
              </a:rPr>
              <a:t> </a:t>
            </a:r>
            <a:r>
              <a:rPr lang="en-US" sz="1800" dirty="0">
                <a:effectLst/>
                <a:latin typeface="Arial" panose="020B0604020202020204" pitchFamily="34" charset="0"/>
              </a:rPr>
              <a:t>in [**] </a:t>
            </a:r>
            <a:r>
              <a:rPr lang="en-US" sz="1800" dirty="0" err="1">
                <a:effectLst/>
                <a:latin typeface="Arial" panose="020B0604020202020204" pitchFamily="34" charset="0"/>
              </a:rPr>
              <a:t>pt</a:t>
            </a:r>
            <a:r>
              <a:rPr lang="en-US" sz="1800" dirty="0">
                <a:effectLst/>
                <a:latin typeface="Arial" panose="020B0604020202020204" pitchFamily="34" charset="0"/>
              </a:rPr>
              <a:t> was persistently hypotensive requiring 6 IVF and</a:t>
            </a:r>
            <a:r>
              <a:rPr lang="en-US" sz="1800" dirty="0">
                <a:latin typeface="Arial" panose="020B0604020202020204" pitchFamily="34" charset="0"/>
              </a:rPr>
              <a:t> </a:t>
            </a:r>
            <a:r>
              <a:rPr lang="en-US" sz="1800" dirty="0" err="1">
                <a:effectLst/>
                <a:latin typeface="Arial" panose="020B0604020202020204" pitchFamily="34" charset="0"/>
              </a:rPr>
              <a:t>Levophed</a:t>
            </a:r>
            <a:r>
              <a:rPr lang="en-US" sz="1800" dirty="0">
                <a:effectLst/>
                <a:latin typeface="Arial" panose="020B0604020202020204" pitchFamily="34" charset="0"/>
              </a:rPr>
              <a:t>. Labs notable for ANC 500 and lactate 17. Sep-sis protocol was initiated. Pt given Flagyl, Levofloxacin, and</a:t>
            </a:r>
            <a:r>
              <a:rPr lang="en-US" sz="1800" dirty="0">
                <a:latin typeface="Arial" panose="020B0604020202020204" pitchFamily="34" charset="0"/>
              </a:rPr>
              <a:t> </a:t>
            </a:r>
            <a:r>
              <a:rPr lang="en-US" sz="1800" dirty="0">
                <a:effectLst/>
                <a:latin typeface="Arial" panose="020B0604020202020204" pitchFamily="34" charset="0"/>
              </a:rPr>
              <a:t>cefepime and sent to [**].</a:t>
            </a:r>
            <a:endParaRPr lang="en-US" sz="1800" dirty="0"/>
          </a:p>
        </p:txBody>
      </p:sp>
      <p:sp>
        <p:nvSpPr>
          <p:cNvPr id="9" name="Slide Number Placeholder 8">
            <a:extLst>
              <a:ext uri="{FF2B5EF4-FFF2-40B4-BE49-F238E27FC236}">
                <a16:creationId xmlns:a16="http://schemas.microsoft.com/office/drawing/2014/main" id="{987A90C3-822F-146B-D48B-EA9F4CAF30A7}"/>
              </a:ext>
            </a:extLst>
          </p:cNvPr>
          <p:cNvSpPr>
            <a:spLocks noGrp="1"/>
          </p:cNvSpPr>
          <p:nvPr>
            <p:ph type="sldNum" sz="quarter" idx="12"/>
          </p:nvPr>
        </p:nvSpPr>
        <p:spPr/>
        <p:txBody>
          <a:bodyPr/>
          <a:lstStyle/>
          <a:p>
            <a:fld id="{BDA8D12A-5188-A74B-8183-7E806E12A340}" type="slidenum">
              <a:rPr lang="en-US" smtClean="0"/>
              <a:t>2</a:t>
            </a:fld>
            <a:endParaRPr lang="en-US"/>
          </a:p>
        </p:txBody>
      </p:sp>
    </p:spTree>
    <p:extLst>
      <p:ext uri="{BB962C8B-B14F-4D97-AF65-F5344CB8AC3E}">
        <p14:creationId xmlns:p14="http://schemas.microsoft.com/office/powerpoint/2010/main" val="1257604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681C8-2523-C547-D61B-11E0952DA62A}"/>
              </a:ext>
            </a:extLst>
          </p:cNvPr>
          <p:cNvSpPr>
            <a:spLocks noGrp="1"/>
          </p:cNvSpPr>
          <p:nvPr>
            <p:ph type="title"/>
          </p:nvPr>
        </p:nvSpPr>
        <p:spPr/>
        <p:txBody>
          <a:bodyPr/>
          <a:lstStyle/>
          <a:p>
            <a:r>
              <a:rPr lang="en-US" dirty="0"/>
              <a:t>Clinical NLP</a:t>
            </a:r>
          </a:p>
        </p:txBody>
      </p:sp>
      <p:sp>
        <p:nvSpPr>
          <p:cNvPr id="3" name="Rounded Rectangle 2">
            <a:extLst>
              <a:ext uri="{FF2B5EF4-FFF2-40B4-BE49-F238E27FC236}">
                <a16:creationId xmlns:a16="http://schemas.microsoft.com/office/drawing/2014/main" id="{CCF66568-F574-2A9D-0F1C-E4601D6BBDAE}"/>
              </a:ext>
            </a:extLst>
          </p:cNvPr>
          <p:cNvSpPr/>
          <p:nvPr/>
        </p:nvSpPr>
        <p:spPr>
          <a:xfrm>
            <a:off x="6643688" y="4700588"/>
            <a:ext cx="5143500" cy="1443037"/>
          </a:xfrm>
          <a:prstGeom prst="roundRect">
            <a:avLst/>
          </a:prstGeom>
          <a:solidFill>
            <a:schemeClr val="accent2"/>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t>Challenges:</a:t>
            </a:r>
          </a:p>
          <a:p>
            <a:pPr marL="342900" indent="-342900">
              <a:buAutoNum type="arabicPeriod"/>
            </a:pPr>
            <a:r>
              <a:rPr lang="en-US" sz="1400" dirty="0"/>
              <a:t>Abundant use of acronyms and abbreviations.</a:t>
            </a:r>
          </a:p>
          <a:p>
            <a:pPr marL="342900" indent="-342900">
              <a:buAutoNum type="arabicPeriod"/>
            </a:pPr>
            <a:r>
              <a:rPr lang="en-US" sz="1400" dirty="0">
                <a:solidFill>
                  <a:schemeClr val="accent2"/>
                </a:solidFill>
              </a:rPr>
              <a:t>Non-standard use of grammar, punctuation and spelling mistakes.</a:t>
            </a:r>
          </a:p>
          <a:p>
            <a:pPr marL="342900" indent="-342900">
              <a:buAutoNum type="arabicPeriod"/>
            </a:pPr>
            <a:r>
              <a:rPr lang="en-US" sz="1400" dirty="0">
                <a:solidFill>
                  <a:schemeClr val="accent2"/>
                </a:solidFill>
              </a:rPr>
              <a:t>Patients have multiple clinical notes, each spanning between 200 and 20,000 tokens.</a:t>
            </a:r>
          </a:p>
        </p:txBody>
      </p:sp>
      <p:sp>
        <p:nvSpPr>
          <p:cNvPr id="5" name="Rounded Rectangle 4">
            <a:extLst>
              <a:ext uri="{FF2B5EF4-FFF2-40B4-BE49-F238E27FC236}">
                <a16:creationId xmlns:a16="http://schemas.microsoft.com/office/drawing/2014/main" id="{E9F0E828-100F-9EDC-BC6C-B8E45490F3E6}"/>
              </a:ext>
            </a:extLst>
          </p:cNvPr>
          <p:cNvSpPr/>
          <p:nvPr/>
        </p:nvSpPr>
        <p:spPr>
          <a:xfrm>
            <a:off x="838200" y="1690689"/>
            <a:ext cx="10848975" cy="2852736"/>
          </a:xfrm>
          <a:prstGeom prst="roundRect">
            <a:avLst/>
          </a:prstGeom>
          <a:solidFill>
            <a:schemeClr val="accent1">
              <a:lumMod val="60000"/>
              <a:lumOff val="40000"/>
            </a:schemeClr>
          </a:solidFill>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r>
              <a:rPr lang="en-US" sz="1800" dirty="0">
                <a:effectLst/>
                <a:latin typeface="Arial" panose="020B0604020202020204" pitchFamily="34" charset="0"/>
              </a:rPr>
              <a:t>History of Present Illness: 75 </a:t>
            </a:r>
            <a:r>
              <a:rPr lang="en-US" sz="1800" dirty="0" err="1">
                <a:solidFill>
                  <a:srgbClr val="C00000"/>
                </a:solidFill>
                <a:effectLst/>
                <a:latin typeface="Arial" panose="020B0604020202020204" pitchFamily="34" charset="0"/>
              </a:rPr>
              <a:t>yo</a:t>
            </a:r>
            <a:r>
              <a:rPr lang="en-US" sz="1800" dirty="0">
                <a:effectLst/>
                <a:latin typeface="Arial" panose="020B0604020202020204" pitchFamily="34" charset="0"/>
              </a:rPr>
              <a:t> male, advanced gastric </a:t>
            </a:r>
            <a:r>
              <a:rPr lang="en-US" sz="1800" dirty="0">
                <a:solidFill>
                  <a:srgbClr val="C00000"/>
                </a:solidFill>
                <a:effectLst/>
                <a:latin typeface="Arial" panose="020B0604020202020204" pitchFamily="34" charset="0"/>
              </a:rPr>
              <a:t>ca</a:t>
            </a:r>
            <a:r>
              <a:rPr lang="en-US" sz="1800" dirty="0">
                <a:latin typeface="Arial" panose="020B0604020202020204" pitchFamily="34" charset="0"/>
              </a:rPr>
              <a:t> </a:t>
            </a:r>
            <a:r>
              <a:rPr lang="en-US" sz="1800" dirty="0">
                <a:effectLst/>
                <a:latin typeface="Arial" panose="020B0604020202020204" pitchFamily="34" charset="0"/>
              </a:rPr>
              <a:t>recently started on chemotherapy presenting and </a:t>
            </a:r>
            <a:r>
              <a:rPr lang="en-US" sz="1800" dirty="0" err="1">
                <a:effectLst/>
                <a:latin typeface="Arial" panose="020B0604020202020204" pitchFamily="34" charset="0"/>
              </a:rPr>
              <a:t>hypotensiona</a:t>
            </a:r>
            <a:r>
              <a:rPr lang="en-US" sz="1800" dirty="0">
                <a:latin typeface="Arial" panose="020B0604020202020204" pitchFamily="34" charset="0"/>
              </a:rPr>
              <a:t> </a:t>
            </a:r>
            <a:r>
              <a:rPr lang="en-US" sz="1800" dirty="0" err="1">
                <a:effectLst/>
                <a:latin typeface="Arial" panose="020B0604020202020204" pitchFamily="34" charset="0"/>
              </a:rPr>
              <a:t>nd</a:t>
            </a:r>
            <a:r>
              <a:rPr lang="en-US" sz="1800" dirty="0">
                <a:effectLst/>
                <a:latin typeface="Arial" panose="020B0604020202020204" pitchFamily="34" charset="0"/>
              </a:rPr>
              <a:t> episode of </a:t>
            </a:r>
            <a:r>
              <a:rPr lang="en-US" sz="1800" dirty="0" err="1">
                <a:effectLst/>
                <a:latin typeface="Arial" panose="020B0604020202020204" pitchFamily="34" charset="0"/>
              </a:rPr>
              <a:t>unresponsivenes</a:t>
            </a:r>
            <a:r>
              <a:rPr lang="en-US" sz="1800" dirty="0">
                <a:effectLst/>
                <a:latin typeface="Arial" panose="020B0604020202020204" pitchFamily="34" charset="0"/>
              </a:rPr>
              <a:t> after diarrhea and narcotics +</a:t>
            </a:r>
            <a:r>
              <a:rPr lang="en-US" sz="1800" dirty="0">
                <a:latin typeface="Arial" panose="020B0604020202020204" pitchFamily="34" charset="0"/>
              </a:rPr>
              <a:t> </a:t>
            </a:r>
            <a:r>
              <a:rPr lang="en-US" sz="1800" dirty="0" err="1">
                <a:effectLst/>
                <a:latin typeface="Arial" panose="020B0604020202020204" pitchFamily="34" charset="0"/>
              </a:rPr>
              <a:t>megace</a:t>
            </a:r>
            <a:r>
              <a:rPr lang="en-US" sz="1800" dirty="0">
                <a:effectLst/>
                <a:latin typeface="Arial" panose="020B0604020202020204" pitchFamily="34" charset="0"/>
              </a:rPr>
              <a:t>. </a:t>
            </a:r>
            <a:r>
              <a:rPr lang="en-US" sz="1800" dirty="0">
                <a:solidFill>
                  <a:srgbClr val="C00000"/>
                </a:solidFill>
                <a:effectLst/>
                <a:latin typeface="Arial" panose="020B0604020202020204" pitchFamily="34" charset="0"/>
              </a:rPr>
              <a:t>Pt</a:t>
            </a:r>
            <a:r>
              <a:rPr lang="en-US" sz="1800" dirty="0">
                <a:effectLst/>
                <a:latin typeface="Arial" panose="020B0604020202020204" pitchFamily="34" charset="0"/>
              </a:rPr>
              <a:t> was seen on [**] by his oncologist where he was</a:t>
            </a:r>
            <a:r>
              <a:rPr lang="en-US" sz="1800" dirty="0">
                <a:latin typeface="Arial" panose="020B0604020202020204" pitchFamily="34" charset="0"/>
              </a:rPr>
              <a:t> </a:t>
            </a:r>
            <a:r>
              <a:rPr lang="en-US" sz="1800" dirty="0">
                <a:effectLst/>
                <a:latin typeface="Arial" panose="020B0604020202020204" pitchFamily="34" charset="0"/>
              </a:rPr>
              <a:t>determine to be hypovolemic and received a total of 3 </a:t>
            </a:r>
            <a:r>
              <a:rPr lang="en-US" sz="1800" dirty="0">
                <a:solidFill>
                  <a:srgbClr val="C00000"/>
                </a:solidFill>
                <a:effectLst/>
                <a:latin typeface="Arial" panose="020B0604020202020204" pitchFamily="34" charset="0"/>
              </a:rPr>
              <a:t>IVF</a:t>
            </a:r>
            <a:r>
              <a:rPr lang="en-US" sz="1800" dirty="0">
                <a:latin typeface="Arial" panose="020B0604020202020204" pitchFamily="34" charset="0"/>
              </a:rPr>
              <a:t> </a:t>
            </a:r>
            <a:r>
              <a:rPr lang="en-US" sz="1800" dirty="0">
                <a:effectLst/>
                <a:latin typeface="Arial" panose="020B0604020202020204" pitchFamily="34" charset="0"/>
              </a:rPr>
              <a:t>between </a:t>
            </a:r>
            <a:r>
              <a:rPr lang="en-US" sz="1800" dirty="0">
                <a:solidFill>
                  <a:srgbClr val="C00000"/>
                </a:solidFill>
                <a:effectLst/>
                <a:latin typeface="Arial" panose="020B0604020202020204" pitchFamily="34" charset="0"/>
              </a:rPr>
              <a:t>We</a:t>
            </a:r>
            <a:r>
              <a:rPr lang="en-US" sz="1800" dirty="0">
                <a:effectLst/>
                <a:latin typeface="Arial" panose="020B0604020202020204" pitchFamily="34" charset="0"/>
              </a:rPr>
              <a:t> and </a:t>
            </a:r>
            <a:r>
              <a:rPr lang="en-US" sz="1800" dirty="0">
                <a:solidFill>
                  <a:srgbClr val="C00000"/>
                </a:solidFill>
                <a:effectLst/>
                <a:latin typeface="Arial" panose="020B0604020202020204" pitchFamily="34" charset="0"/>
              </a:rPr>
              <a:t>Fri</a:t>
            </a:r>
            <a:r>
              <a:rPr lang="en-US" sz="1800" dirty="0">
                <a:effectLst/>
                <a:latin typeface="Arial" panose="020B0604020202020204" pitchFamily="34" charset="0"/>
              </a:rPr>
              <a:t> but still </a:t>
            </a:r>
            <a:r>
              <a:rPr lang="en-US" sz="1800" dirty="0">
                <a:solidFill>
                  <a:srgbClr val="C00000"/>
                </a:solidFill>
                <a:effectLst/>
                <a:latin typeface="Arial" panose="020B0604020202020204" pitchFamily="34" charset="0"/>
              </a:rPr>
              <a:t>c/o</a:t>
            </a:r>
            <a:r>
              <a:rPr lang="en-US" sz="1800" dirty="0">
                <a:effectLst/>
                <a:latin typeface="Arial" panose="020B0604020202020204" pitchFamily="34" charset="0"/>
              </a:rPr>
              <a:t> poor </a:t>
            </a:r>
            <a:r>
              <a:rPr lang="en-US" sz="1800" dirty="0">
                <a:solidFill>
                  <a:srgbClr val="C00000"/>
                </a:solidFill>
                <a:effectLst/>
                <a:latin typeface="Arial" panose="020B0604020202020204" pitchFamily="34" charset="0"/>
              </a:rPr>
              <a:t>po</a:t>
            </a:r>
            <a:r>
              <a:rPr lang="en-US" sz="1800" dirty="0">
                <a:effectLst/>
                <a:latin typeface="Arial" panose="020B0604020202020204" pitchFamily="34" charset="0"/>
              </a:rPr>
              <a:t> intake secondary to</a:t>
            </a:r>
            <a:r>
              <a:rPr lang="en-US" sz="1800" dirty="0">
                <a:latin typeface="Arial" panose="020B0604020202020204" pitchFamily="34" charset="0"/>
              </a:rPr>
              <a:t> </a:t>
            </a:r>
            <a:r>
              <a:rPr lang="en-US" sz="1800" dirty="0">
                <a:effectLst/>
                <a:latin typeface="Arial" panose="020B0604020202020204" pitchFamily="34" charset="0"/>
              </a:rPr>
              <a:t>abdominal pain and fullness, nausea, and decreased appetite.</a:t>
            </a:r>
            <a:r>
              <a:rPr lang="en-US" sz="1800" dirty="0">
                <a:latin typeface="Arial" panose="020B0604020202020204" pitchFamily="34" charset="0"/>
              </a:rPr>
              <a:t> </a:t>
            </a:r>
            <a:r>
              <a:rPr lang="en-US" sz="1800" dirty="0">
                <a:effectLst/>
                <a:latin typeface="Arial" panose="020B0604020202020204" pitchFamily="34" charset="0"/>
              </a:rPr>
              <a:t>This morning upon awakening </a:t>
            </a:r>
            <a:r>
              <a:rPr lang="en-US" sz="1800" dirty="0" err="1">
                <a:solidFill>
                  <a:srgbClr val="C00000"/>
                </a:solidFill>
                <a:effectLst/>
                <a:latin typeface="Arial" panose="020B0604020202020204" pitchFamily="34" charset="0"/>
              </a:rPr>
              <a:t>pt</a:t>
            </a:r>
            <a:r>
              <a:rPr lang="en-US" sz="1800" dirty="0">
                <a:effectLst/>
                <a:latin typeface="Arial" panose="020B0604020202020204" pitchFamily="34" charset="0"/>
              </a:rPr>
              <a:t> was lethargic. He took</a:t>
            </a:r>
            <a:r>
              <a:rPr lang="en-US" sz="1800" dirty="0">
                <a:latin typeface="Arial" panose="020B0604020202020204" pitchFamily="34" charset="0"/>
              </a:rPr>
              <a:t> </a:t>
            </a:r>
            <a:r>
              <a:rPr lang="en-US" sz="1800" dirty="0">
                <a:solidFill>
                  <a:srgbClr val="C00000"/>
                </a:solidFill>
                <a:effectLst/>
                <a:latin typeface="Arial" panose="020B0604020202020204" pitchFamily="34" charset="0"/>
              </a:rPr>
              <a:t>MSO4</a:t>
            </a:r>
            <a:r>
              <a:rPr lang="en-US" sz="1800" dirty="0">
                <a:effectLst/>
                <a:latin typeface="Arial" panose="020B0604020202020204" pitchFamily="34" charset="0"/>
              </a:rPr>
              <a:t>, </a:t>
            </a:r>
            <a:r>
              <a:rPr lang="en-US" sz="1800" dirty="0" err="1">
                <a:effectLst/>
                <a:latin typeface="Arial" panose="020B0604020202020204" pitchFamily="34" charset="0"/>
              </a:rPr>
              <a:t>Dilaudid</a:t>
            </a:r>
            <a:r>
              <a:rPr lang="en-US" sz="1800" dirty="0">
                <a:effectLst/>
                <a:latin typeface="Arial" panose="020B0604020202020204" pitchFamily="34" charset="0"/>
              </a:rPr>
              <a:t> and an unspecified dose of </a:t>
            </a:r>
            <a:r>
              <a:rPr lang="en-US" sz="1800" dirty="0" err="1">
                <a:effectLst/>
                <a:latin typeface="Arial" panose="020B0604020202020204" pitchFamily="34" charset="0"/>
              </a:rPr>
              <a:t>Megace</a:t>
            </a:r>
            <a:r>
              <a:rPr lang="en-US" sz="1800" dirty="0">
                <a:effectLst/>
                <a:latin typeface="Arial" panose="020B0604020202020204" pitchFamily="34" charset="0"/>
              </a:rPr>
              <a:t>. He then</a:t>
            </a:r>
            <a:r>
              <a:rPr lang="en-US" sz="1800" dirty="0">
                <a:latin typeface="Arial" panose="020B0604020202020204" pitchFamily="34" charset="0"/>
              </a:rPr>
              <a:t> </a:t>
            </a:r>
            <a:r>
              <a:rPr lang="en-US" sz="1800" dirty="0">
                <a:effectLst/>
                <a:latin typeface="Arial" panose="020B0604020202020204" pitchFamily="34" charset="0"/>
              </a:rPr>
              <a:t>became flushed and pale, had copious diarrhea (non-bloody),</a:t>
            </a:r>
            <a:r>
              <a:rPr lang="en-US" sz="1800" dirty="0">
                <a:latin typeface="Arial" panose="020B0604020202020204" pitchFamily="34" charset="0"/>
              </a:rPr>
              <a:t> </a:t>
            </a:r>
            <a:r>
              <a:rPr lang="en-US" sz="1800" dirty="0">
                <a:effectLst/>
                <a:latin typeface="Arial" panose="020B0604020202020204" pitchFamily="34" charset="0"/>
              </a:rPr>
              <a:t>then became unresponsive. </a:t>
            </a:r>
            <a:r>
              <a:rPr lang="en-US" sz="1800" dirty="0">
                <a:solidFill>
                  <a:srgbClr val="C00000"/>
                </a:solidFill>
                <a:effectLst/>
                <a:latin typeface="Arial" panose="020B0604020202020204" pitchFamily="34" charset="0"/>
              </a:rPr>
              <a:t>EMS</a:t>
            </a:r>
            <a:r>
              <a:rPr lang="en-US" sz="1800" dirty="0">
                <a:effectLst/>
                <a:latin typeface="Arial" panose="020B0604020202020204" pitchFamily="34" charset="0"/>
              </a:rPr>
              <a:t> called and he was found </a:t>
            </a:r>
            <a:r>
              <a:rPr lang="en-US" sz="1800" dirty="0" err="1">
                <a:effectLst/>
                <a:latin typeface="Arial" panose="020B0604020202020204" pitchFamily="34" charset="0"/>
              </a:rPr>
              <a:t>with</a:t>
            </a:r>
            <a:r>
              <a:rPr lang="en-US" sz="1800" dirty="0" err="1">
                <a:solidFill>
                  <a:srgbClr val="C00000"/>
                </a:solidFill>
                <a:effectLst/>
                <a:latin typeface="Arial" panose="020B0604020202020204" pitchFamily="34" charset="0"/>
              </a:rPr>
              <a:t>SBP</a:t>
            </a:r>
            <a:r>
              <a:rPr lang="en-US" sz="1800" dirty="0">
                <a:effectLst/>
                <a:latin typeface="Arial" panose="020B0604020202020204" pitchFamily="34" charset="0"/>
              </a:rPr>
              <a:t> 80. Narcan  given with improvement in mental status but</a:t>
            </a:r>
            <a:r>
              <a:rPr lang="en-US" sz="1800" dirty="0">
                <a:latin typeface="Arial" panose="020B0604020202020204" pitchFamily="34" charset="0"/>
              </a:rPr>
              <a:t> </a:t>
            </a:r>
            <a:r>
              <a:rPr lang="en-US" sz="1800" dirty="0">
                <a:effectLst/>
                <a:latin typeface="Arial" panose="020B0604020202020204" pitchFamily="34" charset="0"/>
              </a:rPr>
              <a:t>in [**] </a:t>
            </a:r>
            <a:r>
              <a:rPr lang="en-US" sz="1800" dirty="0" err="1">
                <a:solidFill>
                  <a:srgbClr val="C00000"/>
                </a:solidFill>
                <a:effectLst/>
                <a:latin typeface="Arial" panose="020B0604020202020204" pitchFamily="34" charset="0"/>
              </a:rPr>
              <a:t>pt</a:t>
            </a:r>
            <a:r>
              <a:rPr lang="en-US" sz="1800" dirty="0">
                <a:effectLst/>
                <a:latin typeface="Arial" panose="020B0604020202020204" pitchFamily="34" charset="0"/>
              </a:rPr>
              <a:t> was persistently hypotensive requiring 6 </a:t>
            </a:r>
            <a:r>
              <a:rPr lang="en-US" sz="1800" dirty="0">
                <a:solidFill>
                  <a:srgbClr val="C00000"/>
                </a:solidFill>
                <a:effectLst/>
                <a:latin typeface="Arial" panose="020B0604020202020204" pitchFamily="34" charset="0"/>
              </a:rPr>
              <a:t>IVF</a:t>
            </a:r>
            <a:r>
              <a:rPr lang="en-US" sz="1800" dirty="0">
                <a:effectLst/>
                <a:latin typeface="Arial" panose="020B0604020202020204" pitchFamily="34" charset="0"/>
              </a:rPr>
              <a:t> and</a:t>
            </a:r>
            <a:r>
              <a:rPr lang="en-US" sz="1800" dirty="0">
                <a:latin typeface="Arial" panose="020B0604020202020204" pitchFamily="34" charset="0"/>
              </a:rPr>
              <a:t> </a:t>
            </a:r>
            <a:r>
              <a:rPr lang="en-US" sz="1800" dirty="0" err="1">
                <a:effectLst/>
                <a:latin typeface="Arial" panose="020B0604020202020204" pitchFamily="34" charset="0"/>
              </a:rPr>
              <a:t>Levophed</a:t>
            </a:r>
            <a:r>
              <a:rPr lang="en-US" sz="1800" dirty="0">
                <a:effectLst/>
                <a:latin typeface="Arial" panose="020B0604020202020204" pitchFamily="34" charset="0"/>
              </a:rPr>
              <a:t>. Labs notable for </a:t>
            </a:r>
            <a:r>
              <a:rPr lang="en-US" sz="1800" dirty="0">
                <a:solidFill>
                  <a:srgbClr val="C00000"/>
                </a:solidFill>
                <a:effectLst/>
                <a:latin typeface="Arial" panose="020B0604020202020204" pitchFamily="34" charset="0"/>
              </a:rPr>
              <a:t>ANC</a:t>
            </a:r>
            <a:r>
              <a:rPr lang="en-US" sz="1800" dirty="0">
                <a:effectLst/>
                <a:latin typeface="Arial" panose="020B0604020202020204" pitchFamily="34" charset="0"/>
              </a:rPr>
              <a:t> 500 and lactate 17. Sep-sis protocol was initiated. </a:t>
            </a:r>
            <a:r>
              <a:rPr lang="en-US" sz="1800" dirty="0">
                <a:solidFill>
                  <a:srgbClr val="C00000"/>
                </a:solidFill>
                <a:effectLst/>
                <a:latin typeface="Arial" panose="020B0604020202020204" pitchFamily="34" charset="0"/>
              </a:rPr>
              <a:t>Pt</a:t>
            </a:r>
            <a:r>
              <a:rPr lang="en-US" sz="1800" dirty="0">
                <a:effectLst/>
                <a:latin typeface="Arial" panose="020B0604020202020204" pitchFamily="34" charset="0"/>
              </a:rPr>
              <a:t> given Flagyl, Levofloxacin, and</a:t>
            </a:r>
            <a:r>
              <a:rPr lang="en-US" sz="1800" dirty="0">
                <a:latin typeface="Arial" panose="020B0604020202020204" pitchFamily="34" charset="0"/>
              </a:rPr>
              <a:t> </a:t>
            </a:r>
            <a:r>
              <a:rPr lang="en-US" sz="1800" dirty="0">
                <a:effectLst/>
                <a:latin typeface="Arial" panose="020B0604020202020204" pitchFamily="34" charset="0"/>
              </a:rPr>
              <a:t>cefepime and sent to [**].</a:t>
            </a:r>
            <a:endParaRPr lang="en-US" sz="1800" dirty="0"/>
          </a:p>
        </p:txBody>
      </p:sp>
      <p:sp>
        <p:nvSpPr>
          <p:cNvPr id="11" name="Slide Number Placeholder 10">
            <a:extLst>
              <a:ext uri="{FF2B5EF4-FFF2-40B4-BE49-F238E27FC236}">
                <a16:creationId xmlns:a16="http://schemas.microsoft.com/office/drawing/2014/main" id="{CCDB0884-2813-63AE-084E-F151C4C75C3E}"/>
              </a:ext>
            </a:extLst>
          </p:cNvPr>
          <p:cNvSpPr>
            <a:spLocks noGrp="1"/>
          </p:cNvSpPr>
          <p:nvPr>
            <p:ph type="sldNum" sz="quarter" idx="12"/>
          </p:nvPr>
        </p:nvSpPr>
        <p:spPr/>
        <p:txBody>
          <a:bodyPr/>
          <a:lstStyle/>
          <a:p>
            <a:fld id="{BDA8D12A-5188-A74B-8183-7E806E12A340}" type="slidenum">
              <a:rPr lang="en-US" smtClean="0"/>
              <a:t>3</a:t>
            </a:fld>
            <a:endParaRPr lang="en-US"/>
          </a:p>
        </p:txBody>
      </p:sp>
    </p:spTree>
    <p:extLst>
      <p:ext uri="{BB962C8B-B14F-4D97-AF65-F5344CB8AC3E}">
        <p14:creationId xmlns:p14="http://schemas.microsoft.com/office/powerpoint/2010/main" val="276283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681C8-2523-C547-D61B-11E0952DA62A}"/>
              </a:ext>
            </a:extLst>
          </p:cNvPr>
          <p:cNvSpPr>
            <a:spLocks noGrp="1"/>
          </p:cNvSpPr>
          <p:nvPr>
            <p:ph type="title"/>
          </p:nvPr>
        </p:nvSpPr>
        <p:spPr/>
        <p:txBody>
          <a:bodyPr/>
          <a:lstStyle/>
          <a:p>
            <a:r>
              <a:rPr lang="en-US" dirty="0"/>
              <a:t>Clinical NLP</a:t>
            </a:r>
          </a:p>
        </p:txBody>
      </p:sp>
      <p:sp>
        <p:nvSpPr>
          <p:cNvPr id="4" name="Rounded Rectangle 3">
            <a:extLst>
              <a:ext uri="{FF2B5EF4-FFF2-40B4-BE49-F238E27FC236}">
                <a16:creationId xmlns:a16="http://schemas.microsoft.com/office/drawing/2014/main" id="{4473558C-6F73-44A8-3FEB-2A0D299458BF}"/>
              </a:ext>
            </a:extLst>
          </p:cNvPr>
          <p:cNvSpPr/>
          <p:nvPr/>
        </p:nvSpPr>
        <p:spPr>
          <a:xfrm>
            <a:off x="838200" y="1690689"/>
            <a:ext cx="10848975" cy="2852736"/>
          </a:xfrm>
          <a:prstGeom prst="roundRect">
            <a:avLst/>
          </a:prstGeom>
          <a:solidFill>
            <a:schemeClr val="accent1">
              <a:lumMod val="60000"/>
              <a:lumOff val="40000"/>
            </a:schemeClr>
          </a:solidFill>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r>
              <a:rPr lang="en-US" sz="1800" dirty="0">
                <a:solidFill>
                  <a:schemeClr val="tx1"/>
                </a:solidFill>
                <a:effectLst/>
                <a:latin typeface="Arial" panose="020B0604020202020204" pitchFamily="34" charset="0"/>
              </a:rPr>
              <a:t>History of Present Illness: 75 </a:t>
            </a:r>
            <a:r>
              <a:rPr lang="en-US" sz="1800" dirty="0" err="1">
                <a:solidFill>
                  <a:schemeClr val="tx1"/>
                </a:solidFill>
                <a:effectLst/>
                <a:latin typeface="Arial" panose="020B0604020202020204" pitchFamily="34" charset="0"/>
              </a:rPr>
              <a:t>yo</a:t>
            </a:r>
            <a:r>
              <a:rPr lang="en-US" sz="1800" dirty="0">
                <a:solidFill>
                  <a:schemeClr val="tx1"/>
                </a:solidFill>
                <a:effectLst/>
                <a:latin typeface="Arial" panose="020B0604020202020204" pitchFamily="34" charset="0"/>
              </a:rPr>
              <a:t> male, advanced gastric ca</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recently started on chemotherapy </a:t>
            </a:r>
            <a:r>
              <a:rPr lang="en-US" sz="1800" dirty="0">
                <a:solidFill>
                  <a:srgbClr val="C00000"/>
                </a:solidFill>
                <a:effectLst/>
                <a:latin typeface="Arial" panose="020B0604020202020204" pitchFamily="34" charset="0"/>
              </a:rPr>
              <a:t>presenting and </a:t>
            </a:r>
            <a:r>
              <a:rPr lang="en-US" sz="1800" dirty="0" err="1">
                <a:solidFill>
                  <a:srgbClr val="C00000"/>
                </a:solidFill>
                <a:effectLst/>
                <a:latin typeface="Arial" panose="020B0604020202020204" pitchFamily="34" charset="0"/>
              </a:rPr>
              <a:t>hypotensiona</a:t>
            </a:r>
            <a:r>
              <a:rPr lang="en-US" sz="1800" dirty="0">
                <a:solidFill>
                  <a:srgbClr val="C00000"/>
                </a:solidFill>
                <a:latin typeface="Arial" panose="020B0604020202020204" pitchFamily="34" charset="0"/>
              </a:rPr>
              <a:t> </a:t>
            </a:r>
            <a:r>
              <a:rPr lang="en-US" sz="1800" dirty="0" err="1">
                <a:solidFill>
                  <a:srgbClr val="C00000"/>
                </a:solidFill>
                <a:effectLst/>
                <a:latin typeface="Arial" panose="020B0604020202020204" pitchFamily="34" charset="0"/>
              </a:rPr>
              <a:t>nd</a:t>
            </a:r>
            <a:r>
              <a:rPr lang="en-US" sz="1800" dirty="0">
                <a:solidFill>
                  <a:schemeClr val="tx1"/>
                </a:solidFill>
                <a:effectLst/>
                <a:latin typeface="Arial" panose="020B0604020202020204" pitchFamily="34" charset="0"/>
              </a:rPr>
              <a:t> episode of </a:t>
            </a:r>
            <a:r>
              <a:rPr lang="en-US" sz="1800" dirty="0" err="1">
                <a:solidFill>
                  <a:srgbClr val="C00000"/>
                </a:solidFill>
                <a:effectLst/>
                <a:latin typeface="Arial" panose="020B0604020202020204" pitchFamily="34" charset="0"/>
              </a:rPr>
              <a:t>unresponsivenes</a:t>
            </a:r>
            <a:r>
              <a:rPr lang="en-US" sz="1800" dirty="0">
                <a:solidFill>
                  <a:schemeClr val="tx1"/>
                </a:solidFill>
                <a:effectLst/>
                <a:latin typeface="Arial" panose="020B0604020202020204" pitchFamily="34" charset="0"/>
              </a:rPr>
              <a:t> after diarrhea and </a:t>
            </a:r>
            <a:r>
              <a:rPr lang="en-US" sz="1800" dirty="0">
                <a:solidFill>
                  <a:srgbClr val="C00000"/>
                </a:solidFill>
                <a:effectLst/>
                <a:latin typeface="Arial" panose="020B0604020202020204" pitchFamily="34" charset="0"/>
              </a:rPr>
              <a:t>narcotics +</a:t>
            </a:r>
            <a:r>
              <a:rPr lang="en-US" sz="1800" dirty="0">
                <a:solidFill>
                  <a:srgbClr val="C00000"/>
                </a:solidFill>
                <a:latin typeface="Arial" panose="020B0604020202020204" pitchFamily="34" charset="0"/>
              </a:rPr>
              <a:t> </a:t>
            </a:r>
            <a:r>
              <a:rPr lang="en-US" sz="1800" dirty="0" err="1">
                <a:solidFill>
                  <a:srgbClr val="C00000"/>
                </a:solidFill>
                <a:effectLst/>
                <a:latin typeface="Arial" panose="020B0604020202020204" pitchFamily="34" charset="0"/>
              </a:rPr>
              <a:t>megace</a:t>
            </a:r>
            <a:r>
              <a:rPr lang="en-US" sz="1800" dirty="0">
                <a:solidFill>
                  <a:schemeClr val="tx1"/>
                </a:solidFill>
                <a:effectLst/>
                <a:latin typeface="Arial" panose="020B0604020202020204" pitchFamily="34" charset="0"/>
              </a:rPr>
              <a:t>. Pt was seen on [**] by his oncologist where he was</a:t>
            </a:r>
            <a:r>
              <a:rPr lang="en-US" sz="1800" dirty="0">
                <a:solidFill>
                  <a:schemeClr val="tx1"/>
                </a:solidFill>
                <a:latin typeface="Arial" panose="020B0604020202020204" pitchFamily="34" charset="0"/>
              </a:rPr>
              <a:t> </a:t>
            </a:r>
            <a:r>
              <a:rPr lang="en-US" sz="1800" dirty="0">
                <a:solidFill>
                  <a:srgbClr val="C00000"/>
                </a:solidFill>
                <a:effectLst/>
                <a:latin typeface="Arial" panose="020B0604020202020204" pitchFamily="34" charset="0"/>
              </a:rPr>
              <a:t>determine</a:t>
            </a:r>
            <a:r>
              <a:rPr lang="en-US" sz="1800" dirty="0">
                <a:solidFill>
                  <a:schemeClr val="tx1"/>
                </a:solidFill>
                <a:effectLst/>
                <a:latin typeface="Arial" panose="020B0604020202020204" pitchFamily="34" charset="0"/>
              </a:rPr>
              <a:t> to be hypovolemic and received a total of 3 IVF</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between We and Fri but still c/o poor po intake secondary to</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abdominal pain and fullness, nausea, and decreased appetite.</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This morning upon awakening </a:t>
            </a:r>
            <a:r>
              <a:rPr lang="en-US" sz="1800" dirty="0" err="1">
                <a:solidFill>
                  <a:schemeClr val="tx1"/>
                </a:solidFill>
                <a:effectLst/>
                <a:latin typeface="Arial" panose="020B0604020202020204" pitchFamily="34" charset="0"/>
              </a:rPr>
              <a:t>pt</a:t>
            </a:r>
            <a:r>
              <a:rPr lang="en-US" sz="1800" dirty="0">
                <a:solidFill>
                  <a:schemeClr val="tx1"/>
                </a:solidFill>
                <a:effectLst/>
                <a:latin typeface="Arial" panose="020B0604020202020204" pitchFamily="34" charset="0"/>
              </a:rPr>
              <a:t> was lethargic. He took</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MSO4, </a:t>
            </a:r>
            <a:r>
              <a:rPr lang="en-US" sz="1800" dirty="0" err="1">
                <a:solidFill>
                  <a:schemeClr val="tx1"/>
                </a:solidFill>
                <a:effectLst/>
                <a:latin typeface="Arial" panose="020B0604020202020204" pitchFamily="34" charset="0"/>
              </a:rPr>
              <a:t>Dilaudid</a:t>
            </a:r>
            <a:r>
              <a:rPr lang="en-US" sz="1800" dirty="0">
                <a:solidFill>
                  <a:schemeClr val="tx1"/>
                </a:solidFill>
                <a:effectLst/>
                <a:latin typeface="Arial" panose="020B0604020202020204" pitchFamily="34" charset="0"/>
              </a:rPr>
              <a:t> and an unspecified dose of </a:t>
            </a:r>
            <a:r>
              <a:rPr lang="en-US" sz="1800" dirty="0" err="1">
                <a:solidFill>
                  <a:schemeClr val="tx1"/>
                </a:solidFill>
                <a:effectLst/>
                <a:latin typeface="Arial" panose="020B0604020202020204" pitchFamily="34" charset="0"/>
              </a:rPr>
              <a:t>Megace</a:t>
            </a:r>
            <a:r>
              <a:rPr lang="en-US" sz="1800" dirty="0">
                <a:solidFill>
                  <a:schemeClr val="tx1"/>
                </a:solidFill>
                <a:effectLst/>
                <a:latin typeface="Arial" panose="020B0604020202020204" pitchFamily="34" charset="0"/>
              </a:rPr>
              <a:t>. He then</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became flushed and pale, had copious diarrhea (non-bloody),</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then became unresponsive. EMS called and he was found </a:t>
            </a:r>
            <a:r>
              <a:rPr lang="en-US" sz="1800" dirty="0" err="1">
                <a:solidFill>
                  <a:srgbClr val="C00000"/>
                </a:solidFill>
                <a:effectLst/>
                <a:latin typeface="Arial" panose="020B0604020202020204" pitchFamily="34" charset="0"/>
              </a:rPr>
              <a:t>withSBP</a:t>
            </a:r>
            <a:r>
              <a:rPr lang="en-US" sz="1800" dirty="0">
                <a:solidFill>
                  <a:schemeClr val="tx1"/>
                </a:solidFill>
                <a:effectLst/>
                <a:latin typeface="Arial" panose="020B0604020202020204" pitchFamily="34" charset="0"/>
              </a:rPr>
              <a:t> 80. </a:t>
            </a:r>
            <a:r>
              <a:rPr lang="en-US" sz="1800" dirty="0">
                <a:solidFill>
                  <a:srgbClr val="C00000"/>
                </a:solidFill>
                <a:effectLst/>
                <a:latin typeface="Arial" panose="020B0604020202020204" pitchFamily="34" charset="0"/>
              </a:rPr>
              <a:t>Narcan  given</a:t>
            </a:r>
            <a:r>
              <a:rPr lang="en-US" sz="1800" dirty="0">
                <a:solidFill>
                  <a:srgbClr val="FF0000"/>
                </a:solidFill>
                <a:effectLst/>
                <a:latin typeface="Arial" panose="020B0604020202020204" pitchFamily="34" charset="0"/>
              </a:rPr>
              <a:t> </a:t>
            </a:r>
            <a:r>
              <a:rPr lang="en-US" sz="1800" dirty="0">
                <a:solidFill>
                  <a:schemeClr val="tx1"/>
                </a:solidFill>
                <a:effectLst/>
                <a:latin typeface="Arial" panose="020B0604020202020204" pitchFamily="34" charset="0"/>
              </a:rPr>
              <a:t>with improvement in mental status </a:t>
            </a:r>
            <a:r>
              <a:rPr lang="en-US" sz="1800" dirty="0">
                <a:solidFill>
                  <a:srgbClr val="C00000"/>
                </a:solidFill>
                <a:effectLst/>
                <a:latin typeface="Arial" panose="020B0604020202020204" pitchFamily="34" charset="0"/>
              </a:rPr>
              <a:t>but</a:t>
            </a:r>
            <a:r>
              <a:rPr lang="en-US" sz="1800" dirty="0">
                <a:solidFill>
                  <a:srgbClr val="C00000"/>
                </a:solidFill>
                <a:latin typeface="Arial" panose="020B0604020202020204" pitchFamily="34" charset="0"/>
              </a:rPr>
              <a:t> </a:t>
            </a:r>
            <a:r>
              <a:rPr lang="en-US" sz="1800" dirty="0">
                <a:solidFill>
                  <a:srgbClr val="C00000"/>
                </a:solidFill>
                <a:effectLst/>
                <a:latin typeface="Arial" panose="020B0604020202020204" pitchFamily="34" charset="0"/>
              </a:rPr>
              <a:t>in [**]</a:t>
            </a:r>
            <a:r>
              <a:rPr lang="en-US" sz="1800" dirty="0">
                <a:solidFill>
                  <a:srgbClr val="FF0000"/>
                </a:solidFill>
                <a:effectLst/>
                <a:latin typeface="Arial" panose="020B0604020202020204" pitchFamily="34" charset="0"/>
              </a:rPr>
              <a:t> </a:t>
            </a:r>
            <a:r>
              <a:rPr lang="en-US" sz="1800" dirty="0" err="1">
                <a:solidFill>
                  <a:schemeClr val="tx1"/>
                </a:solidFill>
                <a:effectLst/>
                <a:latin typeface="Arial" panose="020B0604020202020204" pitchFamily="34" charset="0"/>
              </a:rPr>
              <a:t>pt</a:t>
            </a:r>
            <a:r>
              <a:rPr lang="en-US" sz="1800" dirty="0">
                <a:solidFill>
                  <a:schemeClr val="tx1"/>
                </a:solidFill>
                <a:effectLst/>
                <a:latin typeface="Arial" panose="020B0604020202020204" pitchFamily="34" charset="0"/>
              </a:rPr>
              <a:t> was persistently </a:t>
            </a:r>
            <a:r>
              <a:rPr lang="en-US" sz="1800" dirty="0">
                <a:solidFill>
                  <a:srgbClr val="C00000"/>
                </a:solidFill>
                <a:effectLst/>
                <a:latin typeface="Arial" panose="020B0604020202020204" pitchFamily="34" charset="0"/>
              </a:rPr>
              <a:t>hypotensive requiring</a:t>
            </a:r>
            <a:r>
              <a:rPr lang="en-US" sz="1800" dirty="0">
                <a:solidFill>
                  <a:schemeClr val="tx1"/>
                </a:solidFill>
                <a:effectLst/>
                <a:latin typeface="Arial" panose="020B0604020202020204" pitchFamily="34" charset="0"/>
              </a:rPr>
              <a:t> 6 IVF and</a:t>
            </a:r>
            <a:r>
              <a:rPr lang="en-US" sz="1800" dirty="0">
                <a:solidFill>
                  <a:schemeClr val="tx1"/>
                </a:solidFill>
                <a:latin typeface="Arial" panose="020B0604020202020204" pitchFamily="34" charset="0"/>
              </a:rPr>
              <a:t> </a:t>
            </a:r>
            <a:r>
              <a:rPr lang="en-US" sz="1800" dirty="0" err="1">
                <a:solidFill>
                  <a:schemeClr val="tx1"/>
                </a:solidFill>
                <a:effectLst/>
                <a:latin typeface="Arial" panose="020B0604020202020204" pitchFamily="34" charset="0"/>
              </a:rPr>
              <a:t>Levophed</a:t>
            </a:r>
            <a:r>
              <a:rPr lang="en-US" sz="1800" dirty="0">
                <a:solidFill>
                  <a:schemeClr val="tx1"/>
                </a:solidFill>
                <a:effectLst/>
                <a:latin typeface="Arial" panose="020B0604020202020204" pitchFamily="34" charset="0"/>
              </a:rPr>
              <a:t>. Labs notable for ANC 500 and lactate 17. Sep-sis protocol was initiated. Pt given Flagyl, Levofloxacin, and</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cefepime and sent to [**].</a:t>
            </a:r>
            <a:endParaRPr lang="en-US" sz="1800" dirty="0">
              <a:solidFill>
                <a:schemeClr val="tx1"/>
              </a:solidFill>
            </a:endParaRPr>
          </a:p>
        </p:txBody>
      </p:sp>
      <p:sp>
        <p:nvSpPr>
          <p:cNvPr id="3" name="Rounded Rectangle 2">
            <a:extLst>
              <a:ext uri="{FF2B5EF4-FFF2-40B4-BE49-F238E27FC236}">
                <a16:creationId xmlns:a16="http://schemas.microsoft.com/office/drawing/2014/main" id="{CCF66568-F574-2A9D-0F1C-E4601D6BBDAE}"/>
              </a:ext>
            </a:extLst>
          </p:cNvPr>
          <p:cNvSpPr/>
          <p:nvPr/>
        </p:nvSpPr>
        <p:spPr>
          <a:xfrm>
            <a:off x="6643688" y="4700588"/>
            <a:ext cx="5143500" cy="1443037"/>
          </a:xfrm>
          <a:prstGeom prst="roundRect">
            <a:avLst/>
          </a:prstGeom>
          <a:solidFill>
            <a:schemeClr val="accent2"/>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t>Challenges:</a:t>
            </a:r>
          </a:p>
          <a:p>
            <a:pPr marL="342900" indent="-342900">
              <a:buAutoNum type="arabicPeriod"/>
            </a:pPr>
            <a:r>
              <a:rPr lang="en-US" sz="1400" dirty="0"/>
              <a:t>Abundant use of acronyms and abbreviations.</a:t>
            </a:r>
          </a:p>
          <a:p>
            <a:pPr marL="342900" indent="-342900">
              <a:buAutoNum type="arabicPeriod"/>
            </a:pPr>
            <a:r>
              <a:rPr lang="en-US" sz="1400" dirty="0"/>
              <a:t>Non-standard use of grammar, punctuation and spelling mistakes.</a:t>
            </a:r>
          </a:p>
          <a:p>
            <a:pPr marL="342900" indent="-342900">
              <a:buAutoNum type="arabicPeriod"/>
            </a:pPr>
            <a:r>
              <a:rPr lang="en-US" sz="1400" dirty="0">
                <a:solidFill>
                  <a:schemeClr val="accent2"/>
                </a:solidFill>
              </a:rPr>
              <a:t>Patients have multiple clinical notes, each spanning between 200 and 20,000 tokens.</a:t>
            </a:r>
          </a:p>
        </p:txBody>
      </p:sp>
      <p:sp>
        <p:nvSpPr>
          <p:cNvPr id="10" name="Slide Number Placeholder 9">
            <a:extLst>
              <a:ext uri="{FF2B5EF4-FFF2-40B4-BE49-F238E27FC236}">
                <a16:creationId xmlns:a16="http://schemas.microsoft.com/office/drawing/2014/main" id="{23F2ABFD-5B18-E140-A79C-CB94B25F06FE}"/>
              </a:ext>
            </a:extLst>
          </p:cNvPr>
          <p:cNvSpPr>
            <a:spLocks noGrp="1"/>
          </p:cNvSpPr>
          <p:nvPr>
            <p:ph type="sldNum" sz="quarter" idx="12"/>
          </p:nvPr>
        </p:nvSpPr>
        <p:spPr/>
        <p:txBody>
          <a:bodyPr/>
          <a:lstStyle/>
          <a:p>
            <a:fld id="{BDA8D12A-5188-A74B-8183-7E806E12A340}" type="slidenum">
              <a:rPr lang="en-US" smtClean="0"/>
              <a:t>4</a:t>
            </a:fld>
            <a:endParaRPr lang="en-US"/>
          </a:p>
        </p:txBody>
      </p:sp>
    </p:spTree>
    <p:extLst>
      <p:ext uri="{BB962C8B-B14F-4D97-AF65-F5344CB8AC3E}">
        <p14:creationId xmlns:p14="http://schemas.microsoft.com/office/powerpoint/2010/main" val="4197548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681C8-2523-C547-D61B-11E0952DA62A}"/>
              </a:ext>
            </a:extLst>
          </p:cNvPr>
          <p:cNvSpPr>
            <a:spLocks noGrp="1"/>
          </p:cNvSpPr>
          <p:nvPr>
            <p:ph type="title"/>
          </p:nvPr>
        </p:nvSpPr>
        <p:spPr/>
        <p:txBody>
          <a:bodyPr/>
          <a:lstStyle/>
          <a:p>
            <a:r>
              <a:rPr lang="en-US" dirty="0"/>
              <a:t>Clinical NLP</a:t>
            </a:r>
          </a:p>
        </p:txBody>
      </p:sp>
      <p:sp>
        <p:nvSpPr>
          <p:cNvPr id="4" name="Rounded Rectangle 3">
            <a:extLst>
              <a:ext uri="{FF2B5EF4-FFF2-40B4-BE49-F238E27FC236}">
                <a16:creationId xmlns:a16="http://schemas.microsoft.com/office/drawing/2014/main" id="{4473558C-6F73-44A8-3FEB-2A0D299458BF}"/>
              </a:ext>
            </a:extLst>
          </p:cNvPr>
          <p:cNvSpPr/>
          <p:nvPr/>
        </p:nvSpPr>
        <p:spPr>
          <a:xfrm>
            <a:off x="838200" y="1690689"/>
            <a:ext cx="10848975" cy="2852736"/>
          </a:xfrm>
          <a:prstGeom prst="roundRect">
            <a:avLst/>
          </a:prstGeom>
          <a:solidFill>
            <a:schemeClr val="accent1">
              <a:lumMod val="60000"/>
              <a:lumOff val="40000"/>
            </a:schemeClr>
          </a:solidFill>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r>
              <a:rPr lang="en-US" sz="1800" dirty="0">
                <a:solidFill>
                  <a:schemeClr val="tx1"/>
                </a:solidFill>
                <a:effectLst/>
                <a:latin typeface="Arial" panose="020B0604020202020204" pitchFamily="34" charset="0"/>
              </a:rPr>
              <a:t>History of Present Illness: 75 </a:t>
            </a:r>
            <a:r>
              <a:rPr lang="en-US" sz="1800" dirty="0" err="1">
                <a:solidFill>
                  <a:schemeClr val="tx1"/>
                </a:solidFill>
                <a:effectLst/>
                <a:latin typeface="Arial" panose="020B0604020202020204" pitchFamily="34" charset="0"/>
              </a:rPr>
              <a:t>yo</a:t>
            </a:r>
            <a:r>
              <a:rPr lang="en-US" sz="1800" dirty="0">
                <a:solidFill>
                  <a:schemeClr val="tx1"/>
                </a:solidFill>
                <a:effectLst/>
                <a:latin typeface="Arial" panose="020B0604020202020204" pitchFamily="34" charset="0"/>
              </a:rPr>
              <a:t> male, advanced gastric ca</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recently started on chemotherapy presenting and </a:t>
            </a:r>
            <a:r>
              <a:rPr lang="en-US" sz="1800" dirty="0" err="1">
                <a:solidFill>
                  <a:schemeClr val="tx1"/>
                </a:solidFill>
                <a:effectLst/>
                <a:latin typeface="Arial" panose="020B0604020202020204" pitchFamily="34" charset="0"/>
              </a:rPr>
              <a:t>hypotensiona</a:t>
            </a:r>
            <a:r>
              <a:rPr lang="en-US" sz="1800" dirty="0">
                <a:solidFill>
                  <a:schemeClr val="tx1"/>
                </a:solidFill>
                <a:latin typeface="Arial" panose="020B0604020202020204" pitchFamily="34" charset="0"/>
              </a:rPr>
              <a:t> </a:t>
            </a:r>
            <a:r>
              <a:rPr lang="en-US" sz="1800" dirty="0" err="1">
                <a:solidFill>
                  <a:schemeClr val="tx1"/>
                </a:solidFill>
                <a:effectLst/>
                <a:latin typeface="Arial" panose="020B0604020202020204" pitchFamily="34" charset="0"/>
              </a:rPr>
              <a:t>nd</a:t>
            </a:r>
            <a:r>
              <a:rPr lang="en-US" sz="1800" dirty="0">
                <a:solidFill>
                  <a:schemeClr val="tx1"/>
                </a:solidFill>
                <a:effectLst/>
                <a:latin typeface="Arial" panose="020B0604020202020204" pitchFamily="34" charset="0"/>
              </a:rPr>
              <a:t> episode of </a:t>
            </a:r>
            <a:r>
              <a:rPr lang="en-US" sz="1800" dirty="0" err="1">
                <a:solidFill>
                  <a:schemeClr val="tx1"/>
                </a:solidFill>
                <a:effectLst/>
                <a:latin typeface="Arial" panose="020B0604020202020204" pitchFamily="34" charset="0"/>
              </a:rPr>
              <a:t>unresponsivenes</a:t>
            </a:r>
            <a:r>
              <a:rPr lang="en-US" sz="1800" dirty="0">
                <a:solidFill>
                  <a:schemeClr val="tx1"/>
                </a:solidFill>
                <a:effectLst/>
                <a:latin typeface="Arial" panose="020B0604020202020204" pitchFamily="34" charset="0"/>
              </a:rPr>
              <a:t> after diarrhea and narcotics +</a:t>
            </a:r>
            <a:r>
              <a:rPr lang="en-US" sz="1800" dirty="0">
                <a:solidFill>
                  <a:schemeClr val="tx1"/>
                </a:solidFill>
                <a:latin typeface="Arial" panose="020B0604020202020204" pitchFamily="34" charset="0"/>
              </a:rPr>
              <a:t> </a:t>
            </a:r>
            <a:r>
              <a:rPr lang="en-US" sz="1800" dirty="0" err="1">
                <a:solidFill>
                  <a:schemeClr val="tx1"/>
                </a:solidFill>
                <a:effectLst/>
                <a:latin typeface="Arial" panose="020B0604020202020204" pitchFamily="34" charset="0"/>
              </a:rPr>
              <a:t>megace</a:t>
            </a:r>
            <a:r>
              <a:rPr lang="en-US" sz="1800" dirty="0">
                <a:solidFill>
                  <a:schemeClr val="tx1"/>
                </a:solidFill>
                <a:effectLst/>
                <a:latin typeface="Arial" panose="020B0604020202020204" pitchFamily="34" charset="0"/>
              </a:rPr>
              <a:t>. Pt was seen on [**] by his oncologist where he was</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determine to be hypovolemic and received a total of 3 IVF</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between We and Fri but still c/o poor po intake secondary to</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abdominal pain and fullness, nausea, and decreased appetite.</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This morning upon awakening </a:t>
            </a:r>
            <a:r>
              <a:rPr lang="en-US" sz="1800" dirty="0" err="1">
                <a:solidFill>
                  <a:schemeClr val="tx1"/>
                </a:solidFill>
                <a:effectLst/>
                <a:latin typeface="Arial" panose="020B0604020202020204" pitchFamily="34" charset="0"/>
              </a:rPr>
              <a:t>pt</a:t>
            </a:r>
            <a:r>
              <a:rPr lang="en-US" sz="1800" dirty="0">
                <a:solidFill>
                  <a:schemeClr val="tx1"/>
                </a:solidFill>
                <a:effectLst/>
                <a:latin typeface="Arial" panose="020B0604020202020204" pitchFamily="34" charset="0"/>
              </a:rPr>
              <a:t> was lethargic. He took</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MSO4, </a:t>
            </a:r>
            <a:r>
              <a:rPr lang="en-US" sz="1800" dirty="0" err="1">
                <a:solidFill>
                  <a:schemeClr val="tx1"/>
                </a:solidFill>
                <a:effectLst/>
                <a:latin typeface="Arial" panose="020B0604020202020204" pitchFamily="34" charset="0"/>
              </a:rPr>
              <a:t>Dilaudid</a:t>
            </a:r>
            <a:r>
              <a:rPr lang="en-US" sz="1800" dirty="0">
                <a:solidFill>
                  <a:schemeClr val="tx1"/>
                </a:solidFill>
                <a:effectLst/>
                <a:latin typeface="Arial" panose="020B0604020202020204" pitchFamily="34" charset="0"/>
              </a:rPr>
              <a:t> and an unspecified dose of </a:t>
            </a:r>
            <a:r>
              <a:rPr lang="en-US" sz="1800" dirty="0" err="1">
                <a:solidFill>
                  <a:schemeClr val="tx1"/>
                </a:solidFill>
                <a:effectLst/>
                <a:latin typeface="Arial" panose="020B0604020202020204" pitchFamily="34" charset="0"/>
              </a:rPr>
              <a:t>Megace</a:t>
            </a:r>
            <a:r>
              <a:rPr lang="en-US" sz="1800" dirty="0">
                <a:solidFill>
                  <a:schemeClr val="tx1"/>
                </a:solidFill>
                <a:effectLst/>
                <a:latin typeface="Arial" panose="020B0604020202020204" pitchFamily="34" charset="0"/>
              </a:rPr>
              <a:t>. He then</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became flushed and pale, had copious diarrhea (non-bloody),</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then became unresponsive. EMS called and he was found </a:t>
            </a:r>
            <a:r>
              <a:rPr lang="en-US" sz="1800" dirty="0" err="1">
                <a:solidFill>
                  <a:schemeClr val="tx1"/>
                </a:solidFill>
                <a:effectLst/>
                <a:latin typeface="Arial" panose="020B0604020202020204" pitchFamily="34" charset="0"/>
              </a:rPr>
              <a:t>withSBP</a:t>
            </a:r>
            <a:r>
              <a:rPr lang="en-US" sz="1800" dirty="0">
                <a:solidFill>
                  <a:schemeClr val="tx1"/>
                </a:solidFill>
                <a:effectLst/>
                <a:latin typeface="Arial" panose="020B0604020202020204" pitchFamily="34" charset="0"/>
              </a:rPr>
              <a:t> 80. Narcan  given with improvement in mental status but</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in [**] </a:t>
            </a:r>
            <a:r>
              <a:rPr lang="en-US" sz="1800" dirty="0" err="1">
                <a:solidFill>
                  <a:schemeClr val="tx1"/>
                </a:solidFill>
                <a:effectLst/>
                <a:latin typeface="Arial" panose="020B0604020202020204" pitchFamily="34" charset="0"/>
              </a:rPr>
              <a:t>pt</a:t>
            </a:r>
            <a:r>
              <a:rPr lang="en-US" sz="1800" dirty="0">
                <a:solidFill>
                  <a:schemeClr val="tx1"/>
                </a:solidFill>
                <a:effectLst/>
                <a:latin typeface="Arial" panose="020B0604020202020204" pitchFamily="34" charset="0"/>
              </a:rPr>
              <a:t> was persistently hypotensive requiring 6 IVF and</a:t>
            </a:r>
            <a:r>
              <a:rPr lang="en-US" sz="1800" dirty="0">
                <a:solidFill>
                  <a:schemeClr val="tx1"/>
                </a:solidFill>
                <a:latin typeface="Arial" panose="020B0604020202020204" pitchFamily="34" charset="0"/>
              </a:rPr>
              <a:t> </a:t>
            </a:r>
            <a:r>
              <a:rPr lang="en-US" sz="1800" dirty="0" err="1">
                <a:solidFill>
                  <a:schemeClr val="tx1"/>
                </a:solidFill>
                <a:effectLst/>
                <a:latin typeface="Arial" panose="020B0604020202020204" pitchFamily="34" charset="0"/>
              </a:rPr>
              <a:t>Levophed</a:t>
            </a:r>
            <a:r>
              <a:rPr lang="en-US" sz="1800" dirty="0">
                <a:solidFill>
                  <a:schemeClr val="tx1"/>
                </a:solidFill>
                <a:effectLst/>
                <a:latin typeface="Arial" panose="020B0604020202020204" pitchFamily="34" charset="0"/>
              </a:rPr>
              <a:t>. Labs notable for ANC 500 and lactate 17. Sep-sis protocol was initiated. Pt given Flagyl, Levofloxacin, and</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cefepime and sent to [**].</a:t>
            </a:r>
            <a:endParaRPr lang="en-US" sz="1800" dirty="0">
              <a:solidFill>
                <a:schemeClr val="tx1"/>
              </a:solidFill>
            </a:endParaRPr>
          </a:p>
        </p:txBody>
      </p:sp>
      <p:sp>
        <p:nvSpPr>
          <p:cNvPr id="3" name="Rounded Rectangle 2">
            <a:extLst>
              <a:ext uri="{FF2B5EF4-FFF2-40B4-BE49-F238E27FC236}">
                <a16:creationId xmlns:a16="http://schemas.microsoft.com/office/drawing/2014/main" id="{CCF66568-F574-2A9D-0F1C-E4601D6BBDAE}"/>
              </a:ext>
            </a:extLst>
          </p:cNvPr>
          <p:cNvSpPr/>
          <p:nvPr/>
        </p:nvSpPr>
        <p:spPr>
          <a:xfrm>
            <a:off x="6643688" y="4700588"/>
            <a:ext cx="5143500" cy="1443037"/>
          </a:xfrm>
          <a:prstGeom prst="roundRect">
            <a:avLst/>
          </a:prstGeom>
          <a:solidFill>
            <a:schemeClr val="accent2"/>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t>Challenges:</a:t>
            </a:r>
          </a:p>
          <a:p>
            <a:pPr marL="342900" indent="-342900">
              <a:buAutoNum type="arabicPeriod"/>
            </a:pPr>
            <a:r>
              <a:rPr lang="en-US" sz="1400" dirty="0"/>
              <a:t>Abundant use of acronyms and abbreviations.</a:t>
            </a:r>
          </a:p>
          <a:p>
            <a:pPr marL="342900" indent="-342900">
              <a:buAutoNum type="arabicPeriod"/>
            </a:pPr>
            <a:r>
              <a:rPr lang="en-US" sz="1400" dirty="0"/>
              <a:t>Non-standard use of grammar, punctuation and spelling mistakes.</a:t>
            </a:r>
          </a:p>
          <a:p>
            <a:pPr marL="342900" indent="-342900">
              <a:buAutoNum type="arabicPeriod"/>
            </a:pPr>
            <a:r>
              <a:rPr lang="en-US" sz="1400" dirty="0"/>
              <a:t>Patients have multiple clinical notes, each spanning between 200 and 20,000 tokens.</a:t>
            </a:r>
          </a:p>
        </p:txBody>
      </p:sp>
      <p:sp>
        <p:nvSpPr>
          <p:cNvPr id="6" name="TextBox 5">
            <a:extLst>
              <a:ext uri="{FF2B5EF4-FFF2-40B4-BE49-F238E27FC236}">
                <a16:creationId xmlns:a16="http://schemas.microsoft.com/office/drawing/2014/main" id="{49E946FE-F09A-EE87-195A-513B76AB6280}"/>
              </a:ext>
            </a:extLst>
          </p:cNvPr>
          <p:cNvSpPr txBox="1"/>
          <p:nvPr/>
        </p:nvSpPr>
        <p:spPr>
          <a:xfrm>
            <a:off x="674914" y="5323114"/>
            <a:ext cx="5508172" cy="646331"/>
          </a:xfrm>
          <a:prstGeom prst="rect">
            <a:avLst/>
          </a:prstGeom>
          <a:noFill/>
        </p:spPr>
        <p:txBody>
          <a:bodyPr wrap="square" rtlCol="0">
            <a:spAutoFit/>
          </a:bodyPr>
          <a:lstStyle/>
          <a:p>
            <a:r>
              <a:rPr lang="en-US" dirty="0"/>
              <a:t>This note excerpt contains 282 tokens, but other notes have up to 20,000 tokens!</a:t>
            </a:r>
          </a:p>
        </p:txBody>
      </p:sp>
      <p:sp>
        <p:nvSpPr>
          <p:cNvPr id="12" name="Slide Number Placeholder 11">
            <a:extLst>
              <a:ext uri="{FF2B5EF4-FFF2-40B4-BE49-F238E27FC236}">
                <a16:creationId xmlns:a16="http://schemas.microsoft.com/office/drawing/2014/main" id="{6A4187EE-A0EE-38AF-BC4C-A45287A65DFD}"/>
              </a:ext>
            </a:extLst>
          </p:cNvPr>
          <p:cNvSpPr>
            <a:spLocks noGrp="1"/>
          </p:cNvSpPr>
          <p:nvPr>
            <p:ph type="sldNum" sz="quarter" idx="12"/>
          </p:nvPr>
        </p:nvSpPr>
        <p:spPr/>
        <p:txBody>
          <a:bodyPr/>
          <a:lstStyle/>
          <a:p>
            <a:fld id="{BDA8D12A-5188-A74B-8183-7E806E12A340}" type="slidenum">
              <a:rPr lang="en-US" smtClean="0"/>
              <a:t>5</a:t>
            </a:fld>
            <a:endParaRPr lang="en-US"/>
          </a:p>
        </p:txBody>
      </p:sp>
    </p:spTree>
    <p:extLst>
      <p:ext uri="{BB962C8B-B14F-4D97-AF65-F5344CB8AC3E}">
        <p14:creationId xmlns:p14="http://schemas.microsoft.com/office/powerpoint/2010/main" val="2572656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681C8-2523-C547-D61B-11E0952DA62A}"/>
              </a:ext>
            </a:extLst>
          </p:cNvPr>
          <p:cNvSpPr>
            <a:spLocks noGrp="1"/>
          </p:cNvSpPr>
          <p:nvPr>
            <p:ph type="title"/>
          </p:nvPr>
        </p:nvSpPr>
        <p:spPr/>
        <p:txBody>
          <a:bodyPr/>
          <a:lstStyle/>
          <a:p>
            <a:r>
              <a:rPr lang="en-US" dirty="0"/>
              <a:t>Clinical NLP</a:t>
            </a:r>
          </a:p>
        </p:txBody>
      </p:sp>
      <p:sp>
        <p:nvSpPr>
          <p:cNvPr id="4" name="Rounded Rectangle 3">
            <a:extLst>
              <a:ext uri="{FF2B5EF4-FFF2-40B4-BE49-F238E27FC236}">
                <a16:creationId xmlns:a16="http://schemas.microsoft.com/office/drawing/2014/main" id="{4473558C-6F73-44A8-3FEB-2A0D299458BF}"/>
              </a:ext>
            </a:extLst>
          </p:cNvPr>
          <p:cNvSpPr/>
          <p:nvPr/>
        </p:nvSpPr>
        <p:spPr>
          <a:xfrm>
            <a:off x="838200" y="1690689"/>
            <a:ext cx="10848975" cy="2852736"/>
          </a:xfrm>
          <a:prstGeom prst="roundRect">
            <a:avLst/>
          </a:prstGeom>
          <a:solidFill>
            <a:schemeClr val="accent1">
              <a:lumMod val="60000"/>
              <a:lumOff val="40000"/>
            </a:schemeClr>
          </a:solidFill>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r>
              <a:rPr lang="en-US" sz="1800" dirty="0">
                <a:solidFill>
                  <a:schemeClr val="tx1"/>
                </a:solidFill>
                <a:effectLst/>
                <a:latin typeface="Arial" panose="020B0604020202020204" pitchFamily="34" charset="0"/>
              </a:rPr>
              <a:t>History of Present Illness: 75 </a:t>
            </a:r>
            <a:r>
              <a:rPr lang="en-US" sz="1800" dirty="0" err="1">
                <a:solidFill>
                  <a:schemeClr val="tx1"/>
                </a:solidFill>
                <a:effectLst/>
                <a:latin typeface="Arial" panose="020B0604020202020204" pitchFamily="34" charset="0"/>
              </a:rPr>
              <a:t>yo</a:t>
            </a:r>
            <a:r>
              <a:rPr lang="en-US" sz="1800" dirty="0">
                <a:solidFill>
                  <a:schemeClr val="tx1"/>
                </a:solidFill>
                <a:effectLst/>
                <a:latin typeface="Arial" panose="020B0604020202020204" pitchFamily="34" charset="0"/>
              </a:rPr>
              <a:t> male, advanced gastric ca</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recently started on chemotherapy presenting and </a:t>
            </a:r>
            <a:r>
              <a:rPr lang="en-US" sz="1800" dirty="0" err="1">
                <a:solidFill>
                  <a:schemeClr val="tx1"/>
                </a:solidFill>
                <a:effectLst/>
                <a:latin typeface="Arial" panose="020B0604020202020204" pitchFamily="34" charset="0"/>
              </a:rPr>
              <a:t>hypotensiona</a:t>
            </a:r>
            <a:r>
              <a:rPr lang="en-US" sz="1800" dirty="0">
                <a:solidFill>
                  <a:schemeClr val="tx1"/>
                </a:solidFill>
                <a:latin typeface="Arial" panose="020B0604020202020204" pitchFamily="34" charset="0"/>
              </a:rPr>
              <a:t> </a:t>
            </a:r>
            <a:r>
              <a:rPr lang="en-US" sz="1800" dirty="0" err="1">
                <a:solidFill>
                  <a:schemeClr val="tx1"/>
                </a:solidFill>
                <a:effectLst/>
                <a:latin typeface="Arial" panose="020B0604020202020204" pitchFamily="34" charset="0"/>
              </a:rPr>
              <a:t>nd</a:t>
            </a:r>
            <a:r>
              <a:rPr lang="en-US" sz="1800" dirty="0">
                <a:solidFill>
                  <a:schemeClr val="tx1"/>
                </a:solidFill>
                <a:effectLst/>
                <a:latin typeface="Arial" panose="020B0604020202020204" pitchFamily="34" charset="0"/>
              </a:rPr>
              <a:t> episode of </a:t>
            </a:r>
            <a:r>
              <a:rPr lang="en-US" sz="1800" dirty="0" err="1">
                <a:solidFill>
                  <a:schemeClr val="tx1"/>
                </a:solidFill>
                <a:effectLst/>
                <a:latin typeface="Arial" panose="020B0604020202020204" pitchFamily="34" charset="0"/>
              </a:rPr>
              <a:t>unresponsivenes</a:t>
            </a:r>
            <a:r>
              <a:rPr lang="en-US" sz="1800" dirty="0">
                <a:solidFill>
                  <a:schemeClr val="tx1"/>
                </a:solidFill>
                <a:effectLst/>
                <a:latin typeface="Arial" panose="020B0604020202020204" pitchFamily="34" charset="0"/>
              </a:rPr>
              <a:t> after diarrhea and narcotics +</a:t>
            </a:r>
            <a:r>
              <a:rPr lang="en-US" sz="1800" dirty="0">
                <a:solidFill>
                  <a:schemeClr val="tx1"/>
                </a:solidFill>
                <a:latin typeface="Arial" panose="020B0604020202020204" pitchFamily="34" charset="0"/>
              </a:rPr>
              <a:t> </a:t>
            </a:r>
            <a:r>
              <a:rPr lang="en-US" sz="1800" dirty="0" err="1">
                <a:solidFill>
                  <a:schemeClr val="tx1"/>
                </a:solidFill>
                <a:effectLst/>
                <a:latin typeface="Arial" panose="020B0604020202020204" pitchFamily="34" charset="0"/>
              </a:rPr>
              <a:t>megace</a:t>
            </a:r>
            <a:r>
              <a:rPr lang="en-US" sz="1800" dirty="0">
                <a:solidFill>
                  <a:schemeClr val="tx1"/>
                </a:solidFill>
                <a:effectLst/>
                <a:latin typeface="Arial" panose="020B0604020202020204" pitchFamily="34" charset="0"/>
              </a:rPr>
              <a:t>. Pt was seen on [**] by his oncologist where he was</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determine to be hypovolemic and received a total of 3 IVF</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between We and Fri but still c/o poor po intake secondary to</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abdominal pain and fullness, nausea, and decreased appetite.</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This morning upon awakening </a:t>
            </a:r>
            <a:r>
              <a:rPr lang="en-US" sz="1800" dirty="0" err="1">
                <a:solidFill>
                  <a:schemeClr val="tx1"/>
                </a:solidFill>
                <a:effectLst/>
                <a:latin typeface="Arial" panose="020B0604020202020204" pitchFamily="34" charset="0"/>
              </a:rPr>
              <a:t>pt</a:t>
            </a:r>
            <a:r>
              <a:rPr lang="en-US" sz="1800" dirty="0">
                <a:solidFill>
                  <a:schemeClr val="tx1"/>
                </a:solidFill>
                <a:effectLst/>
                <a:latin typeface="Arial" panose="020B0604020202020204" pitchFamily="34" charset="0"/>
              </a:rPr>
              <a:t> was lethargic. He took</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MSO4, </a:t>
            </a:r>
            <a:r>
              <a:rPr lang="en-US" sz="1800" dirty="0" err="1">
                <a:solidFill>
                  <a:schemeClr val="tx1"/>
                </a:solidFill>
                <a:effectLst/>
                <a:latin typeface="Arial" panose="020B0604020202020204" pitchFamily="34" charset="0"/>
              </a:rPr>
              <a:t>Dilaudid</a:t>
            </a:r>
            <a:r>
              <a:rPr lang="en-US" sz="1800" dirty="0">
                <a:solidFill>
                  <a:schemeClr val="tx1"/>
                </a:solidFill>
                <a:effectLst/>
                <a:latin typeface="Arial" panose="020B0604020202020204" pitchFamily="34" charset="0"/>
              </a:rPr>
              <a:t> and an unspecified dose of </a:t>
            </a:r>
            <a:r>
              <a:rPr lang="en-US" sz="1800" dirty="0" err="1">
                <a:solidFill>
                  <a:schemeClr val="tx1"/>
                </a:solidFill>
                <a:effectLst/>
                <a:latin typeface="Arial" panose="020B0604020202020204" pitchFamily="34" charset="0"/>
              </a:rPr>
              <a:t>Megace</a:t>
            </a:r>
            <a:r>
              <a:rPr lang="en-US" sz="1800" dirty="0">
                <a:solidFill>
                  <a:schemeClr val="tx1"/>
                </a:solidFill>
                <a:effectLst/>
                <a:latin typeface="Arial" panose="020B0604020202020204" pitchFamily="34" charset="0"/>
              </a:rPr>
              <a:t>. He then</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became flushed and pale, had copious diarrhea (non-bloody),</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then became unresponsive. EMS called and he was found </a:t>
            </a:r>
            <a:r>
              <a:rPr lang="en-US" sz="1800" dirty="0" err="1">
                <a:solidFill>
                  <a:schemeClr val="tx1"/>
                </a:solidFill>
                <a:effectLst/>
                <a:latin typeface="Arial" panose="020B0604020202020204" pitchFamily="34" charset="0"/>
              </a:rPr>
              <a:t>withSBP</a:t>
            </a:r>
            <a:r>
              <a:rPr lang="en-US" sz="1800" dirty="0">
                <a:solidFill>
                  <a:schemeClr val="tx1"/>
                </a:solidFill>
                <a:effectLst/>
                <a:latin typeface="Arial" panose="020B0604020202020204" pitchFamily="34" charset="0"/>
              </a:rPr>
              <a:t> 80. Narcan  given with improvement in mental status but</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in [**] </a:t>
            </a:r>
            <a:r>
              <a:rPr lang="en-US" sz="1800" dirty="0" err="1">
                <a:solidFill>
                  <a:schemeClr val="tx1"/>
                </a:solidFill>
                <a:effectLst/>
                <a:latin typeface="Arial" panose="020B0604020202020204" pitchFamily="34" charset="0"/>
              </a:rPr>
              <a:t>pt</a:t>
            </a:r>
            <a:r>
              <a:rPr lang="en-US" sz="1800" dirty="0">
                <a:solidFill>
                  <a:schemeClr val="tx1"/>
                </a:solidFill>
                <a:effectLst/>
                <a:latin typeface="Arial" panose="020B0604020202020204" pitchFamily="34" charset="0"/>
              </a:rPr>
              <a:t> was persistently hypotensive requiring 6 IVF and</a:t>
            </a:r>
            <a:r>
              <a:rPr lang="en-US" sz="1800" dirty="0">
                <a:solidFill>
                  <a:schemeClr val="tx1"/>
                </a:solidFill>
                <a:latin typeface="Arial" panose="020B0604020202020204" pitchFamily="34" charset="0"/>
              </a:rPr>
              <a:t> </a:t>
            </a:r>
            <a:r>
              <a:rPr lang="en-US" sz="1800" dirty="0" err="1">
                <a:solidFill>
                  <a:schemeClr val="tx1"/>
                </a:solidFill>
                <a:effectLst/>
                <a:latin typeface="Arial" panose="020B0604020202020204" pitchFamily="34" charset="0"/>
              </a:rPr>
              <a:t>Levophed</a:t>
            </a:r>
            <a:r>
              <a:rPr lang="en-US" sz="1800" dirty="0">
                <a:solidFill>
                  <a:schemeClr val="tx1"/>
                </a:solidFill>
                <a:effectLst/>
                <a:latin typeface="Arial" panose="020B0604020202020204" pitchFamily="34" charset="0"/>
              </a:rPr>
              <a:t>. Labs notable for ANC 500 and lactate 17. Sep-sis protocol was initiated. Pt given Flagyl, Levofloxacin, and</a:t>
            </a:r>
            <a:r>
              <a:rPr lang="en-US" sz="1800" dirty="0">
                <a:solidFill>
                  <a:schemeClr val="tx1"/>
                </a:solidFill>
                <a:latin typeface="Arial" panose="020B0604020202020204" pitchFamily="34" charset="0"/>
              </a:rPr>
              <a:t> </a:t>
            </a:r>
            <a:r>
              <a:rPr lang="en-US" sz="1800" dirty="0">
                <a:solidFill>
                  <a:schemeClr val="tx1"/>
                </a:solidFill>
                <a:effectLst/>
                <a:latin typeface="Arial" panose="020B0604020202020204" pitchFamily="34" charset="0"/>
              </a:rPr>
              <a:t>cefepime and sent to [**].</a:t>
            </a:r>
            <a:endParaRPr lang="en-US" sz="1800" dirty="0">
              <a:solidFill>
                <a:schemeClr val="tx1"/>
              </a:solidFill>
            </a:endParaRPr>
          </a:p>
        </p:txBody>
      </p:sp>
      <p:sp>
        <p:nvSpPr>
          <p:cNvPr id="3" name="Rounded Rectangle 2">
            <a:extLst>
              <a:ext uri="{FF2B5EF4-FFF2-40B4-BE49-F238E27FC236}">
                <a16:creationId xmlns:a16="http://schemas.microsoft.com/office/drawing/2014/main" id="{CCF66568-F574-2A9D-0F1C-E4601D6BBDAE}"/>
              </a:ext>
            </a:extLst>
          </p:cNvPr>
          <p:cNvSpPr/>
          <p:nvPr/>
        </p:nvSpPr>
        <p:spPr>
          <a:xfrm>
            <a:off x="6643688" y="4700588"/>
            <a:ext cx="5143500" cy="1443037"/>
          </a:xfrm>
          <a:prstGeom prst="roundRect">
            <a:avLst/>
          </a:prstGeom>
          <a:solidFill>
            <a:schemeClr val="accent2"/>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t>Challenges:</a:t>
            </a:r>
          </a:p>
          <a:p>
            <a:pPr marL="342900" indent="-342900">
              <a:buAutoNum type="arabicPeriod"/>
            </a:pPr>
            <a:r>
              <a:rPr lang="en-US" sz="1400" dirty="0"/>
              <a:t>Abundant use of acronyms and abbreviations.</a:t>
            </a:r>
          </a:p>
          <a:p>
            <a:pPr marL="342900" indent="-342900">
              <a:buAutoNum type="arabicPeriod"/>
            </a:pPr>
            <a:r>
              <a:rPr lang="en-US" sz="1400" dirty="0"/>
              <a:t>Non-standard use of grammar, punctuation and spelling mistakes.</a:t>
            </a:r>
          </a:p>
          <a:p>
            <a:pPr marL="342900" indent="-342900">
              <a:buAutoNum type="arabicPeriod"/>
            </a:pPr>
            <a:r>
              <a:rPr lang="en-US" sz="1400" dirty="0"/>
              <a:t>Patients have multiple clinical notes, each spanning between 200 and 20,000 tokens.</a:t>
            </a:r>
          </a:p>
        </p:txBody>
      </p:sp>
      <p:sp>
        <p:nvSpPr>
          <p:cNvPr id="7" name="Rounded Rectangle 6">
            <a:extLst>
              <a:ext uri="{FF2B5EF4-FFF2-40B4-BE49-F238E27FC236}">
                <a16:creationId xmlns:a16="http://schemas.microsoft.com/office/drawing/2014/main" id="{44959A84-0D91-2C24-6F3D-2E9AE2DE39F7}"/>
              </a:ext>
            </a:extLst>
          </p:cNvPr>
          <p:cNvSpPr/>
          <p:nvPr/>
        </p:nvSpPr>
        <p:spPr>
          <a:xfrm>
            <a:off x="1017432" y="5061699"/>
            <a:ext cx="4833870" cy="720814"/>
          </a:xfrm>
          <a:prstGeom prst="roundRect">
            <a:avLst/>
          </a:prstGeom>
          <a:solidFill>
            <a:schemeClr val="accent6"/>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Wealth of Information can be used for research and education!</a:t>
            </a:r>
          </a:p>
        </p:txBody>
      </p:sp>
      <p:sp>
        <p:nvSpPr>
          <p:cNvPr id="12" name="Slide Number Placeholder 11">
            <a:extLst>
              <a:ext uri="{FF2B5EF4-FFF2-40B4-BE49-F238E27FC236}">
                <a16:creationId xmlns:a16="http://schemas.microsoft.com/office/drawing/2014/main" id="{C806CA6E-E3B9-B7D9-ACB7-0E25744DB10D}"/>
              </a:ext>
            </a:extLst>
          </p:cNvPr>
          <p:cNvSpPr>
            <a:spLocks noGrp="1"/>
          </p:cNvSpPr>
          <p:nvPr>
            <p:ph type="sldNum" sz="quarter" idx="12"/>
          </p:nvPr>
        </p:nvSpPr>
        <p:spPr/>
        <p:txBody>
          <a:bodyPr/>
          <a:lstStyle/>
          <a:p>
            <a:fld id="{BDA8D12A-5188-A74B-8183-7E806E12A340}" type="slidenum">
              <a:rPr lang="en-US" smtClean="0"/>
              <a:t>6</a:t>
            </a:fld>
            <a:endParaRPr lang="en-US"/>
          </a:p>
        </p:txBody>
      </p:sp>
    </p:spTree>
    <p:extLst>
      <p:ext uri="{BB962C8B-B14F-4D97-AF65-F5344CB8AC3E}">
        <p14:creationId xmlns:p14="http://schemas.microsoft.com/office/powerpoint/2010/main" val="1351028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164A6-F21E-D98C-1FC1-95791097FF0B}"/>
              </a:ext>
            </a:extLst>
          </p:cNvPr>
          <p:cNvSpPr>
            <a:spLocks noGrp="1"/>
          </p:cNvSpPr>
          <p:nvPr>
            <p:ph type="title"/>
          </p:nvPr>
        </p:nvSpPr>
        <p:spPr/>
        <p:txBody>
          <a:bodyPr/>
          <a:lstStyle/>
          <a:p>
            <a:r>
              <a:rPr lang="en-US" dirty="0"/>
              <a:t>Challenges Addressed in this Dissertation</a:t>
            </a:r>
          </a:p>
        </p:txBody>
      </p:sp>
      <p:sp>
        <p:nvSpPr>
          <p:cNvPr id="3" name="Content Placeholder 2">
            <a:extLst>
              <a:ext uri="{FF2B5EF4-FFF2-40B4-BE49-F238E27FC236}">
                <a16:creationId xmlns:a16="http://schemas.microsoft.com/office/drawing/2014/main" id="{462D07A1-F902-1E77-F0A9-FC7353452506}"/>
              </a:ext>
            </a:extLst>
          </p:cNvPr>
          <p:cNvSpPr>
            <a:spLocks noGrp="1"/>
          </p:cNvSpPr>
          <p:nvPr>
            <p:ph idx="1"/>
          </p:nvPr>
        </p:nvSpPr>
        <p:spPr/>
        <p:txBody>
          <a:bodyPr>
            <a:normAutofit fontScale="92500" lnSpcReduction="10000"/>
          </a:bodyPr>
          <a:lstStyle/>
          <a:p>
            <a:pPr marL="514350" indent="-514350">
              <a:buFont typeface="+mj-lt"/>
              <a:buAutoNum type="arabicPeriod"/>
            </a:pPr>
            <a:r>
              <a:rPr lang="en-US" dirty="0"/>
              <a:t>Acronym Disambiguation: </a:t>
            </a:r>
            <a:r>
              <a:rPr lang="en-US" b="1" dirty="0"/>
              <a:t>[</a:t>
            </a:r>
            <a:r>
              <a:rPr lang="en-US" b="1" i="0" u="none" strike="noStrike" dirty="0">
                <a:effectLst/>
                <a:latin typeface="Calibri" panose="020F0502020204030204" pitchFamily="34" charset="0"/>
                <a:cs typeface="Calibri" panose="020F0502020204030204" pitchFamily="34" charset="0"/>
              </a:rPr>
              <a:t>Kashyap et al., 2020]</a:t>
            </a:r>
            <a:r>
              <a:rPr lang="en-US" baseline="30000" dirty="0">
                <a:latin typeface="Calibri" panose="020F0502020204030204" pitchFamily="34" charset="0"/>
                <a:cs typeface="Calibri" panose="020F0502020204030204" pitchFamily="34" charset="0"/>
              </a:rPr>
              <a:t>*</a:t>
            </a:r>
          </a:p>
          <a:p>
            <a:pPr marL="514350" indent="-514350">
              <a:buFont typeface="+mj-lt"/>
              <a:buAutoNum type="arabicPeriod"/>
            </a:pPr>
            <a:r>
              <a:rPr lang="en-US" dirty="0"/>
              <a:t>(a) Long Document Classification: </a:t>
            </a:r>
            <a:r>
              <a:rPr lang="en-US" b="1" i="0" u="none" strike="noStrike" dirty="0">
                <a:effectLst/>
                <a:latin typeface="Calibri" panose="020F0502020204030204" pitchFamily="34" charset="0"/>
                <a:cs typeface="Calibri" panose="020F0502020204030204" pitchFamily="34" charset="0"/>
              </a:rPr>
              <a:t>[Kashyap et al., 2023]</a:t>
            </a:r>
            <a:r>
              <a:rPr lang="en-US" b="1" i="0" u="none" strike="noStrike" baseline="30000" dirty="0">
                <a:effectLst/>
                <a:latin typeface="Calibri" panose="020F0502020204030204" pitchFamily="34" charset="0"/>
                <a:cs typeface="Calibri" panose="020F0502020204030204" pitchFamily="34" charset="0"/>
              </a:rPr>
              <a:t>#</a:t>
            </a:r>
            <a:endParaRPr lang="en-US" b="1" baseline="30000" dirty="0">
              <a:latin typeface="Calibri" panose="020F0502020204030204" pitchFamily="34" charset="0"/>
              <a:cs typeface="Calibri" panose="020F0502020204030204" pitchFamily="34" charset="0"/>
            </a:endParaRPr>
          </a:p>
          <a:p>
            <a:pPr marL="0" indent="0">
              <a:buNone/>
            </a:pPr>
            <a:r>
              <a:rPr lang="en-US" dirty="0"/>
              <a:t>      (b) Structured and Unstructured Patient Electronic Health Record (EHR) 	Data classification: </a:t>
            </a:r>
            <a:r>
              <a:rPr lang="en-US" b="1" i="0" u="none" strike="noStrike" dirty="0">
                <a:effectLst/>
                <a:latin typeface="Calibri" panose="020F0502020204030204" pitchFamily="34" charset="0"/>
                <a:cs typeface="Calibri" panose="020F0502020204030204" pitchFamily="34" charset="0"/>
              </a:rPr>
              <a:t>[Kashyap et al., 2023]</a:t>
            </a:r>
            <a:r>
              <a:rPr lang="en-US" b="1" i="0" u="none" strike="noStrike" baseline="30000" dirty="0">
                <a:effectLst/>
                <a:latin typeface="Calibri" panose="020F0502020204030204" pitchFamily="34" charset="0"/>
                <a:cs typeface="Calibri" panose="020F0502020204030204" pitchFamily="34" charset="0"/>
              </a:rPr>
              <a:t># </a:t>
            </a:r>
          </a:p>
          <a:p>
            <a:pPr marL="0" indent="0">
              <a:buNone/>
            </a:pPr>
            <a:r>
              <a:rPr lang="en-US" dirty="0"/>
              <a:t>3.    Explainable Inference: </a:t>
            </a:r>
            <a:r>
              <a:rPr lang="en-US" b="1" dirty="0"/>
              <a:t>Submitted to Bioinformatics (November 2024)</a:t>
            </a:r>
          </a:p>
          <a:p>
            <a:pPr marL="514350" indent="-514350">
              <a:buFont typeface="+mj-lt"/>
              <a:buAutoNum type="arabicPeriod"/>
            </a:pPr>
            <a:endParaRPr lang="en-US" b="1" dirty="0"/>
          </a:p>
          <a:p>
            <a:pPr marL="514350" indent="-514350">
              <a:buFont typeface="+mj-lt"/>
              <a:buAutoNum type="arabicPeriod"/>
            </a:pPr>
            <a:endParaRPr lang="en-US" b="1" dirty="0"/>
          </a:p>
          <a:p>
            <a:pPr marL="0" indent="0">
              <a:buNone/>
            </a:pPr>
            <a:r>
              <a:rPr lang="en-US" sz="1400" b="1" dirty="0"/>
              <a:t>* </a:t>
            </a:r>
            <a:r>
              <a:rPr lang="en-US" sz="1400" b="0" i="0" u="none" strike="noStrike" dirty="0">
                <a:effectLst/>
                <a:latin typeface="Arial" panose="020B0604020202020204" pitchFamily="34" charset="0"/>
              </a:rPr>
              <a:t>Kashyap, Aditya, et al. “The CLASSE GATOR (Clinical Acronym </a:t>
            </a:r>
            <a:r>
              <a:rPr lang="en-US" sz="1400" b="0" i="0" u="none" strike="noStrike" dirty="0" err="1">
                <a:effectLst/>
                <a:latin typeface="Arial" panose="020B0604020202020204" pitchFamily="34" charset="0"/>
              </a:rPr>
              <a:t>SenSE</a:t>
            </a:r>
            <a:r>
              <a:rPr lang="en-US" sz="1400" b="0" i="0" u="none" strike="noStrike" dirty="0">
                <a:effectLst/>
                <a:latin typeface="Arial" panose="020B0604020202020204" pitchFamily="34" charset="0"/>
              </a:rPr>
              <a:t> </a:t>
            </a:r>
            <a:r>
              <a:rPr lang="en-US" sz="1400" b="0" i="0" u="none" strike="noStrike" dirty="0" err="1">
                <a:effectLst/>
                <a:latin typeface="Arial" panose="020B0604020202020204" pitchFamily="34" charset="0"/>
              </a:rPr>
              <a:t>disambiGuATOR</a:t>
            </a:r>
            <a:r>
              <a:rPr lang="en-US" sz="1400" b="0" i="0" u="none" strike="noStrike" dirty="0">
                <a:effectLst/>
                <a:latin typeface="Arial" panose="020B0604020202020204" pitchFamily="34" charset="0"/>
              </a:rPr>
              <a:t>): a method for predicting acronym sense from neonatal clinical notes.” International journal of medical informatics 137 (2020): 104101</a:t>
            </a:r>
          </a:p>
          <a:p>
            <a:pPr marL="0" indent="0">
              <a:buNone/>
            </a:pPr>
            <a:r>
              <a:rPr lang="en-US" sz="1400" b="1" dirty="0"/>
              <a:t># </a:t>
            </a:r>
            <a:r>
              <a:rPr lang="en-US" sz="1400" b="0" i="0" u="none" strike="noStrike" dirty="0">
                <a:effectLst/>
                <a:latin typeface="Arial" panose="020B0604020202020204" pitchFamily="34" charset="0"/>
              </a:rPr>
              <a:t>[Kashyap et al., 2023] Kashyap, Aditya, Chris </a:t>
            </a:r>
            <a:r>
              <a:rPr lang="en-US" sz="1400" b="0" i="0" u="none" strike="noStrike" dirty="0" err="1">
                <a:effectLst/>
                <a:latin typeface="Arial" panose="020B0604020202020204" pitchFamily="34" charset="0"/>
              </a:rPr>
              <a:t>Callison</a:t>
            </a:r>
            <a:r>
              <a:rPr lang="en-US" sz="1400" b="0" i="0" u="none" strike="noStrike" dirty="0">
                <a:effectLst/>
                <a:latin typeface="Arial" panose="020B0604020202020204" pitchFamily="34" charset="0"/>
              </a:rPr>
              <a:t>-Burch, and Mary Regina Boland. “A deep learning method to detect opioid prescription and opioid use disorder from electronic health records.” International Journal of Medical Informatics</a:t>
            </a:r>
            <a:br>
              <a:rPr lang="en-US" sz="1400" dirty="0"/>
            </a:br>
            <a:r>
              <a:rPr lang="en-US" sz="1400" b="0" i="0" u="none" strike="noStrike" dirty="0">
                <a:effectLst/>
                <a:latin typeface="Arial" panose="020B0604020202020204" pitchFamily="34" charset="0"/>
              </a:rPr>
              <a:t>171 (2023): 104979</a:t>
            </a:r>
            <a:endParaRPr lang="en-US" sz="1400" b="1" dirty="0"/>
          </a:p>
        </p:txBody>
      </p:sp>
      <p:sp>
        <p:nvSpPr>
          <p:cNvPr id="9" name="Slide Number Placeholder 8">
            <a:extLst>
              <a:ext uri="{FF2B5EF4-FFF2-40B4-BE49-F238E27FC236}">
                <a16:creationId xmlns:a16="http://schemas.microsoft.com/office/drawing/2014/main" id="{3C58BB66-B8FB-6440-69C4-603EB9BCBDC7}"/>
              </a:ext>
            </a:extLst>
          </p:cNvPr>
          <p:cNvSpPr>
            <a:spLocks noGrp="1"/>
          </p:cNvSpPr>
          <p:nvPr>
            <p:ph type="sldNum" sz="quarter" idx="12"/>
          </p:nvPr>
        </p:nvSpPr>
        <p:spPr/>
        <p:txBody>
          <a:bodyPr/>
          <a:lstStyle/>
          <a:p>
            <a:fld id="{BDA8D12A-5188-A74B-8183-7E806E12A340}" type="slidenum">
              <a:rPr lang="en-US" smtClean="0"/>
              <a:t>7</a:t>
            </a:fld>
            <a:endParaRPr lang="en-US"/>
          </a:p>
        </p:txBody>
      </p:sp>
    </p:spTree>
    <p:extLst>
      <p:ext uri="{BB962C8B-B14F-4D97-AF65-F5344CB8AC3E}">
        <p14:creationId xmlns:p14="http://schemas.microsoft.com/office/powerpoint/2010/main" val="2611218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164A6-F21E-D98C-1FC1-95791097FF0B}"/>
              </a:ext>
            </a:extLst>
          </p:cNvPr>
          <p:cNvSpPr>
            <a:spLocks noGrp="1"/>
          </p:cNvSpPr>
          <p:nvPr>
            <p:ph type="title"/>
          </p:nvPr>
        </p:nvSpPr>
        <p:spPr/>
        <p:txBody>
          <a:bodyPr/>
          <a:lstStyle/>
          <a:p>
            <a:r>
              <a:rPr lang="en-US" dirty="0"/>
              <a:t>Challenges Addressed in this Dissertation</a:t>
            </a:r>
          </a:p>
        </p:txBody>
      </p:sp>
      <p:sp>
        <p:nvSpPr>
          <p:cNvPr id="3" name="Content Placeholder 2">
            <a:extLst>
              <a:ext uri="{FF2B5EF4-FFF2-40B4-BE49-F238E27FC236}">
                <a16:creationId xmlns:a16="http://schemas.microsoft.com/office/drawing/2014/main" id="{462D07A1-F902-1E77-F0A9-FC7353452506}"/>
              </a:ext>
            </a:extLst>
          </p:cNvPr>
          <p:cNvSpPr>
            <a:spLocks noGrp="1"/>
          </p:cNvSpPr>
          <p:nvPr>
            <p:ph idx="1"/>
          </p:nvPr>
        </p:nvSpPr>
        <p:spPr/>
        <p:txBody>
          <a:bodyPr>
            <a:normAutofit fontScale="92500" lnSpcReduction="10000"/>
          </a:bodyPr>
          <a:lstStyle/>
          <a:p>
            <a:pPr marL="514350" indent="-514350">
              <a:buFont typeface="+mj-lt"/>
              <a:buAutoNum type="arabicPeriod"/>
            </a:pPr>
            <a:r>
              <a:rPr lang="en-US" dirty="0"/>
              <a:t>Acronym Disambiguation: </a:t>
            </a:r>
            <a:r>
              <a:rPr lang="en-US" b="1" dirty="0"/>
              <a:t>[</a:t>
            </a:r>
            <a:r>
              <a:rPr lang="en-US" b="1" i="0" u="none" strike="noStrike" dirty="0">
                <a:effectLst/>
                <a:latin typeface="Calibri" panose="020F0502020204030204" pitchFamily="34" charset="0"/>
                <a:cs typeface="Calibri" panose="020F0502020204030204" pitchFamily="34" charset="0"/>
              </a:rPr>
              <a:t>Kashyap et al., 2020]</a:t>
            </a:r>
            <a:r>
              <a:rPr lang="en-US" baseline="30000" dirty="0">
                <a:latin typeface="Calibri" panose="020F0502020204030204" pitchFamily="34" charset="0"/>
                <a:cs typeface="Calibri" panose="020F0502020204030204" pitchFamily="34" charset="0"/>
              </a:rPr>
              <a:t>*</a:t>
            </a:r>
          </a:p>
          <a:p>
            <a:pPr marL="514350" indent="-514350">
              <a:buFont typeface="+mj-lt"/>
              <a:buAutoNum type="arabicPeriod"/>
            </a:pPr>
            <a:r>
              <a:rPr lang="en-US" dirty="0"/>
              <a:t>(a) Long Document Classification: </a:t>
            </a:r>
            <a:r>
              <a:rPr lang="en-US" b="1" i="0" u="none" strike="noStrike" dirty="0">
                <a:effectLst/>
                <a:latin typeface="Calibri" panose="020F0502020204030204" pitchFamily="34" charset="0"/>
                <a:cs typeface="Calibri" panose="020F0502020204030204" pitchFamily="34" charset="0"/>
              </a:rPr>
              <a:t>[Kashyap et al., 2023]</a:t>
            </a:r>
            <a:r>
              <a:rPr lang="en-US" b="1" i="0" u="none" strike="noStrike" baseline="30000" dirty="0">
                <a:effectLst/>
                <a:latin typeface="Calibri" panose="020F0502020204030204" pitchFamily="34" charset="0"/>
                <a:cs typeface="Calibri" panose="020F0502020204030204" pitchFamily="34" charset="0"/>
              </a:rPr>
              <a:t>#</a:t>
            </a:r>
            <a:endParaRPr lang="en-US" b="1" baseline="30000" dirty="0">
              <a:latin typeface="Calibri" panose="020F0502020204030204" pitchFamily="34" charset="0"/>
              <a:cs typeface="Calibri" panose="020F0502020204030204" pitchFamily="34" charset="0"/>
            </a:endParaRPr>
          </a:p>
          <a:p>
            <a:pPr marL="0" indent="0">
              <a:buNone/>
            </a:pPr>
            <a:r>
              <a:rPr lang="en-US" dirty="0"/>
              <a:t>      (b) Structured and Unstructured Patient Electronic Health Record (EHR) 	Data classification: </a:t>
            </a:r>
            <a:r>
              <a:rPr lang="en-US" b="1" i="0" u="none" strike="noStrike" dirty="0">
                <a:effectLst/>
                <a:latin typeface="Calibri" panose="020F0502020204030204" pitchFamily="34" charset="0"/>
                <a:cs typeface="Calibri" panose="020F0502020204030204" pitchFamily="34" charset="0"/>
              </a:rPr>
              <a:t>[Kashyap et al., 2023]</a:t>
            </a:r>
            <a:r>
              <a:rPr lang="en-US" b="1" i="0" u="none" strike="noStrike" baseline="30000" dirty="0">
                <a:effectLst/>
                <a:latin typeface="Calibri" panose="020F0502020204030204" pitchFamily="34" charset="0"/>
                <a:cs typeface="Calibri" panose="020F0502020204030204" pitchFamily="34" charset="0"/>
              </a:rPr>
              <a:t># </a:t>
            </a:r>
          </a:p>
          <a:p>
            <a:pPr marL="0" indent="0">
              <a:buNone/>
            </a:pPr>
            <a:r>
              <a:rPr lang="en-US" dirty="0"/>
              <a:t>3.    Explainable Inference: </a:t>
            </a:r>
            <a:r>
              <a:rPr lang="en-US" b="1" dirty="0"/>
              <a:t>Submitted to Bioinformatics (November 2024)</a:t>
            </a:r>
          </a:p>
          <a:p>
            <a:pPr marL="514350" indent="-514350">
              <a:buFont typeface="+mj-lt"/>
              <a:buAutoNum type="arabicPeriod"/>
            </a:pPr>
            <a:endParaRPr lang="en-US" b="1" dirty="0"/>
          </a:p>
          <a:p>
            <a:pPr marL="514350" indent="-514350">
              <a:buFont typeface="+mj-lt"/>
              <a:buAutoNum type="arabicPeriod"/>
            </a:pPr>
            <a:endParaRPr lang="en-US" b="1" dirty="0"/>
          </a:p>
          <a:p>
            <a:pPr marL="0" indent="0">
              <a:buNone/>
            </a:pPr>
            <a:r>
              <a:rPr lang="en-US" sz="1400" b="1" dirty="0"/>
              <a:t>* </a:t>
            </a:r>
            <a:r>
              <a:rPr lang="en-US" sz="1400" b="0" i="0" u="none" strike="noStrike" dirty="0">
                <a:effectLst/>
                <a:latin typeface="Arial" panose="020B0604020202020204" pitchFamily="34" charset="0"/>
              </a:rPr>
              <a:t>Kashyap, Aditya, et al. “The CLASSE GATOR (Clinical Acronym </a:t>
            </a:r>
            <a:r>
              <a:rPr lang="en-US" sz="1400" b="0" i="0" u="none" strike="noStrike" dirty="0" err="1">
                <a:effectLst/>
                <a:latin typeface="Arial" panose="020B0604020202020204" pitchFamily="34" charset="0"/>
              </a:rPr>
              <a:t>SenSE</a:t>
            </a:r>
            <a:r>
              <a:rPr lang="en-US" sz="1400" b="0" i="0" u="none" strike="noStrike" dirty="0">
                <a:effectLst/>
                <a:latin typeface="Arial" panose="020B0604020202020204" pitchFamily="34" charset="0"/>
              </a:rPr>
              <a:t> </a:t>
            </a:r>
            <a:r>
              <a:rPr lang="en-US" sz="1400" b="0" i="0" u="none" strike="noStrike" dirty="0" err="1">
                <a:effectLst/>
                <a:latin typeface="Arial" panose="020B0604020202020204" pitchFamily="34" charset="0"/>
              </a:rPr>
              <a:t>disambiGuATOR</a:t>
            </a:r>
            <a:r>
              <a:rPr lang="en-US" sz="1400" b="0" i="0" u="none" strike="noStrike" dirty="0">
                <a:effectLst/>
                <a:latin typeface="Arial" panose="020B0604020202020204" pitchFamily="34" charset="0"/>
              </a:rPr>
              <a:t>): a method for predicting acronym sense from neonatal clinical notes.” International journal of medical informatics 137 (2020): 104101</a:t>
            </a:r>
          </a:p>
          <a:p>
            <a:pPr marL="0" indent="0">
              <a:buNone/>
            </a:pPr>
            <a:r>
              <a:rPr lang="en-US" sz="1400" b="1" dirty="0"/>
              <a:t># </a:t>
            </a:r>
            <a:r>
              <a:rPr lang="en-US" sz="1400" b="0" i="0" u="none" strike="noStrike" dirty="0">
                <a:effectLst/>
                <a:latin typeface="Arial" panose="020B0604020202020204" pitchFamily="34" charset="0"/>
              </a:rPr>
              <a:t>[Kashyap et al., 2023] Kashyap, Aditya, Chris </a:t>
            </a:r>
            <a:r>
              <a:rPr lang="en-US" sz="1400" b="0" i="0" u="none" strike="noStrike" dirty="0" err="1">
                <a:effectLst/>
                <a:latin typeface="Arial" panose="020B0604020202020204" pitchFamily="34" charset="0"/>
              </a:rPr>
              <a:t>Callison</a:t>
            </a:r>
            <a:r>
              <a:rPr lang="en-US" sz="1400" b="0" i="0" u="none" strike="noStrike" dirty="0">
                <a:effectLst/>
                <a:latin typeface="Arial" panose="020B0604020202020204" pitchFamily="34" charset="0"/>
              </a:rPr>
              <a:t>-Burch, and Mary Regina Boland. “A deep learning method to detect opioid prescription and opioid use disorder from electronic health records.” International Journal of Medical Informatics</a:t>
            </a:r>
            <a:br>
              <a:rPr lang="en-US" sz="1400" dirty="0"/>
            </a:br>
            <a:r>
              <a:rPr lang="en-US" sz="1400" b="0" i="0" u="none" strike="noStrike" dirty="0">
                <a:effectLst/>
                <a:latin typeface="Arial" panose="020B0604020202020204" pitchFamily="34" charset="0"/>
              </a:rPr>
              <a:t>171 (2023): 104979</a:t>
            </a:r>
            <a:endParaRPr lang="en-US" sz="1400" b="1" dirty="0"/>
          </a:p>
        </p:txBody>
      </p:sp>
      <p:sp>
        <p:nvSpPr>
          <p:cNvPr id="4" name="Rectangle 3">
            <a:extLst>
              <a:ext uri="{FF2B5EF4-FFF2-40B4-BE49-F238E27FC236}">
                <a16:creationId xmlns:a16="http://schemas.microsoft.com/office/drawing/2014/main" id="{36B90249-B6E3-E3B2-BD4B-2F4C438937E1}"/>
              </a:ext>
            </a:extLst>
          </p:cNvPr>
          <p:cNvSpPr/>
          <p:nvPr/>
        </p:nvSpPr>
        <p:spPr>
          <a:xfrm>
            <a:off x="838200" y="1690688"/>
            <a:ext cx="10894454" cy="1738312"/>
          </a:xfrm>
          <a:prstGeom prst="rect">
            <a:avLst/>
          </a:prstGeom>
          <a:noFill/>
          <a:ln w="317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399E441-2AFE-3827-E96D-C8E0DC904599}"/>
              </a:ext>
            </a:extLst>
          </p:cNvPr>
          <p:cNvSpPr/>
          <p:nvPr/>
        </p:nvSpPr>
        <p:spPr>
          <a:xfrm>
            <a:off x="838200" y="3429000"/>
            <a:ext cx="10894454" cy="1039969"/>
          </a:xfrm>
          <a:prstGeom prst="rect">
            <a:avLst/>
          </a:prstGeom>
          <a:noFill/>
          <a:ln w="317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4F93463B-A27A-63D1-9907-B90E3550F418}"/>
              </a:ext>
            </a:extLst>
          </p:cNvPr>
          <p:cNvSpPr>
            <a:spLocks noGrp="1"/>
          </p:cNvSpPr>
          <p:nvPr>
            <p:ph type="sldNum" sz="quarter" idx="12"/>
          </p:nvPr>
        </p:nvSpPr>
        <p:spPr/>
        <p:txBody>
          <a:bodyPr/>
          <a:lstStyle/>
          <a:p>
            <a:fld id="{BDA8D12A-5188-A74B-8183-7E806E12A340}" type="slidenum">
              <a:rPr lang="en-US" smtClean="0"/>
              <a:t>8</a:t>
            </a:fld>
            <a:endParaRPr lang="en-US"/>
          </a:p>
        </p:txBody>
      </p:sp>
    </p:spTree>
    <p:extLst>
      <p:ext uri="{BB962C8B-B14F-4D97-AF65-F5344CB8AC3E}">
        <p14:creationId xmlns:p14="http://schemas.microsoft.com/office/powerpoint/2010/main" val="2206308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BF2B8-1FE1-2C3F-A5D6-2199CFFEC57E}"/>
              </a:ext>
            </a:extLst>
          </p:cNvPr>
          <p:cNvSpPr>
            <a:spLocks noGrp="1"/>
          </p:cNvSpPr>
          <p:nvPr>
            <p:ph type="title"/>
          </p:nvPr>
        </p:nvSpPr>
        <p:spPr>
          <a:xfrm>
            <a:off x="981075" y="2208212"/>
            <a:ext cx="10515600" cy="1325563"/>
          </a:xfrm>
        </p:spPr>
        <p:txBody>
          <a:bodyPr/>
          <a:lstStyle/>
          <a:p>
            <a:pPr algn="ctr"/>
            <a:r>
              <a:rPr lang="en-US" dirty="0"/>
              <a:t>Acronym Disambiguation in Clinical Notes</a:t>
            </a:r>
          </a:p>
        </p:txBody>
      </p:sp>
      <p:sp>
        <p:nvSpPr>
          <p:cNvPr id="5" name="TextBox 4">
            <a:extLst>
              <a:ext uri="{FF2B5EF4-FFF2-40B4-BE49-F238E27FC236}">
                <a16:creationId xmlns:a16="http://schemas.microsoft.com/office/drawing/2014/main" id="{6C577C51-84B7-5B68-DFEF-3E7B9ED35B10}"/>
              </a:ext>
            </a:extLst>
          </p:cNvPr>
          <p:cNvSpPr txBox="1"/>
          <p:nvPr/>
        </p:nvSpPr>
        <p:spPr>
          <a:xfrm>
            <a:off x="880762" y="4687749"/>
            <a:ext cx="11311238" cy="1200329"/>
          </a:xfrm>
          <a:prstGeom prst="rect">
            <a:avLst/>
          </a:prstGeom>
          <a:noFill/>
        </p:spPr>
        <p:txBody>
          <a:bodyPr wrap="square" rtlCol="0">
            <a:spAutoFit/>
          </a:bodyPr>
          <a:lstStyle/>
          <a:p>
            <a:r>
              <a:rPr lang="en-US" sz="1800" b="0" i="0" u="none" strike="noStrike" dirty="0">
                <a:effectLst/>
                <a:latin typeface="Arial" panose="020B0604020202020204" pitchFamily="34" charset="0"/>
              </a:rPr>
              <a:t>Kashyap, Aditya, et al. “The CLASSE GATOR (Clinical Acronym </a:t>
            </a:r>
            <a:r>
              <a:rPr lang="en-US" sz="1800" b="0" i="0" u="none" strike="noStrike" dirty="0" err="1">
                <a:effectLst/>
                <a:latin typeface="Arial" panose="020B0604020202020204" pitchFamily="34" charset="0"/>
              </a:rPr>
              <a:t>SenSE</a:t>
            </a:r>
            <a:r>
              <a:rPr lang="en-US" sz="1800" b="0" i="0" u="none" strike="noStrike" dirty="0">
                <a:effectLst/>
                <a:latin typeface="Arial" panose="020B0604020202020204" pitchFamily="34" charset="0"/>
              </a:rPr>
              <a:t> </a:t>
            </a:r>
            <a:r>
              <a:rPr lang="en-US" sz="1800" b="0" i="0" u="none" strike="noStrike" dirty="0" err="1">
                <a:effectLst/>
                <a:latin typeface="Arial" panose="020B0604020202020204" pitchFamily="34" charset="0"/>
              </a:rPr>
              <a:t>disambiGuATOR</a:t>
            </a:r>
            <a:r>
              <a:rPr lang="en-US" sz="1800" b="0" i="0" u="none" strike="noStrike" dirty="0">
                <a:effectLst/>
                <a:latin typeface="Arial" panose="020B0604020202020204" pitchFamily="34" charset="0"/>
              </a:rPr>
              <a:t>): a method for predicting acronym sense from neonatal clinical notes.” International journal of medical informatics 137 (2020): 104101</a:t>
            </a:r>
          </a:p>
          <a:p>
            <a:endParaRPr lang="en-US" dirty="0"/>
          </a:p>
        </p:txBody>
      </p:sp>
      <p:sp>
        <p:nvSpPr>
          <p:cNvPr id="9" name="Slide Number Placeholder 8">
            <a:extLst>
              <a:ext uri="{FF2B5EF4-FFF2-40B4-BE49-F238E27FC236}">
                <a16:creationId xmlns:a16="http://schemas.microsoft.com/office/drawing/2014/main" id="{5DEA32F6-6F12-D397-1336-9BE34C9753DA}"/>
              </a:ext>
            </a:extLst>
          </p:cNvPr>
          <p:cNvSpPr>
            <a:spLocks noGrp="1"/>
          </p:cNvSpPr>
          <p:nvPr>
            <p:ph type="sldNum" sz="quarter" idx="12"/>
          </p:nvPr>
        </p:nvSpPr>
        <p:spPr/>
        <p:txBody>
          <a:bodyPr/>
          <a:lstStyle/>
          <a:p>
            <a:fld id="{BDA8D12A-5188-A74B-8183-7E806E12A340}" type="slidenum">
              <a:rPr lang="en-US" smtClean="0"/>
              <a:t>9</a:t>
            </a:fld>
            <a:endParaRPr lang="en-US"/>
          </a:p>
        </p:txBody>
      </p:sp>
    </p:spTree>
    <p:extLst>
      <p:ext uri="{BB962C8B-B14F-4D97-AF65-F5344CB8AC3E}">
        <p14:creationId xmlns:p14="http://schemas.microsoft.com/office/powerpoint/2010/main" val="1492941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681C8-2523-C547-D61B-11E0952DA62A}"/>
              </a:ext>
            </a:extLst>
          </p:cNvPr>
          <p:cNvSpPr>
            <a:spLocks noGrp="1"/>
          </p:cNvSpPr>
          <p:nvPr>
            <p:ph type="title"/>
          </p:nvPr>
        </p:nvSpPr>
        <p:spPr/>
        <p:txBody>
          <a:bodyPr>
            <a:normAutofit/>
          </a:bodyPr>
          <a:lstStyle/>
          <a:p>
            <a:r>
              <a:rPr lang="en-US" dirty="0"/>
              <a:t>Motivation</a:t>
            </a:r>
          </a:p>
        </p:txBody>
      </p:sp>
      <p:sp>
        <p:nvSpPr>
          <p:cNvPr id="4" name="Rounded Rectangle 3">
            <a:extLst>
              <a:ext uri="{FF2B5EF4-FFF2-40B4-BE49-F238E27FC236}">
                <a16:creationId xmlns:a16="http://schemas.microsoft.com/office/drawing/2014/main" id="{4473558C-6F73-44A8-3FEB-2A0D299458BF}"/>
              </a:ext>
            </a:extLst>
          </p:cNvPr>
          <p:cNvSpPr/>
          <p:nvPr/>
        </p:nvSpPr>
        <p:spPr>
          <a:xfrm>
            <a:off x="838200" y="1690689"/>
            <a:ext cx="10848975" cy="2852736"/>
          </a:xfrm>
          <a:prstGeom prst="roundRect">
            <a:avLst/>
          </a:prstGeom>
          <a:solidFill>
            <a:schemeClr val="accent1">
              <a:lumMod val="60000"/>
              <a:lumOff val="40000"/>
            </a:schemeClr>
          </a:solidFill>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r>
              <a:rPr lang="en-US" sz="1800" dirty="0">
                <a:effectLst/>
                <a:latin typeface="Arial" panose="020B0604020202020204" pitchFamily="34" charset="0"/>
              </a:rPr>
              <a:t>History of Present Illness: 75 </a:t>
            </a:r>
            <a:r>
              <a:rPr lang="en-US" sz="1800" dirty="0" err="1">
                <a:solidFill>
                  <a:srgbClr val="C00000"/>
                </a:solidFill>
                <a:effectLst/>
                <a:latin typeface="Arial" panose="020B0604020202020204" pitchFamily="34" charset="0"/>
              </a:rPr>
              <a:t>yo</a:t>
            </a:r>
            <a:r>
              <a:rPr lang="en-US" sz="1800" dirty="0">
                <a:effectLst/>
                <a:latin typeface="Arial" panose="020B0604020202020204" pitchFamily="34" charset="0"/>
              </a:rPr>
              <a:t> male, advanced gastric </a:t>
            </a:r>
            <a:r>
              <a:rPr lang="en-US" sz="1800" dirty="0">
                <a:solidFill>
                  <a:srgbClr val="C00000"/>
                </a:solidFill>
                <a:effectLst/>
                <a:latin typeface="Arial" panose="020B0604020202020204" pitchFamily="34" charset="0"/>
              </a:rPr>
              <a:t>ca</a:t>
            </a:r>
            <a:r>
              <a:rPr lang="en-US" sz="1800" dirty="0">
                <a:latin typeface="Arial" panose="020B0604020202020204" pitchFamily="34" charset="0"/>
              </a:rPr>
              <a:t> </a:t>
            </a:r>
            <a:r>
              <a:rPr lang="en-US" sz="1800" dirty="0">
                <a:effectLst/>
                <a:latin typeface="Arial" panose="020B0604020202020204" pitchFamily="34" charset="0"/>
              </a:rPr>
              <a:t>recently started on chemotherapy presenting and </a:t>
            </a:r>
            <a:r>
              <a:rPr lang="en-US" sz="1800" dirty="0" err="1">
                <a:effectLst/>
                <a:latin typeface="Arial" panose="020B0604020202020204" pitchFamily="34" charset="0"/>
              </a:rPr>
              <a:t>hypotensiona</a:t>
            </a:r>
            <a:r>
              <a:rPr lang="en-US" sz="1800" dirty="0">
                <a:latin typeface="Arial" panose="020B0604020202020204" pitchFamily="34" charset="0"/>
              </a:rPr>
              <a:t> </a:t>
            </a:r>
            <a:r>
              <a:rPr lang="en-US" sz="1800" dirty="0" err="1">
                <a:effectLst/>
                <a:latin typeface="Arial" panose="020B0604020202020204" pitchFamily="34" charset="0"/>
              </a:rPr>
              <a:t>nd</a:t>
            </a:r>
            <a:r>
              <a:rPr lang="en-US" sz="1800" dirty="0">
                <a:effectLst/>
                <a:latin typeface="Arial" panose="020B0604020202020204" pitchFamily="34" charset="0"/>
              </a:rPr>
              <a:t> episode of </a:t>
            </a:r>
            <a:r>
              <a:rPr lang="en-US" sz="1800" dirty="0" err="1">
                <a:effectLst/>
                <a:latin typeface="Arial" panose="020B0604020202020204" pitchFamily="34" charset="0"/>
              </a:rPr>
              <a:t>unresponsivenes</a:t>
            </a:r>
            <a:r>
              <a:rPr lang="en-US" sz="1800" dirty="0">
                <a:effectLst/>
                <a:latin typeface="Arial" panose="020B0604020202020204" pitchFamily="34" charset="0"/>
              </a:rPr>
              <a:t> after diarrhea and narcotics +</a:t>
            </a:r>
            <a:r>
              <a:rPr lang="en-US" sz="1800" dirty="0">
                <a:latin typeface="Arial" panose="020B0604020202020204" pitchFamily="34" charset="0"/>
              </a:rPr>
              <a:t> </a:t>
            </a:r>
            <a:r>
              <a:rPr lang="en-US" sz="1800" dirty="0" err="1">
                <a:effectLst/>
                <a:latin typeface="Arial" panose="020B0604020202020204" pitchFamily="34" charset="0"/>
              </a:rPr>
              <a:t>megace</a:t>
            </a:r>
            <a:r>
              <a:rPr lang="en-US" sz="1800" dirty="0">
                <a:effectLst/>
                <a:latin typeface="Arial" panose="020B0604020202020204" pitchFamily="34" charset="0"/>
              </a:rPr>
              <a:t>. </a:t>
            </a:r>
            <a:r>
              <a:rPr lang="en-US" sz="1800" dirty="0">
                <a:solidFill>
                  <a:srgbClr val="C00000"/>
                </a:solidFill>
                <a:effectLst/>
                <a:latin typeface="Arial" panose="020B0604020202020204" pitchFamily="34" charset="0"/>
              </a:rPr>
              <a:t>Pt</a:t>
            </a:r>
            <a:r>
              <a:rPr lang="en-US" sz="1800" dirty="0">
                <a:effectLst/>
                <a:latin typeface="Arial" panose="020B0604020202020204" pitchFamily="34" charset="0"/>
              </a:rPr>
              <a:t> was seen on [**] by his oncologist where he was</a:t>
            </a:r>
            <a:r>
              <a:rPr lang="en-US" sz="1800" dirty="0">
                <a:latin typeface="Arial" panose="020B0604020202020204" pitchFamily="34" charset="0"/>
              </a:rPr>
              <a:t> </a:t>
            </a:r>
            <a:r>
              <a:rPr lang="en-US" sz="1800" dirty="0">
                <a:effectLst/>
                <a:latin typeface="Arial" panose="020B0604020202020204" pitchFamily="34" charset="0"/>
              </a:rPr>
              <a:t>determine to be hypovolemic and received a total of  3   </a:t>
            </a:r>
            <a:r>
              <a:rPr lang="en-US" sz="1800" dirty="0">
                <a:solidFill>
                  <a:srgbClr val="C00000"/>
                </a:solidFill>
                <a:effectLst/>
                <a:latin typeface="Arial" panose="020B0604020202020204" pitchFamily="34" charset="0"/>
              </a:rPr>
              <a:t>IVF</a:t>
            </a:r>
            <a:r>
              <a:rPr lang="en-US" sz="1800" dirty="0">
                <a:latin typeface="Arial" panose="020B0604020202020204" pitchFamily="34" charset="0"/>
              </a:rPr>
              <a:t> </a:t>
            </a:r>
            <a:r>
              <a:rPr lang="en-US" sz="1800" dirty="0">
                <a:effectLst/>
                <a:latin typeface="Arial" panose="020B0604020202020204" pitchFamily="34" charset="0"/>
              </a:rPr>
              <a:t>between </a:t>
            </a:r>
            <a:r>
              <a:rPr lang="en-US" sz="1800" dirty="0">
                <a:solidFill>
                  <a:srgbClr val="C00000"/>
                </a:solidFill>
                <a:effectLst/>
                <a:latin typeface="Arial" panose="020B0604020202020204" pitchFamily="34" charset="0"/>
              </a:rPr>
              <a:t>We</a:t>
            </a:r>
            <a:r>
              <a:rPr lang="en-US" sz="1800" dirty="0">
                <a:effectLst/>
                <a:latin typeface="Arial" panose="020B0604020202020204" pitchFamily="34" charset="0"/>
              </a:rPr>
              <a:t> and </a:t>
            </a:r>
            <a:r>
              <a:rPr lang="en-US" sz="1800" dirty="0">
                <a:solidFill>
                  <a:srgbClr val="C00000"/>
                </a:solidFill>
                <a:effectLst/>
                <a:latin typeface="Arial" panose="020B0604020202020204" pitchFamily="34" charset="0"/>
              </a:rPr>
              <a:t>Fri</a:t>
            </a:r>
            <a:r>
              <a:rPr lang="en-US" sz="1800" dirty="0">
                <a:effectLst/>
                <a:latin typeface="Arial" panose="020B0604020202020204" pitchFamily="34" charset="0"/>
              </a:rPr>
              <a:t> but still </a:t>
            </a:r>
            <a:r>
              <a:rPr lang="en-US" sz="1800" dirty="0">
                <a:solidFill>
                  <a:srgbClr val="C00000"/>
                </a:solidFill>
                <a:effectLst/>
                <a:latin typeface="Arial" panose="020B0604020202020204" pitchFamily="34" charset="0"/>
              </a:rPr>
              <a:t>c/o</a:t>
            </a:r>
            <a:r>
              <a:rPr lang="en-US" sz="1800" dirty="0">
                <a:effectLst/>
                <a:latin typeface="Arial" panose="020B0604020202020204" pitchFamily="34" charset="0"/>
              </a:rPr>
              <a:t> poor </a:t>
            </a:r>
            <a:r>
              <a:rPr lang="en-US" sz="1800" dirty="0">
                <a:solidFill>
                  <a:srgbClr val="C00000"/>
                </a:solidFill>
                <a:effectLst/>
                <a:latin typeface="Arial" panose="020B0604020202020204" pitchFamily="34" charset="0"/>
              </a:rPr>
              <a:t>po</a:t>
            </a:r>
            <a:r>
              <a:rPr lang="en-US" sz="1800" dirty="0">
                <a:effectLst/>
                <a:latin typeface="Arial" panose="020B0604020202020204" pitchFamily="34" charset="0"/>
              </a:rPr>
              <a:t> intake secondary to</a:t>
            </a:r>
            <a:r>
              <a:rPr lang="en-US" sz="1800" dirty="0">
                <a:latin typeface="Arial" panose="020B0604020202020204" pitchFamily="34" charset="0"/>
              </a:rPr>
              <a:t> </a:t>
            </a:r>
            <a:r>
              <a:rPr lang="en-US" sz="1800" dirty="0">
                <a:effectLst/>
                <a:latin typeface="Arial" panose="020B0604020202020204" pitchFamily="34" charset="0"/>
              </a:rPr>
              <a:t>abdominal pain and fullness, nausea, and decreased appetite.</a:t>
            </a:r>
            <a:r>
              <a:rPr lang="en-US" sz="1800" dirty="0">
                <a:latin typeface="Arial" panose="020B0604020202020204" pitchFamily="34" charset="0"/>
              </a:rPr>
              <a:t> </a:t>
            </a:r>
            <a:r>
              <a:rPr lang="en-US" sz="1800" dirty="0">
                <a:effectLst/>
                <a:latin typeface="Arial" panose="020B0604020202020204" pitchFamily="34" charset="0"/>
              </a:rPr>
              <a:t>This morning upon awakening </a:t>
            </a:r>
            <a:r>
              <a:rPr lang="en-US" sz="1800" dirty="0" err="1">
                <a:solidFill>
                  <a:srgbClr val="C00000"/>
                </a:solidFill>
                <a:effectLst/>
                <a:latin typeface="Arial" panose="020B0604020202020204" pitchFamily="34" charset="0"/>
              </a:rPr>
              <a:t>pt</a:t>
            </a:r>
            <a:r>
              <a:rPr lang="en-US" sz="1800" dirty="0">
                <a:effectLst/>
                <a:latin typeface="Arial" panose="020B0604020202020204" pitchFamily="34" charset="0"/>
              </a:rPr>
              <a:t> was lethargic. He took</a:t>
            </a:r>
            <a:r>
              <a:rPr lang="en-US" sz="1800" dirty="0">
                <a:latin typeface="Arial" panose="020B0604020202020204" pitchFamily="34" charset="0"/>
              </a:rPr>
              <a:t> </a:t>
            </a:r>
            <a:r>
              <a:rPr lang="en-US" sz="1800" dirty="0">
                <a:solidFill>
                  <a:srgbClr val="C00000"/>
                </a:solidFill>
                <a:effectLst/>
                <a:latin typeface="Arial" panose="020B0604020202020204" pitchFamily="34" charset="0"/>
              </a:rPr>
              <a:t>MSO4</a:t>
            </a:r>
            <a:r>
              <a:rPr lang="en-US" sz="1800" dirty="0">
                <a:effectLst/>
                <a:latin typeface="Arial" panose="020B0604020202020204" pitchFamily="34" charset="0"/>
              </a:rPr>
              <a:t>, </a:t>
            </a:r>
            <a:r>
              <a:rPr lang="en-US" sz="1800" dirty="0" err="1">
                <a:effectLst/>
                <a:latin typeface="Arial" panose="020B0604020202020204" pitchFamily="34" charset="0"/>
              </a:rPr>
              <a:t>Dilaudid</a:t>
            </a:r>
            <a:r>
              <a:rPr lang="en-US" sz="1800" dirty="0">
                <a:effectLst/>
                <a:latin typeface="Arial" panose="020B0604020202020204" pitchFamily="34" charset="0"/>
              </a:rPr>
              <a:t> and an unspecified dose of </a:t>
            </a:r>
            <a:r>
              <a:rPr lang="en-US" sz="1800" dirty="0" err="1">
                <a:effectLst/>
                <a:latin typeface="Arial" panose="020B0604020202020204" pitchFamily="34" charset="0"/>
              </a:rPr>
              <a:t>Megace</a:t>
            </a:r>
            <a:r>
              <a:rPr lang="en-US" sz="1800" dirty="0">
                <a:effectLst/>
                <a:latin typeface="Arial" panose="020B0604020202020204" pitchFamily="34" charset="0"/>
              </a:rPr>
              <a:t>. He then</a:t>
            </a:r>
            <a:r>
              <a:rPr lang="en-US" sz="1800" dirty="0">
                <a:latin typeface="Arial" panose="020B0604020202020204" pitchFamily="34" charset="0"/>
              </a:rPr>
              <a:t> </a:t>
            </a:r>
            <a:r>
              <a:rPr lang="en-US" sz="1800" dirty="0">
                <a:effectLst/>
                <a:latin typeface="Arial" panose="020B0604020202020204" pitchFamily="34" charset="0"/>
              </a:rPr>
              <a:t>became flushed and pale, had copious diarrhea (non-bloody),</a:t>
            </a:r>
            <a:r>
              <a:rPr lang="en-US" sz="1800" dirty="0">
                <a:latin typeface="Arial" panose="020B0604020202020204" pitchFamily="34" charset="0"/>
              </a:rPr>
              <a:t> </a:t>
            </a:r>
            <a:r>
              <a:rPr lang="en-US" sz="1800" dirty="0">
                <a:effectLst/>
                <a:latin typeface="Arial" panose="020B0604020202020204" pitchFamily="34" charset="0"/>
              </a:rPr>
              <a:t>then became unresponsive. </a:t>
            </a:r>
            <a:r>
              <a:rPr lang="en-US" sz="1800" dirty="0">
                <a:solidFill>
                  <a:srgbClr val="C00000"/>
                </a:solidFill>
                <a:effectLst/>
                <a:latin typeface="Arial" panose="020B0604020202020204" pitchFamily="34" charset="0"/>
              </a:rPr>
              <a:t>EMS</a:t>
            </a:r>
            <a:r>
              <a:rPr lang="en-US" sz="1800" dirty="0">
                <a:effectLst/>
                <a:latin typeface="Arial" panose="020B0604020202020204" pitchFamily="34" charset="0"/>
              </a:rPr>
              <a:t> called and he was found </a:t>
            </a:r>
            <a:r>
              <a:rPr lang="en-US" sz="1800" dirty="0" err="1">
                <a:effectLst/>
                <a:latin typeface="Arial" panose="020B0604020202020204" pitchFamily="34" charset="0"/>
              </a:rPr>
              <a:t>with</a:t>
            </a:r>
            <a:r>
              <a:rPr lang="en-US" sz="1800" dirty="0" err="1">
                <a:solidFill>
                  <a:srgbClr val="C00000"/>
                </a:solidFill>
                <a:effectLst/>
                <a:latin typeface="Arial" panose="020B0604020202020204" pitchFamily="34" charset="0"/>
              </a:rPr>
              <a:t>SBP</a:t>
            </a:r>
            <a:r>
              <a:rPr lang="en-US" sz="1800" dirty="0">
                <a:effectLst/>
                <a:latin typeface="Arial" panose="020B0604020202020204" pitchFamily="34" charset="0"/>
              </a:rPr>
              <a:t> 80. Narcan  given with improvement in mental status but</a:t>
            </a:r>
            <a:r>
              <a:rPr lang="en-US" sz="1800" dirty="0">
                <a:latin typeface="Arial" panose="020B0604020202020204" pitchFamily="34" charset="0"/>
              </a:rPr>
              <a:t> </a:t>
            </a:r>
            <a:r>
              <a:rPr lang="en-US" sz="1800" dirty="0">
                <a:effectLst/>
                <a:latin typeface="Arial" panose="020B0604020202020204" pitchFamily="34" charset="0"/>
              </a:rPr>
              <a:t>in [**] </a:t>
            </a:r>
            <a:r>
              <a:rPr lang="en-US" sz="1800" dirty="0" err="1">
                <a:solidFill>
                  <a:srgbClr val="C00000"/>
                </a:solidFill>
                <a:effectLst/>
                <a:latin typeface="Arial" panose="020B0604020202020204" pitchFamily="34" charset="0"/>
              </a:rPr>
              <a:t>pt</a:t>
            </a:r>
            <a:r>
              <a:rPr lang="en-US" sz="1800" dirty="0">
                <a:effectLst/>
                <a:latin typeface="Arial" panose="020B0604020202020204" pitchFamily="34" charset="0"/>
              </a:rPr>
              <a:t> was persistently hypotensive requiring 6 </a:t>
            </a:r>
            <a:r>
              <a:rPr lang="en-US" sz="1800" dirty="0">
                <a:solidFill>
                  <a:srgbClr val="C00000"/>
                </a:solidFill>
                <a:effectLst/>
                <a:latin typeface="Arial" panose="020B0604020202020204" pitchFamily="34" charset="0"/>
              </a:rPr>
              <a:t>IVF</a:t>
            </a:r>
            <a:r>
              <a:rPr lang="en-US" sz="1800" dirty="0">
                <a:effectLst/>
                <a:latin typeface="Arial" panose="020B0604020202020204" pitchFamily="34" charset="0"/>
              </a:rPr>
              <a:t> and</a:t>
            </a:r>
            <a:r>
              <a:rPr lang="en-US" sz="1800" dirty="0">
                <a:latin typeface="Arial" panose="020B0604020202020204" pitchFamily="34" charset="0"/>
              </a:rPr>
              <a:t> </a:t>
            </a:r>
            <a:r>
              <a:rPr lang="en-US" sz="1800" dirty="0" err="1">
                <a:effectLst/>
                <a:latin typeface="Arial" panose="020B0604020202020204" pitchFamily="34" charset="0"/>
              </a:rPr>
              <a:t>Levophed</a:t>
            </a:r>
            <a:r>
              <a:rPr lang="en-US" sz="1800" dirty="0">
                <a:effectLst/>
                <a:latin typeface="Arial" panose="020B0604020202020204" pitchFamily="34" charset="0"/>
              </a:rPr>
              <a:t>. Labs notable for </a:t>
            </a:r>
            <a:r>
              <a:rPr lang="en-US" sz="1800" dirty="0">
                <a:solidFill>
                  <a:srgbClr val="C00000"/>
                </a:solidFill>
                <a:effectLst/>
                <a:latin typeface="Arial" panose="020B0604020202020204" pitchFamily="34" charset="0"/>
              </a:rPr>
              <a:t>ANC</a:t>
            </a:r>
            <a:r>
              <a:rPr lang="en-US" sz="1800" dirty="0">
                <a:effectLst/>
                <a:latin typeface="Arial" panose="020B0604020202020204" pitchFamily="34" charset="0"/>
              </a:rPr>
              <a:t> 500 and lactate 17. Sep-sis protocol was initiated. </a:t>
            </a:r>
            <a:r>
              <a:rPr lang="en-US" sz="1800" dirty="0">
                <a:solidFill>
                  <a:srgbClr val="C00000"/>
                </a:solidFill>
                <a:effectLst/>
                <a:latin typeface="Arial" panose="020B0604020202020204" pitchFamily="34" charset="0"/>
              </a:rPr>
              <a:t>Pt</a:t>
            </a:r>
            <a:r>
              <a:rPr lang="en-US" sz="1800" dirty="0">
                <a:effectLst/>
                <a:latin typeface="Arial" panose="020B0604020202020204" pitchFamily="34" charset="0"/>
              </a:rPr>
              <a:t> given Flagyl, Levofloxacin, and</a:t>
            </a:r>
            <a:r>
              <a:rPr lang="en-US" sz="1800" dirty="0">
                <a:latin typeface="Arial" panose="020B0604020202020204" pitchFamily="34" charset="0"/>
              </a:rPr>
              <a:t> </a:t>
            </a:r>
            <a:r>
              <a:rPr lang="en-US" sz="1800" dirty="0">
                <a:effectLst/>
                <a:latin typeface="Arial" panose="020B0604020202020204" pitchFamily="34" charset="0"/>
              </a:rPr>
              <a:t>cefepime and sent to [**].</a:t>
            </a:r>
            <a:endParaRPr lang="en-US" sz="1800" dirty="0"/>
          </a:p>
        </p:txBody>
      </p:sp>
      <p:sp>
        <p:nvSpPr>
          <p:cNvPr id="32" name="Rounded Rectangle 31">
            <a:extLst>
              <a:ext uri="{FF2B5EF4-FFF2-40B4-BE49-F238E27FC236}">
                <a16:creationId xmlns:a16="http://schemas.microsoft.com/office/drawing/2014/main" id="{D38B5428-8C14-06CF-63BC-7698AC9F6E87}"/>
              </a:ext>
            </a:extLst>
          </p:cNvPr>
          <p:cNvSpPr/>
          <p:nvPr/>
        </p:nvSpPr>
        <p:spPr>
          <a:xfrm>
            <a:off x="6581107" y="1614910"/>
            <a:ext cx="592837" cy="151558"/>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cancer</a:t>
            </a:r>
          </a:p>
        </p:txBody>
      </p:sp>
      <p:sp>
        <p:nvSpPr>
          <p:cNvPr id="33" name="Rounded Rectangle 32">
            <a:extLst>
              <a:ext uri="{FF2B5EF4-FFF2-40B4-BE49-F238E27FC236}">
                <a16:creationId xmlns:a16="http://schemas.microsoft.com/office/drawing/2014/main" id="{E167497A-B28C-EB86-6EE7-2646B748116E}"/>
              </a:ext>
            </a:extLst>
          </p:cNvPr>
          <p:cNvSpPr/>
          <p:nvPr/>
        </p:nvSpPr>
        <p:spPr>
          <a:xfrm>
            <a:off x="3933965" y="1631508"/>
            <a:ext cx="766482" cy="151558"/>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Year old</a:t>
            </a:r>
          </a:p>
        </p:txBody>
      </p:sp>
      <p:sp>
        <p:nvSpPr>
          <p:cNvPr id="34" name="Rounded Rectangle 33">
            <a:extLst>
              <a:ext uri="{FF2B5EF4-FFF2-40B4-BE49-F238E27FC236}">
                <a16:creationId xmlns:a16="http://schemas.microsoft.com/office/drawing/2014/main" id="{DA485A29-B7FD-9DF1-17C4-6F570DF2CEAB}"/>
              </a:ext>
            </a:extLst>
          </p:cNvPr>
          <p:cNvSpPr/>
          <p:nvPr/>
        </p:nvSpPr>
        <p:spPr>
          <a:xfrm>
            <a:off x="838200" y="2170402"/>
            <a:ext cx="766482" cy="151558"/>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Patient</a:t>
            </a:r>
          </a:p>
        </p:txBody>
      </p:sp>
      <p:sp>
        <p:nvSpPr>
          <p:cNvPr id="35" name="Rounded Rectangle 34">
            <a:extLst>
              <a:ext uri="{FF2B5EF4-FFF2-40B4-BE49-F238E27FC236}">
                <a16:creationId xmlns:a16="http://schemas.microsoft.com/office/drawing/2014/main" id="{EBE31898-85F8-958D-9D1F-150402461452}"/>
              </a:ext>
            </a:extLst>
          </p:cNvPr>
          <p:cNvSpPr/>
          <p:nvPr/>
        </p:nvSpPr>
        <p:spPr>
          <a:xfrm>
            <a:off x="1454547" y="2408638"/>
            <a:ext cx="1269972" cy="151558"/>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Intravenous Fluids</a:t>
            </a:r>
          </a:p>
        </p:txBody>
      </p:sp>
      <p:sp>
        <p:nvSpPr>
          <p:cNvPr id="36" name="Rounded Rectangle 35">
            <a:extLst>
              <a:ext uri="{FF2B5EF4-FFF2-40B4-BE49-F238E27FC236}">
                <a16:creationId xmlns:a16="http://schemas.microsoft.com/office/drawing/2014/main" id="{041903F4-647C-FC0D-8210-EE8B8F1AAECE}"/>
              </a:ext>
            </a:extLst>
          </p:cNvPr>
          <p:cNvSpPr/>
          <p:nvPr/>
        </p:nvSpPr>
        <p:spPr>
          <a:xfrm>
            <a:off x="2771174" y="2462493"/>
            <a:ext cx="904397" cy="159059"/>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Wednesday</a:t>
            </a:r>
          </a:p>
        </p:txBody>
      </p:sp>
      <p:sp>
        <p:nvSpPr>
          <p:cNvPr id="37" name="Rounded Rectangle 36">
            <a:extLst>
              <a:ext uri="{FF2B5EF4-FFF2-40B4-BE49-F238E27FC236}">
                <a16:creationId xmlns:a16="http://schemas.microsoft.com/office/drawing/2014/main" id="{B067667F-9982-4498-6C29-E2C749A82316}"/>
              </a:ext>
            </a:extLst>
          </p:cNvPr>
          <p:cNvSpPr/>
          <p:nvPr/>
        </p:nvSpPr>
        <p:spPr>
          <a:xfrm>
            <a:off x="3750470" y="2470429"/>
            <a:ext cx="585138" cy="159059"/>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Friday</a:t>
            </a:r>
          </a:p>
        </p:txBody>
      </p:sp>
      <p:sp>
        <p:nvSpPr>
          <p:cNvPr id="38" name="Rounded Rectangle 37">
            <a:extLst>
              <a:ext uri="{FF2B5EF4-FFF2-40B4-BE49-F238E27FC236}">
                <a16:creationId xmlns:a16="http://schemas.microsoft.com/office/drawing/2014/main" id="{D18797CA-7D2C-07BE-674E-AA468CC0626A}"/>
              </a:ext>
            </a:extLst>
          </p:cNvPr>
          <p:cNvSpPr/>
          <p:nvPr/>
        </p:nvSpPr>
        <p:spPr>
          <a:xfrm>
            <a:off x="4638828" y="2468502"/>
            <a:ext cx="994265" cy="159059"/>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Complains of</a:t>
            </a:r>
          </a:p>
        </p:txBody>
      </p:sp>
      <p:sp>
        <p:nvSpPr>
          <p:cNvPr id="39" name="Rounded Rectangle 38">
            <a:extLst>
              <a:ext uri="{FF2B5EF4-FFF2-40B4-BE49-F238E27FC236}">
                <a16:creationId xmlns:a16="http://schemas.microsoft.com/office/drawing/2014/main" id="{CD476329-EFC7-4535-EB04-E37C3CE9C399}"/>
              </a:ext>
            </a:extLst>
          </p:cNvPr>
          <p:cNvSpPr/>
          <p:nvPr/>
        </p:nvSpPr>
        <p:spPr>
          <a:xfrm>
            <a:off x="5679748" y="2467974"/>
            <a:ext cx="1286169" cy="159059"/>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Per </a:t>
            </a:r>
            <a:r>
              <a:rPr lang="en-US" sz="1100" dirty="0" err="1">
                <a:solidFill>
                  <a:schemeClr val="tx1"/>
                </a:solidFill>
              </a:rPr>
              <a:t>os</a:t>
            </a:r>
            <a:r>
              <a:rPr lang="en-US" sz="1100" dirty="0">
                <a:solidFill>
                  <a:schemeClr val="tx1"/>
                </a:solidFill>
              </a:rPr>
              <a:t> or by mouth</a:t>
            </a:r>
          </a:p>
        </p:txBody>
      </p:sp>
      <p:sp>
        <p:nvSpPr>
          <p:cNvPr id="40" name="Rounded Rectangle 39">
            <a:extLst>
              <a:ext uri="{FF2B5EF4-FFF2-40B4-BE49-F238E27FC236}">
                <a16:creationId xmlns:a16="http://schemas.microsoft.com/office/drawing/2014/main" id="{7F547DA2-1AE1-72A2-1DB2-A2B29B6F194C}"/>
              </a:ext>
            </a:extLst>
          </p:cNvPr>
          <p:cNvSpPr/>
          <p:nvPr/>
        </p:nvSpPr>
        <p:spPr>
          <a:xfrm>
            <a:off x="7276881" y="2756605"/>
            <a:ext cx="766482" cy="151558"/>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Patient</a:t>
            </a:r>
          </a:p>
        </p:txBody>
      </p:sp>
      <p:sp>
        <p:nvSpPr>
          <p:cNvPr id="41" name="Rounded Rectangle 40">
            <a:extLst>
              <a:ext uri="{FF2B5EF4-FFF2-40B4-BE49-F238E27FC236}">
                <a16:creationId xmlns:a16="http://schemas.microsoft.com/office/drawing/2014/main" id="{DFB841C5-FF9B-AA86-429C-50A8DFE9FAD6}"/>
              </a:ext>
            </a:extLst>
          </p:cNvPr>
          <p:cNvSpPr/>
          <p:nvPr/>
        </p:nvSpPr>
        <p:spPr>
          <a:xfrm>
            <a:off x="10052981" y="2720914"/>
            <a:ext cx="766482" cy="151558"/>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Morphine</a:t>
            </a:r>
          </a:p>
        </p:txBody>
      </p:sp>
      <p:sp>
        <p:nvSpPr>
          <p:cNvPr id="42" name="Rounded Rectangle 41">
            <a:extLst>
              <a:ext uri="{FF2B5EF4-FFF2-40B4-BE49-F238E27FC236}">
                <a16:creationId xmlns:a16="http://schemas.microsoft.com/office/drawing/2014/main" id="{BE751B80-F83A-61D2-6FC4-3F47A4DD776D}"/>
              </a:ext>
            </a:extLst>
          </p:cNvPr>
          <p:cNvSpPr/>
          <p:nvPr/>
        </p:nvSpPr>
        <p:spPr>
          <a:xfrm>
            <a:off x="4735292" y="3269942"/>
            <a:ext cx="1795601" cy="159058"/>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Emergency Medical Service</a:t>
            </a:r>
          </a:p>
        </p:txBody>
      </p:sp>
      <p:sp>
        <p:nvSpPr>
          <p:cNvPr id="43" name="Rounded Rectangle 42">
            <a:extLst>
              <a:ext uri="{FF2B5EF4-FFF2-40B4-BE49-F238E27FC236}">
                <a16:creationId xmlns:a16="http://schemas.microsoft.com/office/drawing/2014/main" id="{69D501D0-17FF-7E08-F1EA-A693163583E7}"/>
              </a:ext>
            </a:extLst>
          </p:cNvPr>
          <p:cNvSpPr/>
          <p:nvPr/>
        </p:nvSpPr>
        <p:spPr>
          <a:xfrm>
            <a:off x="8043363" y="3266457"/>
            <a:ext cx="2165497" cy="151557"/>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Systolic Blood Pressure</a:t>
            </a:r>
          </a:p>
        </p:txBody>
      </p:sp>
      <p:sp>
        <p:nvSpPr>
          <p:cNvPr id="44" name="Rounded Rectangle 43">
            <a:extLst>
              <a:ext uri="{FF2B5EF4-FFF2-40B4-BE49-F238E27FC236}">
                <a16:creationId xmlns:a16="http://schemas.microsoft.com/office/drawing/2014/main" id="{091F4A93-8C0F-A38D-BE41-B076A1087C50}"/>
              </a:ext>
            </a:extLst>
          </p:cNvPr>
          <p:cNvSpPr/>
          <p:nvPr/>
        </p:nvSpPr>
        <p:spPr>
          <a:xfrm>
            <a:off x="5296507" y="3636699"/>
            <a:ext cx="766482" cy="151558"/>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Patient</a:t>
            </a:r>
          </a:p>
        </p:txBody>
      </p:sp>
      <p:sp>
        <p:nvSpPr>
          <p:cNvPr id="45" name="Rounded Rectangle 44">
            <a:extLst>
              <a:ext uri="{FF2B5EF4-FFF2-40B4-BE49-F238E27FC236}">
                <a16:creationId xmlns:a16="http://schemas.microsoft.com/office/drawing/2014/main" id="{EC853942-E1D1-3C0A-3AED-24B6290ABCB0}"/>
              </a:ext>
            </a:extLst>
          </p:cNvPr>
          <p:cNvSpPr/>
          <p:nvPr/>
        </p:nvSpPr>
        <p:spPr>
          <a:xfrm>
            <a:off x="9544988" y="3556390"/>
            <a:ext cx="1269972" cy="151558"/>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Intravenous Fluids</a:t>
            </a:r>
          </a:p>
        </p:txBody>
      </p:sp>
      <p:sp>
        <p:nvSpPr>
          <p:cNvPr id="46" name="Rounded Rectangle 45">
            <a:extLst>
              <a:ext uri="{FF2B5EF4-FFF2-40B4-BE49-F238E27FC236}">
                <a16:creationId xmlns:a16="http://schemas.microsoft.com/office/drawing/2014/main" id="{45758DF8-4DAA-A2EB-5EBD-A08C524AD579}"/>
              </a:ext>
            </a:extLst>
          </p:cNvPr>
          <p:cNvSpPr/>
          <p:nvPr/>
        </p:nvSpPr>
        <p:spPr>
          <a:xfrm>
            <a:off x="3340359" y="3820194"/>
            <a:ext cx="1795601" cy="166018"/>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Absolute Neutrophil Count</a:t>
            </a:r>
          </a:p>
        </p:txBody>
      </p:sp>
      <p:sp>
        <p:nvSpPr>
          <p:cNvPr id="47" name="Rounded Rectangle 46">
            <a:extLst>
              <a:ext uri="{FF2B5EF4-FFF2-40B4-BE49-F238E27FC236}">
                <a16:creationId xmlns:a16="http://schemas.microsoft.com/office/drawing/2014/main" id="{91D19FB5-96EE-88A1-8F18-2B5B0773A857}"/>
              </a:ext>
            </a:extLst>
          </p:cNvPr>
          <p:cNvSpPr/>
          <p:nvPr/>
        </p:nvSpPr>
        <p:spPr>
          <a:xfrm>
            <a:off x="9161747" y="3820194"/>
            <a:ext cx="766482" cy="151558"/>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Patient</a:t>
            </a:r>
          </a:p>
        </p:txBody>
      </p:sp>
      <p:sp>
        <p:nvSpPr>
          <p:cNvPr id="3" name="Rounded Rectangle 2">
            <a:extLst>
              <a:ext uri="{FF2B5EF4-FFF2-40B4-BE49-F238E27FC236}">
                <a16:creationId xmlns:a16="http://schemas.microsoft.com/office/drawing/2014/main" id="{EDF09446-A804-F06F-1416-5DBB07556B53}"/>
              </a:ext>
            </a:extLst>
          </p:cNvPr>
          <p:cNvSpPr/>
          <p:nvPr/>
        </p:nvSpPr>
        <p:spPr>
          <a:xfrm>
            <a:off x="2319480" y="4811712"/>
            <a:ext cx="7608749" cy="1681163"/>
          </a:xfrm>
          <a:prstGeom prst="roundRect">
            <a:avLst/>
          </a:prstGeom>
          <a:solidFill>
            <a:schemeClr val="accent2"/>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21</a:t>
            </a:r>
            <a:r>
              <a:rPr lang="en-US" b="1" baseline="30000" dirty="0"/>
              <a:t>st</a:t>
            </a:r>
            <a:r>
              <a:rPr lang="en-US" b="1" dirty="0"/>
              <a:t> Century Cures Act</a:t>
            </a:r>
            <a:endParaRPr lang="en-US" dirty="0"/>
          </a:p>
          <a:p>
            <a:pPr marL="342900" indent="-342900">
              <a:buFont typeface="+mj-lt"/>
              <a:buAutoNum type="arabicPeriod"/>
            </a:pPr>
            <a:r>
              <a:rPr lang="en-US" dirty="0"/>
              <a:t>Help patients better understand their medical conditions, treatment plans</a:t>
            </a:r>
          </a:p>
          <a:p>
            <a:pPr marL="342900" indent="-342900">
              <a:buFont typeface="+mj-lt"/>
              <a:buAutoNum type="arabicPeriod"/>
            </a:pPr>
            <a:r>
              <a:rPr lang="en-US" dirty="0"/>
              <a:t>Better equipped to participate in shared-decision making</a:t>
            </a:r>
          </a:p>
          <a:p>
            <a:pPr marL="342900" indent="-342900">
              <a:buFont typeface="+mj-lt"/>
              <a:buAutoNum type="arabicPeriod"/>
            </a:pPr>
            <a:r>
              <a:rPr lang="en-US" dirty="0"/>
              <a:t>Increased engagement and trust</a:t>
            </a:r>
          </a:p>
        </p:txBody>
      </p:sp>
      <p:sp>
        <p:nvSpPr>
          <p:cNvPr id="10" name="Slide Number Placeholder 9">
            <a:extLst>
              <a:ext uri="{FF2B5EF4-FFF2-40B4-BE49-F238E27FC236}">
                <a16:creationId xmlns:a16="http://schemas.microsoft.com/office/drawing/2014/main" id="{7002353F-80BE-42B0-E5DC-DFB1A27F955F}"/>
              </a:ext>
            </a:extLst>
          </p:cNvPr>
          <p:cNvSpPr>
            <a:spLocks noGrp="1"/>
          </p:cNvSpPr>
          <p:nvPr>
            <p:ph type="sldNum" sz="quarter" idx="12"/>
          </p:nvPr>
        </p:nvSpPr>
        <p:spPr/>
        <p:txBody>
          <a:bodyPr/>
          <a:lstStyle/>
          <a:p>
            <a:fld id="{BDA8D12A-5188-A74B-8183-7E806E12A340}" type="slidenum">
              <a:rPr lang="en-US" smtClean="0"/>
              <a:t>10</a:t>
            </a:fld>
            <a:endParaRPr lang="en-US"/>
          </a:p>
        </p:txBody>
      </p:sp>
    </p:spTree>
    <p:extLst>
      <p:ext uri="{BB962C8B-B14F-4D97-AF65-F5344CB8AC3E}">
        <p14:creationId xmlns:p14="http://schemas.microsoft.com/office/powerpoint/2010/main" val="2719630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0FBE7-3D4C-ED8B-A31C-89B9CCF0711D}"/>
              </a:ext>
            </a:extLst>
          </p:cNvPr>
          <p:cNvSpPr>
            <a:spLocks noGrp="1"/>
          </p:cNvSpPr>
          <p:nvPr>
            <p:ph type="title"/>
          </p:nvPr>
        </p:nvSpPr>
        <p:spPr/>
        <p:txBody>
          <a:bodyPr/>
          <a:lstStyle/>
          <a:p>
            <a:r>
              <a:rPr lang="en-US" dirty="0"/>
              <a:t>What makes this problem hard?</a:t>
            </a:r>
          </a:p>
        </p:txBody>
      </p:sp>
      <p:sp>
        <p:nvSpPr>
          <p:cNvPr id="24" name="Rounded Rectangle 23">
            <a:extLst>
              <a:ext uri="{FF2B5EF4-FFF2-40B4-BE49-F238E27FC236}">
                <a16:creationId xmlns:a16="http://schemas.microsoft.com/office/drawing/2014/main" id="{82551405-4F14-42FF-5EED-0C3279CBEADA}"/>
              </a:ext>
            </a:extLst>
          </p:cNvPr>
          <p:cNvSpPr/>
          <p:nvPr/>
        </p:nvSpPr>
        <p:spPr>
          <a:xfrm>
            <a:off x="8882990" y="3522818"/>
            <a:ext cx="850375" cy="399118"/>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HD</a:t>
            </a:r>
          </a:p>
        </p:txBody>
      </p:sp>
      <p:sp>
        <p:nvSpPr>
          <p:cNvPr id="25" name="Rounded Rectangle 24">
            <a:extLst>
              <a:ext uri="{FF2B5EF4-FFF2-40B4-BE49-F238E27FC236}">
                <a16:creationId xmlns:a16="http://schemas.microsoft.com/office/drawing/2014/main" id="{FA89E2FF-C4CE-C703-5B47-E6A80495A4ED}"/>
              </a:ext>
            </a:extLst>
          </p:cNvPr>
          <p:cNvSpPr/>
          <p:nvPr/>
        </p:nvSpPr>
        <p:spPr>
          <a:xfrm>
            <a:off x="7379362" y="3522818"/>
            <a:ext cx="1339096" cy="2663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hyperkinetic disorder</a:t>
            </a:r>
          </a:p>
        </p:txBody>
      </p:sp>
      <p:sp>
        <p:nvSpPr>
          <p:cNvPr id="26" name="Rounded Rectangle 25">
            <a:extLst>
              <a:ext uri="{FF2B5EF4-FFF2-40B4-BE49-F238E27FC236}">
                <a16:creationId xmlns:a16="http://schemas.microsoft.com/office/drawing/2014/main" id="{5BFB803A-F7BA-C1CF-22BD-89A5C33CEAC9}"/>
              </a:ext>
            </a:extLst>
          </p:cNvPr>
          <p:cNvSpPr/>
          <p:nvPr/>
        </p:nvSpPr>
        <p:spPr>
          <a:xfrm>
            <a:off x="7316423" y="3919298"/>
            <a:ext cx="1339096" cy="26630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hyperactivity disorder</a:t>
            </a:r>
          </a:p>
        </p:txBody>
      </p:sp>
      <p:sp>
        <p:nvSpPr>
          <p:cNvPr id="27" name="Rounded Rectangle 26">
            <a:extLst>
              <a:ext uri="{FF2B5EF4-FFF2-40B4-BE49-F238E27FC236}">
                <a16:creationId xmlns:a16="http://schemas.microsoft.com/office/drawing/2014/main" id="{E160DA9B-68F5-AC5E-7F85-ED445476EFF7}"/>
              </a:ext>
            </a:extLst>
          </p:cNvPr>
          <p:cNvSpPr/>
          <p:nvPr/>
        </p:nvSpPr>
        <p:spPr>
          <a:xfrm>
            <a:off x="8919241" y="4761428"/>
            <a:ext cx="879698" cy="296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high dose</a:t>
            </a:r>
          </a:p>
        </p:txBody>
      </p:sp>
      <p:sp>
        <p:nvSpPr>
          <p:cNvPr id="28" name="Rounded Rectangle 27">
            <a:extLst>
              <a:ext uri="{FF2B5EF4-FFF2-40B4-BE49-F238E27FC236}">
                <a16:creationId xmlns:a16="http://schemas.microsoft.com/office/drawing/2014/main" id="{49E78900-90F2-346D-B371-E8E32B65E8A2}"/>
              </a:ext>
            </a:extLst>
          </p:cNvPr>
          <p:cNvSpPr/>
          <p:nvPr/>
        </p:nvSpPr>
        <p:spPr>
          <a:xfrm>
            <a:off x="7569624" y="2367951"/>
            <a:ext cx="1093106" cy="296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err="1"/>
              <a:t>hodgkin</a:t>
            </a:r>
            <a:r>
              <a:rPr lang="en-US" sz="1050" dirty="0"/>
              <a:t> disease </a:t>
            </a:r>
          </a:p>
        </p:txBody>
      </p:sp>
      <p:sp>
        <p:nvSpPr>
          <p:cNvPr id="29" name="Rounded Rectangle 28">
            <a:extLst>
              <a:ext uri="{FF2B5EF4-FFF2-40B4-BE49-F238E27FC236}">
                <a16:creationId xmlns:a16="http://schemas.microsoft.com/office/drawing/2014/main" id="{690BF785-6252-230D-CC9C-043109818CDF}"/>
              </a:ext>
            </a:extLst>
          </p:cNvPr>
          <p:cNvSpPr/>
          <p:nvPr/>
        </p:nvSpPr>
        <p:spPr>
          <a:xfrm>
            <a:off x="9072676" y="4405979"/>
            <a:ext cx="879698" cy="296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high density</a:t>
            </a:r>
          </a:p>
        </p:txBody>
      </p:sp>
      <p:sp>
        <p:nvSpPr>
          <p:cNvPr id="30" name="Rounded Rectangle 29">
            <a:extLst>
              <a:ext uri="{FF2B5EF4-FFF2-40B4-BE49-F238E27FC236}">
                <a16:creationId xmlns:a16="http://schemas.microsoft.com/office/drawing/2014/main" id="{6AD40267-2FC7-0314-E88A-D2481DDC5BFB}"/>
              </a:ext>
            </a:extLst>
          </p:cNvPr>
          <p:cNvSpPr/>
          <p:nvPr/>
        </p:nvSpPr>
        <p:spPr>
          <a:xfrm>
            <a:off x="7890980" y="4361230"/>
            <a:ext cx="1093106" cy="296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hydatid disease</a:t>
            </a:r>
          </a:p>
        </p:txBody>
      </p:sp>
      <p:sp>
        <p:nvSpPr>
          <p:cNvPr id="31" name="Rounded Rectangle 30">
            <a:extLst>
              <a:ext uri="{FF2B5EF4-FFF2-40B4-BE49-F238E27FC236}">
                <a16:creationId xmlns:a16="http://schemas.microsoft.com/office/drawing/2014/main" id="{0A6CA423-F266-9E4E-ADAF-F1150B43E63F}"/>
              </a:ext>
            </a:extLst>
          </p:cNvPr>
          <p:cNvSpPr/>
          <p:nvPr/>
        </p:nvSpPr>
        <p:spPr>
          <a:xfrm>
            <a:off x="8806716" y="4026688"/>
            <a:ext cx="998619" cy="2744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high definition</a:t>
            </a:r>
          </a:p>
        </p:txBody>
      </p:sp>
      <p:sp>
        <p:nvSpPr>
          <p:cNvPr id="32" name="Rounded Rectangle 31">
            <a:extLst>
              <a:ext uri="{FF2B5EF4-FFF2-40B4-BE49-F238E27FC236}">
                <a16:creationId xmlns:a16="http://schemas.microsoft.com/office/drawing/2014/main" id="{7B03A363-F463-C108-CC44-32427548633D}"/>
              </a:ext>
            </a:extLst>
          </p:cNvPr>
          <p:cNvSpPr/>
          <p:nvPr/>
        </p:nvSpPr>
        <p:spPr>
          <a:xfrm>
            <a:off x="6875976" y="3144632"/>
            <a:ext cx="1339096" cy="30574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hyperactive disorder</a:t>
            </a:r>
          </a:p>
        </p:txBody>
      </p:sp>
      <p:sp>
        <p:nvSpPr>
          <p:cNvPr id="33" name="Rounded Rectangle 32">
            <a:extLst>
              <a:ext uri="{FF2B5EF4-FFF2-40B4-BE49-F238E27FC236}">
                <a16:creationId xmlns:a16="http://schemas.microsoft.com/office/drawing/2014/main" id="{3F7621A4-974E-F0F7-8E63-40E62C7FAB40}"/>
              </a:ext>
            </a:extLst>
          </p:cNvPr>
          <p:cNvSpPr/>
          <p:nvPr/>
        </p:nvSpPr>
        <p:spPr>
          <a:xfrm>
            <a:off x="7505353" y="2786719"/>
            <a:ext cx="1039348" cy="2808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heavy drinkers</a:t>
            </a:r>
          </a:p>
        </p:txBody>
      </p:sp>
      <p:sp>
        <p:nvSpPr>
          <p:cNvPr id="34" name="Rounded Rectangle 33">
            <a:extLst>
              <a:ext uri="{FF2B5EF4-FFF2-40B4-BE49-F238E27FC236}">
                <a16:creationId xmlns:a16="http://schemas.microsoft.com/office/drawing/2014/main" id="{655F03A9-D928-CA09-7F72-0600915A2AD5}"/>
              </a:ext>
            </a:extLst>
          </p:cNvPr>
          <p:cNvSpPr/>
          <p:nvPr/>
        </p:nvSpPr>
        <p:spPr>
          <a:xfrm>
            <a:off x="8437533" y="3096975"/>
            <a:ext cx="998619" cy="3277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err="1"/>
              <a:t>haemodialysis</a:t>
            </a:r>
            <a:endParaRPr lang="en-US" sz="1050" dirty="0"/>
          </a:p>
        </p:txBody>
      </p:sp>
      <p:sp>
        <p:nvSpPr>
          <p:cNvPr id="35" name="Rounded Rectangle 34">
            <a:extLst>
              <a:ext uri="{FF2B5EF4-FFF2-40B4-BE49-F238E27FC236}">
                <a16:creationId xmlns:a16="http://schemas.microsoft.com/office/drawing/2014/main" id="{802AB029-C8DC-6583-1269-E79FE8F5B719}"/>
              </a:ext>
            </a:extLst>
          </p:cNvPr>
          <p:cNvSpPr/>
          <p:nvPr/>
        </p:nvSpPr>
        <p:spPr>
          <a:xfrm>
            <a:off x="7119952" y="4711251"/>
            <a:ext cx="1568794" cy="3177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heavy episodic drinkers</a:t>
            </a:r>
          </a:p>
        </p:txBody>
      </p:sp>
      <p:sp>
        <p:nvSpPr>
          <p:cNvPr id="36" name="Rounded Rectangle 35">
            <a:extLst>
              <a:ext uri="{FF2B5EF4-FFF2-40B4-BE49-F238E27FC236}">
                <a16:creationId xmlns:a16="http://schemas.microsoft.com/office/drawing/2014/main" id="{BB350B8C-0142-CB5E-7FAD-0B54BBF19A46}"/>
              </a:ext>
            </a:extLst>
          </p:cNvPr>
          <p:cNvSpPr/>
          <p:nvPr/>
        </p:nvSpPr>
        <p:spPr>
          <a:xfrm>
            <a:off x="10697583" y="3492770"/>
            <a:ext cx="948120" cy="296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head diameter</a:t>
            </a:r>
          </a:p>
        </p:txBody>
      </p:sp>
      <p:sp>
        <p:nvSpPr>
          <p:cNvPr id="37" name="Rounded Rectangle 36">
            <a:extLst>
              <a:ext uri="{FF2B5EF4-FFF2-40B4-BE49-F238E27FC236}">
                <a16:creationId xmlns:a16="http://schemas.microsoft.com/office/drawing/2014/main" id="{F9F6E05B-BFB1-461D-A2CF-6511F7CAB4CA}"/>
              </a:ext>
            </a:extLst>
          </p:cNvPr>
          <p:cNvSpPr/>
          <p:nvPr/>
        </p:nvSpPr>
        <p:spPr>
          <a:xfrm>
            <a:off x="9952374" y="2721113"/>
            <a:ext cx="1345613" cy="3277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histologic discrepancy</a:t>
            </a:r>
          </a:p>
        </p:txBody>
      </p:sp>
      <p:sp>
        <p:nvSpPr>
          <p:cNvPr id="38" name="Rounded Rectangle 37">
            <a:extLst>
              <a:ext uri="{FF2B5EF4-FFF2-40B4-BE49-F238E27FC236}">
                <a16:creationId xmlns:a16="http://schemas.microsoft.com/office/drawing/2014/main" id="{AE273CE9-0CAF-CAF9-D513-6007261A31C1}"/>
              </a:ext>
            </a:extLst>
          </p:cNvPr>
          <p:cNvSpPr/>
          <p:nvPr/>
        </p:nvSpPr>
        <p:spPr>
          <a:xfrm>
            <a:off x="9765871" y="3501144"/>
            <a:ext cx="879698" cy="296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heart disease</a:t>
            </a:r>
          </a:p>
        </p:txBody>
      </p:sp>
      <p:sp>
        <p:nvSpPr>
          <p:cNvPr id="39" name="Rounded Rectangle 38">
            <a:extLst>
              <a:ext uri="{FF2B5EF4-FFF2-40B4-BE49-F238E27FC236}">
                <a16:creationId xmlns:a16="http://schemas.microsoft.com/office/drawing/2014/main" id="{2C60C803-AA63-C512-2252-87833C2A8124}"/>
              </a:ext>
            </a:extLst>
          </p:cNvPr>
          <p:cNvSpPr/>
          <p:nvPr/>
        </p:nvSpPr>
        <p:spPr>
          <a:xfrm>
            <a:off x="6731565" y="4299964"/>
            <a:ext cx="998619" cy="27102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healthy donor</a:t>
            </a:r>
          </a:p>
        </p:txBody>
      </p:sp>
      <p:sp>
        <p:nvSpPr>
          <p:cNvPr id="40" name="Rounded Rectangle 39">
            <a:extLst>
              <a:ext uri="{FF2B5EF4-FFF2-40B4-BE49-F238E27FC236}">
                <a16:creationId xmlns:a16="http://schemas.microsoft.com/office/drawing/2014/main" id="{B35B856B-BED9-A826-7FA4-2AA3A8548EB9}"/>
              </a:ext>
            </a:extLst>
          </p:cNvPr>
          <p:cNvSpPr/>
          <p:nvPr/>
        </p:nvSpPr>
        <p:spPr>
          <a:xfrm>
            <a:off x="10027294" y="3926377"/>
            <a:ext cx="988849" cy="2744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heat denatured</a:t>
            </a:r>
          </a:p>
        </p:txBody>
      </p:sp>
      <p:sp>
        <p:nvSpPr>
          <p:cNvPr id="41" name="Rounded Rectangle 40">
            <a:extLst>
              <a:ext uri="{FF2B5EF4-FFF2-40B4-BE49-F238E27FC236}">
                <a16:creationId xmlns:a16="http://schemas.microsoft.com/office/drawing/2014/main" id="{A6A966F3-F22C-7D95-B5BF-CD5D8E1992BB}"/>
              </a:ext>
            </a:extLst>
          </p:cNvPr>
          <p:cNvSpPr/>
          <p:nvPr/>
        </p:nvSpPr>
        <p:spPr>
          <a:xfrm>
            <a:off x="9564124" y="3094824"/>
            <a:ext cx="1473495" cy="2808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hypertensive disorders</a:t>
            </a:r>
          </a:p>
        </p:txBody>
      </p:sp>
      <p:sp>
        <p:nvSpPr>
          <p:cNvPr id="42" name="Rounded Rectangle 41">
            <a:extLst>
              <a:ext uri="{FF2B5EF4-FFF2-40B4-BE49-F238E27FC236}">
                <a16:creationId xmlns:a16="http://schemas.microsoft.com/office/drawing/2014/main" id="{A1917B3A-C4D5-5A58-4424-9857973D0946}"/>
              </a:ext>
            </a:extLst>
          </p:cNvPr>
          <p:cNvSpPr/>
          <p:nvPr/>
        </p:nvSpPr>
        <p:spPr>
          <a:xfrm>
            <a:off x="8771434" y="2381952"/>
            <a:ext cx="1432768" cy="296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hypoxic desensitization</a:t>
            </a:r>
          </a:p>
        </p:txBody>
      </p:sp>
      <p:sp>
        <p:nvSpPr>
          <p:cNvPr id="43" name="Rounded Rectangle 42">
            <a:extLst>
              <a:ext uri="{FF2B5EF4-FFF2-40B4-BE49-F238E27FC236}">
                <a16:creationId xmlns:a16="http://schemas.microsoft.com/office/drawing/2014/main" id="{615015CC-1B05-DAD4-CCD5-ABD61BD44E49}"/>
              </a:ext>
            </a:extLst>
          </p:cNvPr>
          <p:cNvSpPr/>
          <p:nvPr/>
        </p:nvSpPr>
        <p:spPr>
          <a:xfrm>
            <a:off x="8718457" y="2738296"/>
            <a:ext cx="1080481" cy="2093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homeodomain</a:t>
            </a:r>
          </a:p>
        </p:txBody>
      </p:sp>
      <p:sp>
        <p:nvSpPr>
          <p:cNvPr id="44" name="Rounded Rectangle 43">
            <a:extLst>
              <a:ext uri="{FF2B5EF4-FFF2-40B4-BE49-F238E27FC236}">
                <a16:creationId xmlns:a16="http://schemas.microsoft.com/office/drawing/2014/main" id="{6037EBD6-DE78-6790-E83B-7DB75B042035}"/>
              </a:ext>
            </a:extLst>
          </p:cNvPr>
          <p:cNvSpPr/>
          <p:nvPr/>
        </p:nvSpPr>
        <p:spPr>
          <a:xfrm>
            <a:off x="10166106" y="4652452"/>
            <a:ext cx="1240337" cy="296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err="1"/>
              <a:t>huntington</a:t>
            </a:r>
            <a:r>
              <a:rPr lang="en-US" sz="1050" dirty="0"/>
              <a:t> disease</a:t>
            </a:r>
          </a:p>
        </p:txBody>
      </p:sp>
      <p:sp>
        <p:nvSpPr>
          <p:cNvPr id="45" name="Rounded Rectangle 44">
            <a:extLst>
              <a:ext uri="{FF2B5EF4-FFF2-40B4-BE49-F238E27FC236}">
                <a16:creationId xmlns:a16="http://schemas.microsoft.com/office/drawing/2014/main" id="{39382F53-9476-1CDB-A54E-34CA272DCCD5}"/>
              </a:ext>
            </a:extLst>
          </p:cNvPr>
          <p:cNvSpPr/>
          <p:nvPr/>
        </p:nvSpPr>
        <p:spPr>
          <a:xfrm>
            <a:off x="10151630" y="4296224"/>
            <a:ext cx="1409964" cy="296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human development</a:t>
            </a:r>
          </a:p>
        </p:txBody>
      </p:sp>
      <p:grpSp>
        <p:nvGrpSpPr>
          <p:cNvPr id="54" name="Group 53">
            <a:extLst>
              <a:ext uri="{FF2B5EF4-FFF2-40B4-BE49-F238E27FC236}">
                <a16:creationId xmlns:a16="http://schemas.microsoft.com/office/drawing/2014/main" id="{5AAF5B88-F0D3-7064-D421-91D97AF3046D}"/>
              </a:ext>
            </a:extLst>
          </p:cNvPr>
          <p:cNvGrpSpPr/>
          <p:nvPr/>
        </p:nvGrpSpPr>
        <p:grpSpPr>
          <a:xfrm>
            <a:off x="838200" y="2125327"/>
            <a:ext cx="3645244" cy="1397491"/>
            <a:chOff x="838200" y="2125327"/>
            <a:chExt cx="3645244" cy="1397491"/>
          </a:xfrm>
        </p:grpSpPr>
        <p:grpSp>
          <p:nvGrpSpPr>
            <p:cNvPr id="48" name="Group 47">
              <a:extLst>
                <a:ext uri="{FF2B5EF4-FFF2-40B4-BE49-F238E27FC236}">
                  <a16:creationId xmlns:a16="http://schemas.microsoft.com/office/drawing/2014/main" id="{0AF7B6FF-C7B1-EC26-0E3B-75CD0C09A216}"/>
                </a:ext>
              </a:extLst>
            </p:cNvPr>
            <p:cNvGrpSpPr/>
            <p:nvPr/>
          </p:nvGrpSpPr>
          <p:grpSpPr>
            <a:xfrm>
              <a:off x="838200" y="2545492"/>
              <a:ext cx="3645244" cy="977326"/>
              <a:chOff x="457200" y="2902662"/>
              <a:chExt cx="3645244" cy="977326"/>
            </a:xfrm>
          </p:grpSpPr>
          <p:sp>
            <p:nvSpPr>
              <p:cNvPr id="13" name="Rounded Rectangle 12">
                <a:extLst>
                  <a:ext uri="{FF2B5EF4-FFF2-40B4-BE49-F238E27FC236}">
                    <a16:creationId xmlns:a16="http://schemas.microsoft.com/office/drawing/2014/main" id="{DA23EDB7-4EEF-E0A9-59EB-EA573FFD9089}"/>
                  </a:ext>
                </a:extLst>
              </p:cNvPr>
              <p:cNvSpPr/>
              <p:nvPr/>
            </p:nvSpPr>
            <p:spPr>
              <a:xfrm>
                <a:off x="546297" y="3275707"/>
                <a:ext cx="545231" cy="169052"/>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CABG</a:t>
                </a:r>
              </a:p>
            </p:txBody>
          </p:sp>
          <p:cxnSp>
            <p:nvCxnSpPr>
              <p:cNvPr id="14" name="Straight Arrow Connector 13">
                <a:extLst>
                  <a:ext uri="{FF2B5EF4-FFF2-40B4-BE49-F238E27FC236}">
                    <a16:creationId xmlns:a16="http://schemas.microsoft.com/office/drawing/2014/main" id="{AD15B87A-58E2-0DFB-B86A-8162D2270ACB}"/>
                  </a:ext>
                </a:extLst>
              </p:cNvPr>
              <p:cNvCxnSpPr>
                <a:cxnSpLocks/>
              </p:cNvCxnSpPr>
              <p:nvPr/>
            </p:nvCxnSpPr>
            <p:spPr>
              <a:xfrm flipV="1">
                <a:off x="1091528" y="3124952"/>
                <a:ext cx="638943" cy="23528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CADEF538-5877-33CE-BEE2-7CD048696C54}"/>
                  </a:ext>
                </a:extLst>
              </p:cNvPr>
              <p:cNvSpPr/>
              <p:nvPr/>
            </p:nvSpPr>
            <p:spPr>
              <a:xfrm>
                <a:off x="1730472" y="3020920"/>
                <a:ext cx="1916829" cy="208064"/>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Coronary Artery Bypass Graft</a:t>
                </a:r>
              </a:p>
            </p:txBody>
          </p:sp>
          <p:cxnSp>
            <p:nvCxnSpPr>
              <p:cNvPr id="16" name="Straight Arrow Connector 15">
                <a:extLst>
                  <a:ext uri="{FF2B5EF4-FFF2-40B4-BE49-F238E27FC236}">
                    <a16:creationId xmlns:a16="http://schemas.microsoft.com/office/drawing/2014/main" id="{A0B0AAF8-E8FC-8221-5407-A6BE4C7E9CF7}"/>
                  </a:ext>
                </a:extLst>
              </p:cNvPr>
              <p:cNvCxnSpPr>
                <a:cxnSpLocks/>
              </p:cNvCxnSpPr>
              <p:nvPr/>
            </p:nvCxnSpPr>
            <p:spPr>
              <a:xfrm>
                <a:off x="1091528" y="3409061"/>
                <a:ext cx="638943" cy="23556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ounded Rectangle 16">
                <a:extLst>
                  <a:ext uri="{FF2B5EF4-FFF2-40B4-BE49-F238E27FC236}">
                    <a16:creationId xmlns:a16="http://schemas.microsoft.com/office/drawing/2014/main" id="{C4538FFA-1BE5-CBCB-8A87-74DF8751F18C}"/>
                  </a:ext>
                </a:extLst>
              </p:cNvPr>
              <p:cNvSpPr/>
              <p:nvPr/>
            </p:nvSpPr>
            <p:spPr>
              <a:xfrm>
                <a:off x="1730471" y="3510879"/>
                <a:ext cx="2138329" cy="208064"/>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Computer-Assisted Brain Guidance</a:t>
                </a:r>
              </a:p>
            </p:txBody>
          </p:sp>
          <p:sp>
            <p:nvSpPr>
              <p:cNvPr id="18" name="Rounded Rectangle 17">
                <a:extLst>
                  <a:ext uri="{FF2B5EF4-FFF2-40B4-BE49-F238E27FC236}">
                    <a16:creationId xmlns:a16="http://schemas.microsoft.com/office/drawing/2014/main" id="{87C2559A-3B2A-9136-289B-ECD5E3478396}"/>
                  </a:ext>
                </a:extLst>
              </p:cNvPr>
              <p:cNvSpPr/>
              <p:nvPr/>
            </p:nvSpPr>
            <p:spPr>
              <a:xfrm>
                <a:off x="1730471" y="3228984"/>
                <a:ext cx="1916829" cy="8452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i="1" dirty="0"/>
                  <a:t>Cardiology</a:t>
                </a:r>
              </a:p>
            </p:txBody>
          </p:sp>
          <p:sp>
            <p:nvSpPr>
              <p:cNvPr id="19" name="Rounded Rectangle 18">
                <a:extLst>
                  <a:ext uri="{FF2B5EF4-FFF2-40B4-BE49-F238E27FC236}">
                    <a16:creationId xmlns:a16="http://schemas.microsoft.com/office/drawing/2014/main" id="{DCA6729B-18C3-E641-A4AE-F1012494CB74}"/>
                  </a:ext>
                </a:extLst>
              </p:cNvPr>
              <p:cNvSpPr/>
              <p:nvPr/>
            </p:nvSpPr>
            <p:spPr>
              <a:xfrm>
                <a:off x="1730470" y="3724146"/>
                <a:ext cx="2125549" cy="941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i="1" dirty="0"/>
                  <a:t>Computer Assisted Surgery</a:t>
                </a:r>
              </a:p>
            </p:txBody>
          </p:sp>
          <p:sp>
            <p:nvSpPr>
              <p:cNvPr id="46" name="Rounded Rectangle 45">
                <a:extLst>
                  <a:ext uri="{FF2B5EF4-FFF2-40B4-BE49-F238E27FC236}">
                    <a16:creationId xmlns:a16="http://schemas.microsoft.com/office/drawing/2014/main" id="{DF15A338-66EA-2319-58BF-5FB71758268F}"/>
                  </a:ext>
                </a:extLst>
              </p:cNvPr>
              <p:cNvSpPr/>
              <p:nvPr/>
            </p:nvSpPr>
            <p:spPr>
              <a:xfrm>
                <a:off x="457200" y="2902662"/>
                <a:ext cx="3645244" cy="977326"/>
              </a:xfrm>
              <a:prstGeom prst="roundRect">
                <a:avLst/>
              </a:prstGeom>
              <a:noFill/>
              <a:ln w="31750">
                <a:solidFill>
                  <a:schemeClr val="tx1"/>
                </a:solidFill>
                <a:prstDash val="sysDot"/>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1" name="TextBox 50">
              <a:extLst>
                <a:ext uri="{FF2B5EF4-FFF2-40B4-BE49-F238E27FC236}">
                  <a16:creationId xmlns:a16="http://schemas.microsoft.com/office/drawing/2014/main" id="{8226EF60-CCB9-CA82-3659-70A823C5C4C4}"/>
                </a:ext>
              </a:extLst>
            </p:cNvPr>
            <p:cNvSpPr txBox="1"/>
            <p:nvPr/>
          </p:nvSpPr>
          <p:spPr>
            <a:xfrm>
              <a:off x="1987798" y="2125327"/>
              <a:ext cx="1212602" cy="369332"/>
            </a:xfrm>
            <a:prstGeom prst="rect">
              <a:avLst/>
            </a:prstGeom>
            <a:noFill/>
          </p:spPr>
          <p:txBody>
            <a:bodyPr wrap="square" rtlCol="0">
              <a:spAutoFit/>
            </a:bodyPr>
            <a:lstStyle/>
            <a:p>
              <a:r>
                <a:rPr lang="en-US" b="1" dirty="0"/>
                <a:t>Variability</a:t>
              </a:r>
            </a:p>
          </p:txBody>
        </p:sp>
      </p:grpSp>
      <p:grpSp>
        <p:nvGrpSpPr>
          <p:cNvPr id="55" name="Group 54">
            <a:extLst>
              <a:ext uri="{FF2B5EF4-FFF2-40B4-BE49-F238E27FC236}">
                <a16:creationId xmlns:a16="http://schemas.microsoft.com/office/drawing/2014/main" id="{CC6945CA-BFD1-93EE-E47D-B2AD4704D66B}"/>
              </a:ext>
            </a:extLst>
          </p:cNvPr>
          <p:cNvGrpSpPr/>
          <p:nvPr/>
        </p:nvGrpSpPr>
        <p:grpSpPr>
          <a:xfrm>
            <a:off x="223556" y="4374356"/>
            <a:ext cx="5596476" cy="1247968"/>
            <a:chOff x="223556" y="4374356"/>
            <a:chExt cx="5596476" cy="1247968"/>
          </a:xfrm>
        </p:grpSpPr>
        <p:grpSp>
          <p:nvGrpSpPr>
            <p:cNvPr id="49" name="Group 48">
              <a:extLst>
                <a:ext uri="{FF2B5EF4-FFF2-40B4-BE49-F238E27FC236}">
                  <a16:creationId xmlns:a16="http://schemas.microsoft.com/office/drawing/2014/main" id="{90486065-F8FB-7D1E-3A11-41131861D10C}"/>
                </a:ext>
              </a:extLst>
            </p:cNvPr>
            <p:cNvGrpSpPr/>
            <p:nvPr/>
          </p:nvGrpSpPr>
          <p:grpSpPr>
            <a:xfrm>
              <a:off x="223556" y="4761428"/>
              <a:ext cx="5596476" cy="860896"/>
              <a:chOff x="223556" y="4761428"/>
              <a:chExt cx="5596476" cy="860896"/>
            </a:xfrm>
          </p:grpSpPr>
          <p:sp>
            <p:nvSpPr>
              <p:cNvPr id="22" name="Rounded Rectangle 21">
                <a:extLst>
                  <a:ext uri="{FF2B5EF4-FFF2-40B4-BE49-F238E27FC236}">
                    <a16:creationId xmlns:a16="http://schemas.microsoft.com/office/drawing/2014/main" id="{AC69247A-C31E-E7F6-ADE3-F38F1097E037}"/>
                  </a:ext>
                </a:extLst>
              </p:cNvPr>
              <p:cNvSpPr/>
              <p:nvPr/>
            </p:nvSpPr>
            <p:spPr>
              <a:xfrm>
                <a:off x="1209985" y="4888009"/>
                <a:ext cx="3231784" cy="298301"/>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0" i="0" dirty="0">
                    <a:solidFill>
                      <a:schemeClr val="tx1"/>
                    </a:solidFill>
                    <a:effectLst/>
                    <a:latin typeface="Calibri" panose="020F0502020204030204" pitchFamily="34" charset="0"/>
                    <a:cs typeface="Calibri" panose="020F0502020204030204" pitchFamily="34" charset="0"/>
                  </a:rPr>
                  <a:t>Patient has </a:t>
                </a:r>
                <a:r>
                  <a:rPr lang="en-US" sz="1600" b="0" i="0" dirty="0" err="1">
                    <a:solidFill>
                      <a:schemeClr val="tx1"/>
                    </a:solidFill>
                    <a:effectLst/>
                    <a:latin typeface="Calibri" panose="020F0502020204030204" pitchFamily="34" charset="0"/>
                    <a:cs typeface="Calibri" panose="020F0502020204030204" pitchFamily="34" charset="0"/>
                  </a:rPr>
                  <a:t>Hx</a:t>
                </a:r>
                <a:r>
                  <a:rPr lang="en-US" sz="1600" b="0" i="0" dirty="0">
                    <a:solidFill>
                      <a:schemeClr val="tx1"/>
                    </a:solidFill>
                    <a:effectLst/>
                    <a:latin typeface="Calibri" panose="020F0502020204030204" pitchFamily="34" charset="0"/>
                    <a:cs typeface="Calibri" panose="020F0502020204030204" pitchFamily="34" charset="0"/>
                  </a:rPr>
                  <a:t> of MI, HTN, and DM</a:t>
                </a:r>
                <a:endParaRPr lang="en-US" sz="1600" dirty="0">
                  <a:solidFill>
                    <a:schemeClr val="tx1"/>
                  </a:solidFill>
                  <a:latin typeface="Calibri" panose="020F0502020204030204" pitchFamily="34" charset="0"/>
                  <a:cs typeface="Calibri" panose="020F0502020204030204" pitchFamily="34" charset="0"/>
                </a:endParaRPr>
              </a:p>
            </p:txBody>
          </p:sp>
          <p:sp>
            <p:nvSpPr>
              <p:cNvPr id="23" name="Rounded Rectangle 22">
                <a:extLst>
                  <a:ext uri="{FF2B5EF4-FFF2-40B4-BE49-F238E27FC236}">
                    <a16:creationId xmlns:a16="http://schemas.microsoft.com/office/drawing/2014/main" id="{53ED458F-5ADC-78D3-1690-9E2C9CFA1A1B}"/>
                  </a:ext>
                </a:extLst>
              </p:cNvPr>
              <p:cNvSpPr/>
              <p:nvPr/>
            </p:nvSpPr>
            <p:spPr>
              <a:xfrm>
                <a:off x="345283" y="5268470"/>
                <a:ext cx="5331648" cy="235562"/>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i="1" dirty="0">
                    <a:solidFill>
                      <a:schemeClr val="tx1"/>
                    </a:solidFill>
                  </a:rPr>
                  <a:t>Patient has a history of Myocardial Infarction,  Hypertension and Diabetes Mellitus</a:t>
                </a:r>
              </a:p>
            </p:txBody>
          </p:sp>
          <p:sp>
            <p:nvSpPr>
              <p:cNvPr id="47" name="Rounded Rectangle 46">
                <a:extLst>
                  <a:ext uri="{FF2B5EF4-FFF2-40B4-BE49-F238E27FC236}">
                    <a16:creationId xmlns:a16="http://schemas.microsoft.com/office/drawing/2014/main" id="{61246B31-8845-564C-ACA4-25C2661AFC03}"/>
                  </a:ext>
                </a:extLst>
              </p:cNvPr>
              <p:cNvSpPr/>
              <p:nvPr/>
            </p:nvSpPr>
            <p:spPr>
              <a:xfrm>
                <a:off x="223556" y="4761428"/>
                <a:ext cx="5596476" cy="860896"/>
              </a:xfrm>
              <a:prstGeom prst="roundRect">
                <a:avLst/>
              </a:prstGeom>
              <a:noFill/>
              <a:ln w="31750">
                <a:solidFill>
                  <a:schemeClr val="tx1"/>
                </a:solidFill>
                <a:prstDash val="sysDot"/>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2" name="TextBox 51">
              <a:extLst>
                <a:ext uri="{FF2B5EF4-FFF2-40B4-BE49-F238E27FC236}">
                  <a16:creationId xmlns:a16="http://schemas.microsoft.com/office/drawing/2014/main" id="{989DBD6F-7017-9CD2-831B-D20B02876639}"/>
                </a:ext>
              </a:extLst>
            </p:cNvPr>
            <p:cNvSpPr txBox="1"/>
            <p:nvPr/>
          </p:nvSpPr>
          <p:spPr>
            <a:xfrm>
              <a:off x="1675739" y="4374356"/>
              <a:ext cx="2510881" cy="369332"/>
            </a:xfrm>
            <a:prstGeom prst="rect">
              <a:avLst/>
            </a:prstGeom>
            <a:noFill/>
          </p:spPr>
          <p:txBody>
            <a:bodyPr wrap="square" rtlCol="0">
              <a:spAutoFit/>
            </a:bodyPr>
            <a:lstStyle/>
            <a:p>
              <a:r>
                <a:rPr lang="en-US" b="1" dirty="0"/>
                <a:t>Complexity and Volume</a:t>
              </a:r>
            </a:p>
          </p:txBody>
        </p:sp>
      </p:grpSp>
      <p:grpSp>
        <p:nvGrpSpPr>
          <p:cNvPr id="56" name="Group 55">
            <a:extLst>
              <a:ext uri="{FF2B5EF4-FFF2-40B4-BE49-F238E27FC236}">
                <a16:creationId xmlns:a16="http://schemas.microsoft.com/office/drawing/2014/main" id="{2705E357-2761-89A3-345C-8F0253C7AB5C}"/>
              </a:ext>
            </a:extLst>
          </p:cNvPr>
          <p:cNvGrpSpPr/>
          <p:nvPr/>
        </p:nvGrpSpPr>
        <p:grpSpPr>
          <a:xfrm>
            <a:off x="6493667" y="1855749"/>
            <a:ext cx="5353049" cy="3330562"/>
            <a:chOff x="6493667" y="1855749"/>
            <a:chExt cx="5353049" cy="3330562"/>
          </a:xfrm>
        </p:grpSpPr>
        <p:sp>
          <p:nvSpPr>
            <p:cNvPr id="50" name="Rounded Rectangle 49">
              <a:extLst>
                <a:ext uri="{FF2B5EF4-FFF2-40B4-BE49-F238E27FC236}">
                  <a16:creationId xmlns:a16="http://schemas.microsoft.com/office/drawing/2014/main" id="{B86BC053-69FD-AF6B-898F-DBB215A9626D}"/>
                </a:ext>
              </a:extLst>
            </p:cNvPr>
            <p:cNvSpPr/>
            <p:nvPr/>
          </p:nvSpPr>
          <p:spPr>
            <a:xfrm>
              <a:off x="6493667" y="2224217"/>
              <a:ext cx="5353049" cy="2962094"/>
            </a:xfrm>
            <a:prstGeom prst="roundRect">
              <a:avLst/>
            </a:prstGeom>
            <a:noFill/>
            <a:ln w="31750">
              <a:solidFill>
                <a:schemeClr val="tx1"/>
              </a:solidFill>
              <a:prstDash val="sysDot"/>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A35F1CB3-3977-401B-7390-B468A2A2D3BB}"/>
                </a:ext>
              </a:extLst>
            </p:cNvPr>
            <p:cNvSpPr txBox="1"/>
            <p:nvPr/>
          </p:nvSpPr>
          <p:spPr>
            <a:xfrm>
              <a:off x="8015682" y="1855749"/>
              <a:ext cx="2686816" cy="369332"/>
            </a:xfrm>
            <a:prstGeom prst="rect">
              <a:avLst/>
            </a:prstGeom>
            <a:noFill/>
          </p:spPr>
          <p:txBody>
            <a:bodyPr wrap="square" rtlCol="0">
              <a:spAutoFit/>
            </a:bodyPr>
            <a:lstStyle/>
            <a:p>
              <a:r>
                <a:rPr lang="en-US" b="1" dirty="0"/>
                <a:t>Several Candidate Senses</a:t>
              </a:r>
            </a:p>
          </p:txBody>
        </p:sp>
      </p:grpSp>
      <p:sp>
        <p:nvSpPr>
          <p:cNvPr id="62" name="Slide Number Placeholder 61">
            <a:extLst>
              <a:ext uri="{FF2B5EF4-FFF2-40B4-BE49-F238E27FC236}">
                <a16:creationId xmlns:a16="http://schemas.microsoft.com/office/drawing/2014/main" id="{953DAA3C-568B-1DBC-ADDF-E22E0DFB3C85}"/>
              </a:ext>
            </a:extLst>
          </p:cNvPr>
          <p:cNvSpPr>
            <a:spLocks noGrp="1"/>
          </p:cNvSpPr>
          <p:nvPr>
            <p:ph type="sldNum" sz="quarter" idx="12"/>
          </p:nvPr>
        </p:nvSpPr>
        <p:spPr/>
        <p:txBody>
          <a:bodyPr/>
          <a:lstStyle/>
          <a:p>
            <a:fld id="{BDA8D12A-5188-A74B-8183-7E806E12A340}" type="slidenum">
              <a:rPr lang="en-US" smtClean="0"/>
              <a:t>11</a:t>
            </a:fld>
            <a:endParaRPr lang="en-US"/>
          </a:p>
        </p:txBody>
      </p:sp>
    </p:spTree>
    <p:extLst>
      <p:ext uri="{BB962C8B-B14F-4D97-AF65-F5344CB8AC3E}">
        <p14:creationId xmlns:p14="http://schemas.microsoft.com/office/powerpoint/2010/main" val="1056528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D19B3-7A82-D7A6-4BCB-13AEC73E8CFC}"/>
              </a:ext>
            </a:extLst>
          </p:cNvPr>
          <p:cNvSpPr>
            <a:spLocks noGrp="1"/>
          </p:cNvSpPr>
          <p:nvPr>
            <p:ph type="title"/>
          </p:nvPr>
        </p:nvSpPr>
        <p:spPr/>
        <p:txBody>
          <a:bodyPr>
            <a:normAutofit/>
          </a:bodyPr>
          <a:lstStyle/>
          <a:p>
            <a:r>
              <a:rPr lang="en-US" dirty="0"/>
              <a:t>Limitations of Past Work</a:t>
            </a:r>
          </a:p>
        </p:txBody>
      </p:sp>
      <p:sp>
        <p:nvSpPr>
          <p:cNvPr id="3" name="Content Placeholder 2">
            <a:extLst>
              <a:ext uri="{FF2B5EF4-FFF2-40B4-BE49-F238E27FC236}">
                <a16:creationId xmlns:a16="http://schemas.microsoft.com/office/drawing/2014/main" id="{ED1735E3-B976-5C10-2DB2-049F46B6D50D}"/>
              </a:ext>
            </a:extLst>
          </p:cNvPr>
          <p:cNvSpPr>
            <a:spLocks noGrp="1"/>
          </p:cNvSpPr>
          <p:nvPr>
            <p:ph idx="1"/>
          </p:nvPr>
        </p:nvSpPr>
        <p:spPr/>
        <p:txBody>
          <a:bodyPr>
            <a:normAutofit/>
          </a:bodyPr>
          <a:lstStyle/>
          <a:p>
            <a:r>
              <a:rPr lang="en-US" b="1" dirty="0"/>
              <a:t>Using Rule Based Approaches</a:t>
            </a:r>
            <a:r>
              <a:rPr lang="en-US" dirty="0"/>
              <a:t>: </a:t>
            </a:r>
          </a:p>
          <a:p>
            <a:pPr lvl="1"/>
            <a:r>
              <a:rPr lang="en-US" dirty="0"/>
              <a:t>Doesn’t transfer well between domains </a:t>
            </a:r>
            <a:endParaRPr lang="en-US" dirty="0">
              <a:sym typeface="Wingdings" pitchFamily="2" charset="2"/>
            </a:endParaRPr>
          </a:p>
          <a:p>
            <a:r>
              <a:rPr lang="en-US" b="1" dirty="0">
                <a:sym typeface="Wingdings" pitchFamily="2" charset="2"/>
              </a:rPr>
              <a:t>Reliance on Manually Annotated Data:</a:t>
            </a:r>
          </a:p>
          <a:p>
            <a:pPr lvl="1"/>
            <a:r>
              <a:rPr lang="en-US" dirty="0">
                <a:solidFill>
                  <a:srgbClr val="1F1F1F"/>
                </a:solidFill>
                <a:latin typeface="ElsevierSans"/>
              </a:rPr>
              <a:t>Expensive: Medical experts required for annotation</a:t>
            </a:r>
          </a:p>
          <a:p>
            <a:pPr lvl="2"/>
            <a:r>
              <a:rPr lang="en-US" dirty="0">
                <a:solidFill>
                  <a:srgbClr val="1F1F1F"/>
                </a:solidFill>
                <a:latin typeface="ElsevierSans"/>
              </a:rPr>
              <a:t>One study spent over $100,000 on annotation</a:t>
            </a:r>
            <a:r>
              <a:rPr lang="en-US" baseline="30000" dirty="0">
                <a:solidFill>
                  <a:srgbClr val="1F1F1F"/>
                </a:solidFill>
                <a:latin typeface="ElsevierSans"/>
              </a:rPr>
              <a:t>*</a:t>
            </a:r>
          </a:p>
          <a:p>
            <a:r>
              <a:rPr lang="en-US" b="1" dirty="0"/>
              <a:t>Additional Challenges:</a:t>
            </a:r>
          </a:p>
          <a:p>
            <a:pPr lvl="1"/>
            <a:r>
              <a:rPr lang="en-US" dirty="0"/>
              <a:t>No complete list of clinical abbreviations and their expansions exist</a:t>
            </a:r>
          </a:p>
          <a:p>
            <a:pPr lvl="2"/>
            <a:r>
              <a:rPr lang="en-US" b="0" i="0" u="none" strike="noStrike" dirty="0">
                <a:solidFill>
                  <a:srgbClr val="2A2A2A"/>
                </a:solidFill>
                <a:effectLst/>
                <a:latin typeface="Calibri" panose="020F0502020204030204" pitchFamily="34" charset="0"/>
                <a:cs typeface="Calibri" panose="020F0502020204030204" pitchFamily="34" charset="0"/>
              </a:rPr>
              <a:t>invented in an ad hoc manner by health care providers</a:t>
            </a:r>
          </a:p>
          <a:p>
            <a:pPr lvl="2"/>
            <a:r>
              <a:rPr lang="en-US" dirty="0">
                <a:latin typeface="Calibri" panose="020F0502020204030204" pitchFamily="34" charset="0"/>
                <a:cs typeface="Calibri" panose="020F0502020204030204" pitchFamily="34" charset="0"/>
              </a:rPr>
              <a:t>Existing KBs have low coverage </a:t>
            </a:r>
          </a:p>
          <a:p>
            <a:pPr lvl="1"/>
            <a:r>
              <a:rPr lang="en-US" dirty="0">
                <a:latin typeface="Calibri" panose="020F0502020204030204" pitchFamily="34" charset="0"/>
                <a:cs typeface="Calibri" panose="020F0502020204030204" pitchFamily="34" charset="0"/>
              </a:rPr>
              <a:t>Lack of task related public clinical datasets</a:t>
            </a:r>
          </a:p>
          <a:p>
            <a:endParaRPr lang="en-US" dirty="0"/>
          </a:p>
        </p:txBody>
      </p:sp>
      <p:sp>
        <p:nvSpPr>
          <p:cNvPr id="4" name="TextBox 3">
            <a:extLst>
              <a:ext uri="{FF2B5EF4-FFF2-40B4-BE49-F238E27FC236}">
                <a16:creationId xmlns:a16="http://schemas.microsoft.com/office/drawing/2014/main" id="{E7789A88-B5C4-E1AA-DE03-8BFDE8FC43CC}"/>
              </a:ext>
            </a:extLst>
          </p:cNvPr>
          <p:cNvSpPr txBox="1"/>
          <p:nvPr/>
        </p:nvSpPr>
        <p:spPr>
          <a:xfrm>
            <a:off x="681644" y="6038463"/>
            <a:ext cx="9642764" cy="461665"/>
          </a:xfrm>
          <a:prstGeom prst="rect">
            <a:avLst/>
          </a:prstGeom>
          <a:noFill/>
        </p:spPr>
        <p:txBody>
          <a:bodyPr wrap="square" rtlCol="0">
            <a:spAutoFit/>
          </a:bodyPr>
          <a:lstStyle/>
          <a:p>
            <a:r>
              <a:rPr lang="en-US" sz="1200" b="0" i="0" u="none" strike="noStrike" dirty="0">
                <a:solidFill>
                  <a:srgbClr val="1F1F1F"/>
                </a:solidFill>
                <a:effectLst/>
                <a:latin typeface="Arial" panose="020B0604020202020204" pitchFamily="34" charset="0"/>
                <a:cs typeface="Arial" panose="020B0604020202020204" pitchFamily="34" charset="0"/>
              </a:rPr>
              <a:t>*D. Albright, A. Lanfranchi, </a:t>
            </a:r>
            <a:r>
              <a:rPr lang="en-US" sz="1200" b="0" i="0" u="none" strike="noStrike" dirty="0" err="1">
                <a:solidFill>
                  <a:srgbClr val="1F1F1F"/>
                </a:solidFill>
                <a:effectLst/>
                <a:latin typeface="Arial" panose="020B0604020202020204" pitchFamily="34" charset="0"/>
                <a:cs typeface="Arial" panose="020B0604020202020204" pitchFamily="34" charset="0"/>
              </a:rPr>
              <a:t>A.Fredriksen</a:t>
            </a:r>
            <a:r>
              <a:rPr lang="en-US" sz="1200" b="0" i="0" u="none" strike="noStrike" dirty="0">
                <a:solidFill>
                  <a:srgbClr val="1F1F1F"/>
                </a:solidFill>
                <a:effectLst/>
                <a:latin typeface="Arial" panose="020B0604020202020204" pitchFamily="34" charset="0"/>
                <a:cs typeface="Arial" panose="020B0604020202020204" pitchFamily="34" charset="0"/>
              </a:rPr>
              <a:t>, </a:t>
            </a:r>
            <a:r>
              <a:rPr lang="en-US" sz="1200" b="0" i="1" u="none" strike="noStrike" dirty="0">
                <a:solidFill>
                  <a:srgbClr val="1F1F1F"/>
                </a:solidFill>
                <a:effectLst/>
                <a:latin typeface="Arial" panose="020B0604020202020204" pitchFamily="34" charset="0"/>
                <a:cs typeface="Arial" panose="020B0604020202020204" pitchFamily="34" charset="0"/>
              </a:rPr>
              <a:t>et al., 2013: “</a:t>
            </a:r>
            <a:r>
              <a:rPr lang="en-US" sz="1200" b="0" i="0" u="none" strike="noStrike" dirty="0">
                <a:solidFill>
                  <a:srgbClr val="1F1F1F"/>
                </a:solidFill>
                <a:effectLst/>
                <a:latin typeface="Arial" panose="020B0604020202020204" pitchFamily="34" charset="0"/>
                <a:cs typeface="Arial" panose="020B0604020202020204" pitchFamily="34" charset="0"/>
              </a:rPr>
              <a:t>Towards comprehensive syntactic and semantic annotations of the clinical narrative”. </a:t>
            </a:r>
            <a:r>
              <a:rPr lang="en-US" sz="1200" b="0" i="1" u="none" strike="noStrike" dirty="0">
                <a:solidFill>
                  <a:srgbClr val="212121"/>
                </a:solidFill>
                <a:effectLst/>
                <a:latin typeface="Arial" panose="020B0604020202020204" pitchFamily="34" charset="0"/>
                <a:cs typeface="Arial" panose="020B0604020202020204" pitchFamily="34" charset="0"/>
              </a:rPr>
              <a:t>Journal of the American Medical Informatics Association : JAMIA</a:t>
            </a:r>
            <a:r>
              <a:rPr lang="en-US" sz="1200" b="0" i="0" u="none" strike="noStrike" dirty="0">
                <a:solidFill>
                  <a:srgbClr val="212121"/>
                </a:solidFill>
                <a:effectLst/>
                <a:latin typeface="Arial" panose="020B0604020202020204" pitchFamily="34" charset="0"/>
                <a:cs typeface="Arial" panose="020B0604020202020204" pitchFamily="34" charset="0"/>
              </a:rPr>
              <a:t>, </a:t>
            </a:r>
            <a:r>
              <a:rPr lang="en-US" sz="1200" b="0" i="1" u="none" strike="noStrike" dirty="0">
                <a:solidFill>
                  <a:srgbClr val="212121"/>
                </a:solidFill>
                <a:effectLst/>
                <a:latin typeface="Arial" panose="020B0604020202020204" pitchFamily="34" charset="0"/>
                <a:cs typeface="Arial" panose="020B0604020202020204" pitchFamily="34" charset="0"/>
              </a:rPr>
              <a:t>20</a:t>
            </a:r>
            <a:r>
              <a:rPr lang="en-US" sz="1200" b="0" i="0" u="none" strike="noStrike" dirty="0">
                <a:solidFill>
                  <a:srgbClr val="212121"/>
                </a:solidFill>
                <a:effectLst/>
                <a:latin typeface="Arial" panose="020B0604020202020204" pitchFamily="34" charset="0"/>
                <a:cs typeface="Arial" panose="020B0604020202020204" pitchFamily="34" charset="0"/>
              </a:rPr>
              <a:t>(5), 922–930.</a:t>
            </a:r>
            <a:endParaRPr lang="en-US" sz="1200" dirty="0">
              <a:latin typeface="Arial" panose="020B0604020202020204" pitchFamily="34" charset="0"/>
              <a:cs typeface="Arial" panose="020B0604020202020204" pitchFamily="34" charset="0"/>
            </a:endParaRPr>
          </a:p>
        </p:txBody>
      </p:sp>
      <p:sp>
        <p:nvSpPr>
          <p:cNvPr id="10" name="Slide Number Placeholder 9">
            <a:extLst>
              <a:ext uri="{FF2B5EF4-FFF2-40B4-BE49-F238E27FC236}">
                <a16:creationId xmlns:a16="http://schemas.microsoft.com/office/drawing/2014/main" id="{1E7045F4-EAE6-55A6-FFA0-ABA387B7A1DE}"/>
              </a:ext>
            </a:extLst>
          </p:cNvPr>
          <p:cNvSpPr>
            <a:spLocks noGrp="1"/>
          </p:cNvSpPr>
          <p:nvPr>
            <p:ph type="sldNum" sz="quarter" idx="12"/>
          </p:nvPr>
        </p:nvSpPr>
        <p:spPr/>
        <p:txBody>
          <a:bodyPr/>
          <a:lstStyle/>
          <a:p>
            <a:fld id="{BDA8D12A-5188-A74B-8183-7E806E12A340}" type="slidenum">
              <a:rPr lang="en-US" smtClean="0"/>
              <a:t>12</a:t>
            </a:fld>
            <a:endParaRPr lang="en-US"/>
          </a:p>
        </p:txBody>
      </p:sp>
    </p:spTree>
    <p:extLst>
      <p:ext uri="{BB962C8B-B14F-4D97-AF65-F5344CB8AC3E}">
        <p14:creationId xmlns:p14="http://schemas.microsoft.com/office/powerpoint/2010/main" val="3575760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B08EB-BA2C-A48D-514B-B9BEA98EB97F}"/>
              </a:ext>
            </a:extLst>
          </p:cNvPr>
          <p:cNvSpPr>
            <a:spLocks noGrp="1"/>
          </p:cNvSpPr>
          <p:nvPr>
            <p:ph type="title"/>
          </p:nvPr>
        </p:nvSpPr>
        <p:spPr/>
        <p:txBody>
          <a:bodyPr>
            <a:normAutofit/>
          </a:bodyPr>
          <a:lstStyle/>
          <a:p>
            <a:r>
              <a:rPr lang="en-US" dirty="0"/>
              <a:t>Approach </a:t>
            </a:r>
          </a:p>
        </p:txBody>
      </p:sp>
      <p:sp>
        <p:nvSpPr>
          <p:cNvPr id="3" name="Content Placeholder 2">
            <a:extLst>
              <a:ext uri="{FF2B5EF4-FFF2-40B4-BE49-F238E27FC236}">
                <a16:creationId xmlns:a16="http://schemas.microsoft.com/office/drawing/2014/main" id="{F8CD3BA8-CB62-AB24-0B99-0A708E366EF1}"/>
              </a:ext>
            </a:extLst>
          </p:cNvPr>
          <p:cNvSpPr>
            <a:spLocks noGrp="1"/>
          </p:cNvSpPr>
          <p:nvPr>
            <p:ph idx="1"/>
          </p:nvPr>
        </p:nvSpPr>
        <p:spPr/>
        <p:txBody>
          <a:bodyPr>
            <a:normAutofit fontScale="92500" lnSpcReduction="10000"/>
          </a:bodyPr>
          <a:lstStyle/>
          <a:p>
            <a:pPr marL="514350" indent="-514350">
              <a:buFont typeface="+mj-lt"/>
              <a:buAutoNum type="arabicPeriod"/>
            </a:pPr>
            <a:r>
              <a:rPr lang="en-US" dirty="0"/>
              <a:t>Data Creation Stage:</a:t>
            </a:r>
          </a:p>
          <a:p>
            <a:pPr lvl="1"/>
            <a:r>
              <a:rPr lang="en-US" dirty="0">
                <a:solidFill>
                  <a:schemeClr val="bg1"/>
                </a:solidFill>
              </a:rPr>
              <a:t>Extract acronyms and candidate expansions from over 1M PubMed Research Papers using regular expressions.</a:t>
            </a:r>
          </a:p>
          <a:p>
            <a:pPr lvl="1"/>
            <a:r>
              <a:rPr lang="en-US" dirty="0">
                <a:solidFill>
                  <a:schemeClr val="bg1"/>
                </a:solidFill>
              </a:rPr>
              <a:t>Clean extracted acronym-expansion pairs using a rule-set.</a:t>
            </a:r>
          </a:p>
          <a:p>
            <a:pPr lvl="2"/>
            <a:r>
              <a:rPr lang="en-US" dirty="0">
                <a:solidFill>
                  <a:schemeClr val="bg1"/>
                </a:solidFill>
              </a:rPr>
              <a:t>1,257 acronyms and 8,287 expansions.</a:t>
            </a:r>
          </a:p>
          <a:p>
            <a:pPr lvl="2"/>
            <a:r>
              <a:rPr lang="en-US" dirty="0">
                <a:solidFill>
                  <a:schemeClr val="bg1"/>
                </a:solidFill>
              </a:rPr>
              <a:t>Average number of expansions per acronym is 6.6 (min=2, max=50)</a:t>
            </a:r>
          </a:p>
          <a:p>
            <a:pPr lvl="1"/>
            <a:r>
              <a:rPr lang="en-US" dirty="0">
                <a:solidFill>
                  <a:schemeClr val="bg1"/>
                </a:solidFill>
              </a:rPr>
              <a:t>Extract context information for each acronym-expansion pair using a window.</a:t>
            </a:r>
          </a:p>
          <a:p>
            <a:pPr lvl="1"/>
            <a:endParaRPr lang="en-US" dirty="0"/>
          </a:p>
          <a:p>
            <a:pPr marL="514350" indent="-514350">
              <a:buFont typeface="+mj-lt"/>
              <a:buAutoNum type="arabicPeriod"/>
            </a:pPr>
            <a:r>
              <a:rPr lang="en-US" dirty="0"/>
              <a:t>Model Development Stage:</a:t>
            </a:r>
          </a:p>
          <a:p>
            <a:pPr lvl="1"/>
            <a:r>
              <a:rPr lang="en-US" dirty="0">
                <a:solidFill>
                  <a:schemeClr val="bg1"/>
                </a:solidFill>
              </a:rPr>
              <a:t>Train Logistic Regression and </a:t>
            </a:r>
            <a:r>
              <a:rPr lang="en-US" dirty="0" err="1">
                <a:solidFill>
                  <a:schemeClr val="bg1"/>
                </a:solidFill>
              </a:rPr>
              <a:t>BioBERT</a:t>
            </a:r>
            <a:endParaRPr lang="en-US" dirty="0">
              <a:solidFill>
                <a:schemeClr val="bg1"/>
              </a:solidFill>
            </a:endParaRPr>
          </a:p>
          <a:p>
            <a:pPr lvl="2"/>
            <a:r>
              <a:rPr lang="en-US" b="1" dirty="0">
                <a:solidFill>
                  <a:schemeClr val="bg1"/>
                </a:solidFill>
              </a:rPr>
              <a:t>Input</a:t>
            </a:r>
            <a:r>
              <a:rPr lang="en-US" dirty="0">
                <a:solidFill>
                  <a:schemeClr val="bg1"/>
                </a:solidFill>
              </a:rPr>
              <a:t>: acronym + surrounding context</a:t>
            </a:r>
          </a:p>
          <a:p>
            <a:pPr lvl="2"/>
            <a:r>
              <a:rPr lang="en-US" b="1" dirty="0">
                <a:solidFill>
                  <a:schemeClr val="bg1"/>
                </a:solidFill>
              </a:rPr>
              <a:t>Output</a:t>
            </a:r>
            <a:r>
              <a:rPr lang="en-US" dirty="0">
                <a:solidFill>
                  <a:schemeClr val="bg1"/>
                </a:solidFill>
              </a:rPr>
              <a:t>: expansion</a:t>
            </a:r>
          </a:p>
          <a:p>
            <a:pPr lvl="1"/>
            <a:r>
              <a:rPr lang="en-US" dirty="0">
                <a:solidFill>
                  <a:schemeClr val="bg1"/>
                </a:solidFill>
              </a:rPr>
              <a:t>Evaluate on a manually annotated test set of clinical notes</a:t>
            </a:r>
          </a:p>
        </p:txBody>
      </p:sp>
      <p:sp>
        <p:nvSpPr>
          <p:cNvPr id="5" name="TextBox 4">
            <a:extLst>
              <a:ext uri="{FF2B5EF4-FFF2-40B4-BE49-F238E27FC236}">
                <a16:creationId xmlns:a16="http://schemas.microsoft.com/office/drawing/2014/main" id="{C9713FBF-CFAC-9B7E-EFC6-81F024D6B1DE}"/>
              </a:ext>
            </a:extLst>
          </p:cNvPr>
          <p:cNvSpPr txBox="1"/>
          <p:nvPr/>
        </p:nvSpPr>
        <p:spPr>
          <a:xfrm>
            <a:off x="948381" y="6297141"/>
            <a:ext cx="9023521" cy="369332"/>
          </a:xfrm>
          <a:prstGeom prst="rect">
            <a:avLst/>
          </a:prstGeom>
          <a:noFill/>
        </p:spPr>
        <p:txBody>
          <a:bodyPr wrap="square">
            <a:spAutoFit/>
          </a:bodyPr>
          <a:lstStyle/>
          <a:p>
            <a:pPr marL="0" indent="0">
              <a:buNone/>
            </a:pPr>
            <a:r>
              <a:rPr lang="en-US" b="1" dirty="0"/>
              <a:t>Note: </a:t>
            </a:r>
            <a:r>
              <a:rPr lang="en-US" dirty="0"/>
              <a:t>For this task, we focus on the medical domain: </a:t>
            </a:r>
            <a:r>
              <a:rPr lang="en-US" b="1" i="1" dirty="0"/>
              <a:t>Prenatal Exposure</a:t>
            </a:r>
          </a:p>
        </p:txBody>
      </p:sp>
      <p:sp>
        <p:nvSpPr>
          <p:cNvPr id="9" name="Slide Number Placeholder 8">
            <a:extLst>
              <a:ext uri="{FF2B5EF4-FFF2-40B4-BE49-F238E27FC236}">
                <a16:creationId xmlns:a16="http://schemas.microsoft.com/office/drawing/2014/main" id="{4C4FBB5B-9EFE-DD68-1019-5BCB10921531}"/>
              </a:ext>
            </a:extLst>
          </p:cNvPr>
          <p:cNvSpPr>
            <a:spLocks noGrp="1"/>
          </p:cNvSpPr>
          <p:nvPr>
            <p:ph type="sldNum" sz="quarter" idx="12"/>
          </p:nvPr>
        </p:nvSpPr>
        <p:spPr/>
        <p:txBody>
          <a:bodyPr/>
          <a:lstStyle/>
          <a:p>
            <a:fld id="{BDA8D12A-5188-A74B-8183-7E806E12A340}" type="slidenum">
              <a:rPr lang="en-US" smtClean="0"/>
              <a:t>13</a:t>
            </a:fld>
            <a:endParaRPr lang="en-US"/>
          </a:p>
        </p:txBody>
      </p:sp>
    </p:spTree>
    <p:extLst>
      <p:ext uri="{BB962C8B-B14F-4D97-AF65-F5344CB8AC3E}">
        <p14:creationId xmlns:p14="http://schemas.microsoft.com/office/powerpoint/2010/main" val="3815525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B08EB-BA2C-A48D-514B-B9BEA98EB97F}"/>
              </a:ext>
            </a:extLst>
          </p:cNvPr>
          <p:cNvSpPr>
            <a:spLocks noGrp="1"/>
          </p:cNvSpPr>
          <p:nvPr>
            <p:ph type="title"/>
          </p:nvPr>
        </p:nvSpPr>
        <p:spPr/>
        <p:txBody>
          <a:bodyPr>
            <a:normAutofit/>
          </a:bodyPr>
          <a:lstStyle/>
          <a:p>
            <a:r>
              <a:rPr lang="en-US" dirty="0"/>
              <a:t>Approach </a:t>
            </a:r>
          </a:p>
        </p:txBody>
      </p:sp>
      <p:sp>
        <p:nvSpPr>
          <p:cNvPr id="3" name="Content Placeholder 2">
            <a:extLst>
              <a:ext uri="{FF2B5EF4-FFF2-40B4-BE49-F238E27FC236}">
                <a16:creationId xmlns:a16="http://schemas.microsoft.com/office/drawing/2014/main" id="{F8CD3BA8-CB62-AB24-0B99-0A708E366EF1}"/>
              </a:ext>
            </a:extLst>
          </p:cNvPr>
          <p:cNvSpPr>
            <a:spLocks noGrp="1"/>
          </p:cNvSpPr>
          <p:nvPr>
            <p:ph idx="1"/>
          </p:nvPr>
        </p:nvSpPr>
        <p:spPr/>
        <p:txBody>
          <a:bodyPr>
            <a:normAutofit fontScale="92500" lnSpcReduction="10000"/>
          </a:bodyPr>
          <a:lstStyle/>
          <a:p>
            <a:pPr marL="514350" indent="-514350">
              <a:buFont typeface="+mj-lt"/>
              <a:buAutoNum type="arabicPeriod"/>
            </a:pPr>
            <a:r>
              <a:rPr lang="en-US" dirty="0"/>
              <a:t>Data Creation Stage:</a:t>
            </a:r>
          </a:p>
          <a:p>
            <a:pPr lvl="1"/>
            <a:r>
              <a:rPr lang="en-US" dirty="0"/>
              <a:t>Extract acronyms and candidate expansions from over 1M PubMed Research Papers using regular expressions.</a:t>
            </a:r>
          </a:p>
          <a:p>
            <a:pPr lvl="1"/>
            <a:r>
              <a:rPr lang="en-US" dirty="0"/>
              <a:t>Clean extracted acronym-expansion pairs using a rule-set.</a:t>
            </a:r>
          </a:p>
          <a:p>
            <a:pPr lvl="2"/>
            <a:r>
              <a:rPr lang="en-US" dirty="0"/>
              <a:t>1,257 acronyms and 8,287 expansions.</a:t>
            </a:r>
          </a:p>
          <a:p>
            <a:pPr lvl="2"/>
            <a:r>
              <a:rPr lang="en-US" dirty="0"/>
              <a:t>Average number of expansions per acronym is 6.6 (min=2, max=50)</a:t>
            </a:r>
          </a:p>
          <a:p>
            <a:pPr lvl="1"/>
            <a:r>
              <a:rPr lang="en-US" dirty="0"/>
              <a:t>Extract context information for each acronym-expansion pair using a window.</a:t>
            </a:r>
          </a:p>
          <a:p>
            <a:pPr lvl="1"/>
            <a:endParaRPr lang="en-US" dirty="0"/>
          </a:p>
          <a:p>
            <a:pPr marL="514350" indent="-514350">
              <a:buFont typeface="+mj-lt"/>
              <a:buAutoNum type="arabicPeriod"/>
            </a:pPr>
            <a:r>
              <a:rPr lang="en-US" dirty="0"/>
              <a:t>Model Development Stage:</a:t>
            </a:r>
          </a:p>
          <a:p>
            <a:pPr lvl="1"/>
            <a:r>
              <a:rPr lang="en-US" dirty="0">
                <a:solidFill>
                  <a:schemeClr val="bg1"/>
                </a:solidFill>
              </a:rPr>
              <a:t>Train Logistic Regression and </a:t>
            </a:r>
            <a:r>
              <a:rPr lang="en-US" dirty="0" err="1">
                <a:solidFill>
                  <a:schemeClr val="bg1"/>
                </a:solidFill>
              </a:rPr>
              <a:t>BioBERT</a:t>
            </a:r>
            <a:endParaRPr lang="en-US" dirty="0">
              <a:solidFill>
                <a:schemeClr val="bg1"/>
              </a:solidFill>
            </a:endParaRPr>
          </a:p>
          <a:p>
            <a:pPr lvl="2"/>
            <a:r>
              <a:rPr lang="en-US" b="1" dirty="0">
                <a:solidFill>
                  <a:schemeClr val="bg1"/>
                </a:solidFill>
              </a:rPr>
              <a:t>Input</a:t>
            </a:r>
            <a:r>
              <a:rPr lang="en-US" dirty="0">
                <a:solidFill>
                  <a:schemeClr val="bg1"/>
                </a:solidFill>
              </a:rPr>
              <a:t>: acronym + surrounding context</a:t>
            </a:r>
          </a:p>
          <a:p>
            <a:pPr lvl="2"/>
            <a:r>
              <a:rPr lang="en-US" b="1" dirty="0">
                <a:solidFill>
                  <a:schemeClr val="bg1"/>
                </a:solidFill>
              </a:rPr>
              <a:t>Output</a:t>
            </a:r>
            <a:r>
              <a:rPr lang="en-US" dirty="0">
                <a:solidFill>
                  <a:schemeClr val="bg1"/>
                </a:solidFill>
              </a:rPr>
              <a:t>: expansion</a:t>
            </a:r>
          </a:p>
          <a:p>
            <a:pPr lvl="1"/>
            <a:r>
              <a:rPr lang="en-US" dirty="0">
                <a:solidFill>
                  <a:schemeClr val="bg1"/>
                </a:solidFill>
              </a:rPr>
              <a:t>Evaluate on a manually annotated test set of clinical notes</a:t>
            </a:r>
          </a:p>
        </p:txBody>
      </p:sp>
      <p:sp>
        <p:nvSpPr>
          <p:cNvPr id="5" name="TextBox 4">
            <a:extLst>
              <a:ext uri="{FF2B5EF4-FFF2-40B4-BE49-F238E27FC236}">
                <a16:creationId xmlns:a16="http://schemas.microsoft.com/office/drawing/2014/main" id="{C9713FBF-CFAC-9B7E-EFC6-81F024D6B1DE}"/>
              </a:ext>
            </a:extLst>
          </p:cNvPr>
          <p:cNvSpPr txBox="1"/>
          <p:nvPr/>
        </p:nvSpPr>
        <p:spPr>
          <a:xfrm>
            <a:off x="948381" y="6297141"/>
            <a:ext cx="9023521" cy="369332"/>
          </a:xfrm>
          <a:prstGeom prst="rect">
            <a:avLst/>
          </a:prstGeom>
          <a:noFill/>
        </p:spPr>
        <p:txBody>
          <a:bodyPr wrap="square">
            <a:spAutoFit/>
          </a:bodyPr>
          <a:lstStyle/>
          <a:p>
            <a:pPr marL="0" indent="0">
              <a:buNone/>
            </a:pPr>
            <a:r>
              <a:rPr lang="en-US" b="1" dirty="0"/>
              <a:t>Note: </a:t>
            </a:r>
            <a:r>
              <a:rPr lang="en-US" dirty="0"/>
              <a:t>For this task, we focus on the medical domain: </a:t>
            </a:r>
            <a:r>
              <a:rPr lang="en-US" b="1" i="1" dirty="0"/>
              <a:t>Prenatal Exposure</a:t>
            </a:r>
          </a:p>
        </p:txBody>
      </p:sp>
      <p:graphicFrame>
        <p:nvGraphicFramePr>
          <p:cNvPr id="6" name="Table 5">
            <a:extLst>
              <a:ext uri="{FF2B5EF4-FFF2-40B4-BE49-F238E27FC236}">
                <a16:creationId xmlns:a16="http://schemas.microsoft.com/office/drawing/2014/main" id="{9FE92E31-341F-0E8D-1415-92F163A019AA}"/>
              </a:ext>
            </a:extLst>
          </p:cNvPr>
          <p:cNvGraphicFramePr>
            <a:graphicFrameLocks noGrp="1"/>
          </p:cNvGraphicFramePr>
          <p:nvPr>
            <p:extLst>
              <p:ext uri="{D42A27DB-BD31-4B8C-83A1-F6EECF244321}">
                <p14:modId xmlns:p14="http://schemas.microsoft.com/office/powerpoint/2010/main" val="2081743975"/>
              </p:ext>
            </p:extLst>
          </p:nvPr>
        </p:nvGraphicFramePr>
        <p:xfrm>
          <a:off x="7217459" y="4377266"/>
          <a:ext cx="4565570" cy="1854200"/>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1116314">
                  <a:extLst>
                    <a:ext uri="{9D8B030D-6E8A-4147-A177-3AD203B41FA5}">
                      <a16:colId xmlns:a16="http://schemas.microsoft.com/office/drawing/2014/main" val="869287834"/>
                    </a:ext>
                  </a:extLst>
                </a:gridCol>
                <a:gridCol w="3449256">
                  <a:extLst>
                    <a:ext uri="{9D8B030D-6E8A-4147-A177-3AD203B41FA5}">
                      <a16:colId xmlns:a16="http://schemas.microsoft.com/office/drawing/2014/main" val="3829718491"/>
                    </a:ext>
                  </a:extLst>
                </a:gridCol>
              </a:tblGrid>
              <a:tr h="370840">
                <a:tc>
                  <a:txBody>
                    <a:bodyPr/>
                    <a:lstStyle/>
                    <a:p>
                      <a:pPr algn="ctr"/>
                      <a:r>
                        <a:rPr lang="en-US" dirty="0">
                          <a:solidFill>
                            <a:schemeClr val="tx1"/>
                          </a:solidFill>
                        </a:rPr>
                        <a:t>Acronym</a:t>
                      </a:r>
                    </a:p>
                  </a:txBody>
                  <a:tcPr>
                    <a:blipFill>
                      <a:blip r:embed="rId2"/>
                      <a:tile tx="0" ty="0" sx="100000" sy="100000" flip="none" algn="tl"/>
                    </a:blipFill>
                  </a:tcPr>
                </a:tc>
                <a:tc>
                  <a:txBody>
                    <a:bodyPr/>
                    <a:lstStyle/>
                    <a:p>
                      <a:pPr algn="ctr"/>
                      <a:r>
                        <a:rPr lang="en-US" dirty="0">
                          <a:solidFill>
                            <a:schemeClr val="tx1"/>
                          </a:solidFill>
                        </a:rPr>
                        <a:t>Expansion</a:t>
                      </a:r>
                    </a:p>
                  </a:txBody>
                  <a:tcPr>
                    <a:blipFill>
                      <a:blip r:embed="rId2"/>
                      <a:tile tx="0" ty="0" sx="100000" sy="100000" flip="none" algn="tl"/>
                    </a:blipFill>
                  </a:tcPr>
                </a:tc>
                <a:extLst>
                  <a:ext uri="{0D108BD9-81ED-4DB2-BD59-A6C34878D82A}">
                    <a16:rowId xmlns:a16="http://schemas.microsoft.com/office/drawing/2014/main" val="965807559"/>
                  </a:ext>
                </a:extLst>
              </a:tr>
              <a:tr h="370840">
                <a:tc>
                  <a:txBody>
                    <a:bodyPr/>
                    <a:lstStyle/>
                    <a:p>
                      <a:r>
                        <a:rPr lang="en-US" dirty="0"/>
                        <a:t>HS</a:t>
                      </a:r>
                    </a:p>
                  </a:txBody>
                  <a:tcPr>
                    <a:blipFill>
                      <a:blip r:embed="rId2"/>
                      <a:tile tx="0" ty="0" sx="100000" sy="100000" flip="none" algn="tl"/>
                    </a:blipFill>
                  </a:tcPr>
                </a:tc>
                <a:tc>
                  <a:txBody>
                    <a:bodyPr/>
                    <a:lstStyle/>
                    <a:p>
                      <a:r>
                        <a:rPr lang="en-US" dirty="0"/>
                        <a:t>High School</a:t>
                      </a:r>
                    </a:p>
                  </a:txBody>
                  <a:tcPr>
                    <a:blipFill>
                      <a:blip r:embed="rId2"/>
                      <a:tile tx="0" ty="0" sx="100000" sy="100000" flip="none" algn="tl"/>
                    </a:blipFill>
                  </a:tcPr>
                </a:tc>
                <a:extLst>
                  <a:ext uri="{0D108BD9-81ED-4DB2-BD59-A6C34878D82A}">
                    <a16:rowId xmlns:a16="http://schemas.microsoft.com/office/drawing/2014/main" val="1506243459"/>
                  </a:ext>
                </a:extLst>
              </a:tr>
              <a:tr h="370840">
                <a:tc>
                  <a:txBody>
                    <a:bodyPr/>
                    <a:lstStyle/>
                    <a:p>
                      <a:r>
                        <a:rPr lang="en-US" dirty="0"/>
                        <a:t>HS</a:t>
                      </a:r>
                    </a:p>
                  </a:txBody>
                  <a:tcPr>
                    <a:blipFill>
                      <a:blip r:embed="rId2"/>
                      <a:tile tx="0" ty="0" sx="100000" sy="100000" flip="none" algn="tl"/>
                    </a:blipFill>
                  </a:tcPr>
                </a:tc>
                <a:tc>
                  <a:txBody>
                    <a:bodyPr/>
                    <a:lstStyle/>
                    <a:p>
                      <a:r>
                        <a:rPr lang="en-US" dirty="0"/>
                        <a:t>Hepatic Stenosis</a:t>
                      </a:r>
                    </a:p>
                  </a:txBody>
                  <a:tcPr>
                    <a:blipFill>
                      <a:blip r:embed="rId2"/>
                      <a:tile tx="0" ty="0" sx="100000" sy="100000" flip="none" algn="tl"/>
                    </a:blipFill>
                  </a:tcPr>
                </a:tc>
                <a:extLst>
                  <a:ext uri="{0D108BD9-81ED-4DB2-BD59-A6C34878D82A}">
                    <a16:rowId xmlns:a16="http://schemas.microsoft.com/office/drawing/2014/main" val="4044369577"/>
                  </a:ext>
                </a:extLst>
              </a:tr>
              <a:tr h="370840">
                <a:tc>
                  <a:txBody>
                    <a:bodyPr/>
                    <a:lstStyle/>
                    <a:p>
                      <a:r>
                        <a:rPr lang="en-US" dirty="0"/>
                        <a:t>HS</a:t>
                      </a:r>
                    </a:p>
                  </a:txBody>
                  <a:tcPr>
                    <a:blipFill>
                      <a:blip r:embed="rId2"/>
                      <a:tile tx="0" ty="0" sx="100000" sy="100000" flip="none" algn="tl"/>
                    </a:blipFill>
                  </a:tcPr>
                </a:tc>
                <a:tc>
                  <a:txBody>
                    <a:bodyPr/>
                    <a:lstStyle/>
                    <a:p>
                      <a:r>
                        <a:rPr lang="en-US" dirty="0"/>
                        <a:t>Horse Serum</a:t>
                      </a:r>
                    </a:p>
                  </a:txBody>
                  <a:tcPr>
                    <a:blipFill>
                      <a:blip r:embed="rId2"/>
                      <a:tile tx="0" ty="0" sx="100000" sy="100000" flip="none" algn="tl"/>
                    </a:blipFill>
                  </a:tcPr>
                </a:tc>
                <a:extLst>
                  <a:ext uri="{0D108BD9-81ED-4DB2-BD59-A6C34878D82A}">
                    <a16:rowId xmlns:a16="http://schemas.microsoft.com/office/drawing/2014/main" val="3100590387"/>
                  </a:ext>
                </a:extLst>
              </a:tr>
              <a:tr h="370840">
                <a:tc>
                  <a:txBody>
                    <a:bodyPr/>
                    <a:lstStyle/>
                    <a:p>
                      <a:r>
                        <a:rPr lang="en-US" dirty="0"/>
                        <a:t>HS</a:t>
                      </a:r>
                    </a:p>
                  </a:txBody>
                  <a:tcPr>
                    <a:blipFill>
                      <a:blip r:embed="rId2"/>
                      <a:tile tx="0" ty="0" sx="100000" sy="100000" flip="none" algn="tl"/>
                    </a:blipFill>
                  </a:tcPr>
                </a:tc>
                <a:tc>
                  <a:txBody>
                    <a:bodyPr/>
                    <a:lstStyle/>
                    <a:p>
                      <a:r>
                        <a:rPr lang="en-US" dirty="0"/>
                        <a:t>High Salt</a:t>
                      </a:r>
                    </a:p>
                  </a:txBody>
                  <a:tcPr>
                    <a:blipFill>
                      <a:blip r:embed="rId2"/>
                      <a:tile tx="0" ty="0" sx="100000" sy="100000" flip="none" algn="tl"/>
                    </a:blipFill>
                  </a:tcPr>
                </a:tc>
                <a:extLst>
                  <a:ext uri="{0D108BD9-81ED-4DB2-BD59-A6C34878D82A}">
                    <a16:rowId xmlns:a16="http://schemas.microsoft.com/office/drawing/2014/main" val="1583347175"/>
                  </a:ext>
                </a:extLst>
              </a:tr>
            </a:tbl>
          </a:graphicData>
        </a:graphic>
      </p:graphicFrame>
      <p:sp>
        <p:nvSpPr>
          <p:cNvPr id="7" name="Slide Number Placeholder 6">
            <a:extLst>
              <a:ext uri="{FF2B5EF4-FFF2-40B4-BE49-F238E27FC236}">
                <a16:creationId xmlns:a16="http://schemas.microsoft.com/office/drawing/2014/main" id="{F582C871-386A-3598-023D-B0041FB63AEB}"/>
              </a:ext>
            </a:extLst>
          </p:cNvPr>
          <p:cNvSpPr>
            <a:spLocks noGrp="1"/>
          </p:cNvSpPr>
          <p:nvPr>
            <p:ph type="sldNum" sz="quarter" idx="12"/>
          </p:nvPr>
        </p:nvSpPr>
        <p:spPr/>
        <p:txBody>
          <a:bodyPr/>
          <a:lstStyle/>
          <a:p>
            <a:fld id="{BDA8D12A-5188-A74B-8183-7E806E12A340}" type="slidenum">
              <a:rPr lang="en-US" smtClean="0"/>
              <a:t>14</a:t>
            </a:fld>
            <a:endParaRPr lang="en-US"/>
          </a:p>
        </p:txBody>
      </p:sp>
    </p:spTree>
    <p:extLst>
      <p:ext uri="{BB962C8B-B14F-4D97-AF65-F5344CB8AC3E}">
        <p14:creationId xmlns:p14="http://schemas.microsoft.com/office/powerpoint/2010/main" val="23024725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B08EB-BA2C-A48D-514B-B9BEA98EB97F}"/>
              </a:ext>
            </a:extLst>
          </p:cNvPr>
          <p:cNvSpPr>
            <a:spLocks noGrp="1"/>
          </p:cNvSpPr>
          <p:nvPr>
            <p:ph type="title"/>
          </p:nvPr>
        </p:nvSpPr>
        <p:spPr/>
        <p:txBody>
          <a:bodyPr>
            <a:normAutofit/>
          </a:bodyPr>
          <a:lstStyle/>
          <a:p>
            <a:r>
              <a:rPr lang="en-US" dirty="0"/>
              <a:t>Approach </a:t>
            </a:r>
          </a:p>
        </p:txBody>
      </p:sp>
      <p:sp>
        <p:nvSpPr>
          <p:cNvPr id="3" name="Content Placeholder 2">
            <a:extLst>
              <a:ext uri="{FF2B5EF4-FFF2-40B4-BE49-F238E27FC236}">
                <a16:creationId xmlns:a16="http://schemas.microsoft.com/office/drawing/2014/main" id="{F8CD3BA8-CB62-AB24-0B99-0A708E366EF1}"/>
              </a:ext>
            </a:extLst>
          </p:cNvPr>
          <p:cNvSpPr>
            <a:spLocks noGrp="1"/>
          </p:cNvSpPr>
          <p:nvPr>
            <p:ph idx="1"/>
          </p:nvPr>
        </p:nvSpPr>
        <p:spPr/>
        <p:txBody>
          <a:bodyPr>
            <a:normAutofit fontScale="92500" lnSpcReduction="10000"/>
          </a:bodyPr>
          <a:lstStyle/>
          <a:p>
            <a:pPr marL="514350" indent="-514350">
              <a:buFont typeface="+mj-lt"/>
              <a:buAutoNum type="arabicPeriod"/>
            </a:pPr>
            <a:r>
              <a:rPr lang="en-US" dirty="0"/>
              <a:t>Data Creation Stage:</a:t>
            </a:r>
          </a:p>
          <a:p>
            <a:pPr lvl="1"/>
            <a:r>
              <a:rPr lang="en-US" dirty="0"/>
              <a:t>Extract acronyms and candidate expansions from over 1M PubMed Research Papers using regular expressions.</a:t>
            </a:r>
          </a:p>
          <a:p>
            <a:pPr lvl="1"/>
            <a:r>
              <a:rPr lang="en-US" dirty="0"/>
              <a:t>Clean extracted acronym-expansion pairs using a rule-set.</a:t>
            </a:r>
          </a:p>
          <a:p>
            <a:pPr lvl="2"/>
            <a:r>
              <a:rPr lang="en-US" dirty="0"/>
              <a:t>1,257 acronyms and 8,287 expansions.</a:t>
            </a:r>
          </a:p>
          <a:p>
            <a:pPr lvl="2"/>
            <a:r>
              <a:rPr lang="en-US" dirty="0"/>
              <a:t>Average number of expansions per acronym is 6.6 (min=2, max=50)</a:t>
            </a:r>
          </a:p>
          <a:p>
            <a:pPr lvl="1"/>
            <a:r>
              <a:rPr lang="en-US" dirty="0"/>
              <a:t>Extract context information for each acronym-expansion pair using a window.</a:t>
            </a:r>
          </a:p>
          <a:p>
            <a:pPr lvl="1"/>
            <a:endParaRPr lang="en-US" dirty="0"/>
          </a:p>
          <a:p>
            <a:pPr marL="514350" indent="-514350">
              <a:buFont typeface="+mj-lt"/>
              <a:buAutoNum type="arabicPeriod"/>
            </a:pPr>
            <a:r>
              <a:rPr lang="en-US" dirty="0"/>
              <a:t>Model Development Stage:</a:t>
            </a:r>
          </a:p>
          <a:p>
            <a:pPr lvl="1"/>
            <a:r>
              <a:rPr lang="en-US" dirty="0"/>
              <a:t>Train Logistic Regression and </a:t>
            </a:r>
            <a:r>
              <a:rPr lang="en-US" dirty="0" err="1"/>
              <a:t>BioBERT</a:t>
            </a:r>
            <a:endParaRPr lang="en-US" dirty="0"/>
          </a:p>
          <a:p>
            <a:pPr lvl="2"/>
            <a:r>
              <a:rPr lang="en-US" b="1" dirty="0"/>
              <a:t>Input</a:t>
            </a:r>
            <a:r>
              <a:rPr lang="en-US" dirty="0"/>
              <a:t>: acronym + surrounding context</a:t>
            </a:r>
          </a:p>
          <a:p>
            <a:pPr lvl="2"/>
            <a:r>
              <a:rPr lang="en-US" b="1" dirty="0"/>
              <a:t>Output</a:t>
            </a:r>
            <a:r>
              <a:rPr lang="en-US" dirty="0"/>
              <a:t>: expansion</a:t>
            </a:r>
          </a:p>
          <a:p>
            <a:pPr lvl="1"/>
            <a:r>
              <a:rPr lang="en-US" dirty="0"/>
              <a:t>Evaluate on a manually annotated test set of clinical notes</a:t>
            </a:r>
          </a:p>
        </p:txBody>
      </p:sp>
      <p:sp>
        <p:nvSpPr>
          <p:cNvPr id="5" name="TextBox 4">
            <a:extLst>
              <a:ext uri="{FF2B5EF4-FFF2-40B4-BE49-F238E27FC236}">
                <a16:creationId xmlns:a16="http://schemas.microsoft.com/office/drawing/2014/main" id="{C9713FBF-CFAC-9B7E-EFC6-81F024D6B1DE}"/>
              </a:ext>
            </a:extLst>
          </p:cNvPr>
          <p:cNvSpPr txBox="1"/>
          <p:nvPr/>
        </p:nvSpPr>
        <p:spPr>
          <a:xfrm>
            <a:off x="948381" y="6297141"/>
            <a:ext cx="9023521" cy="369332"/>
          </a:xfrm>
          <a:prstGeom prst="rect">
            <a:avLst/>
          </a:prstGeom>
          <a:noFill/>
        </p:spPr>
        <p:txBody>
          <a:bodyPr wrap="square">
            <a:spAutoFit/>
          </a:bodyPr>
          <a:lstStyle/>
          <a:p>
            <a:pPr marL="0" indent="0">
              <a:buNone/>
            </a:pPr>
            <a:r>
              <a:rPr lang="en-US" b="1" dirty="0"/>
              <a:t>Note: </a:t>
            </a:r>
            <a:r>
              <a:rPr lang="en-US" dirty="0"/>
              <a:t>For this task, we focus on the medical domain: </a:t>
            </a:r>
            <a:r>
              <a:rPr lang="en-US" b="1" i="1" dirty="0"/>
              <a:t>Prenatal Exposure</a:t>
            </a:r>
          </a:p>
        </p:txBody>
      </p:sp>
      <p:sp>
        <p:nvSpPr>
          <p:cNvPr id="9" name="Slide Number Placeholder 8">
            <a:extLst>
              <a:ext uri="{FF2B5EF4-FFF2-40B4-BE49-F238E27FC236}">
                <a16:creationId xmlns:a16="http://schemas.microsoft.com/office/drawing/2014/main" id="{CC3C7A5A-A6BE-1C49-1F83-7766D305D0E8}"/>
              </a:ext>
            </a:extLst>
          </p:cNvPr>
          <p:cNvSpPr>
            <a:spLocks noGrp="1"/>
          </p:cNvSpPr>
          <p:nvPr>
            <p:ph type="sldNum" sz="quarter" idx="12"/>
          </p:nvPr>
        </p:nvSpPr>
        <p:spPr/>
        <p:txBody>
          <a:bodyPr/>
          <a:lstStyle/>
          <a:p>
            <a:fld id="{BDA8D12A-5188-A74B-8183-7E806E12A340}" type="slidenum">
              <a:rPr lang="en-US" smtClean="0"/>
              <a:t>15</a:t>
            </a:fld>
            <a:endParaRPr lang="en-US"/>
          </a:p>
        </p:txBody>
      </p:sp>
    </p:spTree>
    <p:extLst>
      <p:ext uri="{BB962C8B-B14F-4D97-AF65-F5344CB8AC3E}">
        <p14:creationId xmlns:p14="http://schemas.microsoft.com/office/powerpoint/2010/main" val="1999250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6010B-F093-F909-E031-9CEFB9BB2AF0}"/>
              </a:ext>
            </a:extLst>
          </p:cNvPr>
          <p:cNvSpPr>
            <a:spLocks noGrp="1"/>
          </p:cNvSpPr>
          <p:nvPr>
            <p:ph type="title"/>
          </p:nvPr>
        </p:nvSpPr>
        <p:spPr/>
        <p:txBody>
          <a:bodyPr>
            <a:normAutofit/>
          </a:bodyPr>
          <a:lstStyle/>
          <a:p>
            <a:r>
              <a:rPr lang="en-US" sz="3000" dirty="0"/>
              <a:t>Evaluation on Mimic-III Clinical Notes</a:t>
            </a:r>
          </a:p>
        </p:txBody>
      </p:sp>
      <p:pic>
        <p:nvPicPr>
          <p:cNvPr id="16386" name="Picture 2">
            <a:extLst>
              <a:ext uri="{FF2B5EF4-FFF2-40B4-BE49-F238E27FC236}">
                <a16:creationId xmlns:a16="http://schemas.microsoft.com/office/drawing/2014/main" id="{B8E36559-1E18-7057-684C-7553D5FB171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342131"/>
            <a:ext cx="5704225" cy="5418333"/>
          </a:xfrm>
          <a:prstGeom prst="rect">
            <a:avLst/>
          </a:prstGeom>
          <a:noFill/>
          <a:extLst>
            <a:ext uri="{909E8E84-426E-40DD-AFC4-6F175D3DCCD1}">
              <a14:hiddenFill xmlns:a14="http://schemas.microsoft.com/office/drawing/2010/main">
                <a:solidFill>
                  <a:srgbClr val="FFFFFF"/>
                </a:solidFill>
              </a14:hiddenFill>
            </a:ext>
          </a:extLst>
        </p:spPr>
      </p:pic>
      <p:sp>
        <p:nvSpPr>
          <p:cNvPr id="4" name="Rounded Rectangle 3">
            <a:extLst>
              <a:ext uri="{FF2B5EF4-FFF2-40B4-BE49-F238E27FC236}">
                <a16:creationId xmlns:a16="http://schemas.microsoft.com/office/drawing/2014/main" id="{9A75ADA2-39EC-D439-11E1-0CB67CA44ECB}"/>
              </a:ext>
            </a:extLst>
          </p:cNvPr>
          <p:cNvSpPr/>
          <p:nvPr/>
        </p:nvSpPr>
        <p:spPr>
          <a:xfrm>
            <a:off x="7107936" y="1170255"/>
            <a:ext cx="4943856" cy="1463216"/>
          </a:xfrm>
          <a:prstGeom prst="roundRect">
            <a:avLst/>
          </a:prstGeom>
          <a:solidFill>
            <a:schemeClr val="accent2"/>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Equal vs Unequal class distribution for 9 acronyms on the Mimic-III dataset.</a:t>
            </a:r>
          </a:p>
          <a:p>
            <a:r>
              <a:rPr lang="en-US" b="1" dirty="0"/>
              <a:t>Overall accuracy</a:t>
            </a:r>
            <a:r>
              <a:rPr lang="en-US" dirty="0"/>
              <a:t>: 63.04% (dotted line is random acc)</a:t>
            </a:r>
          </a:p>
          <a:p>
            <a:r>
              <a:rPr lang="en-US" b="1" dirty="0"/>
              <a:t>Overall random baseline accuracy: </a:t>
            </a:r>
            <a:r>
              <a:rPr lang="en-US" dirty="0"/>
              <a:t>17.6%</a:t>
            </a:r>
            <a:endParaRPr lang="en-US" b="1" dirty="0"/>
          </a:p>
        </p:txBody>
      </p:sp>
      <p:sp>
        <p:nvSpPr>
          <p:cNvPr id="3" name="Rounded Rectangle 2">
            <a:extLst>
              <a:ext uri="{FF2B5EF4-FFF2-40B4-BE49-F238E27FC236}">
                <a16:creationId xmlns:a16="http://schemas.microsoft.com/office/drawing/2014/main" id="{7A372454-D46D-B116-49CD-F8098F40F730}"/>
              </a:ext>
            </a:extLst>
          </p:cNvPr>
          <p:cNvSpPr/>
          <p:nvPr/>
        </p:nvSpPr>
        <p:spPr>
          <a:xfrm>
            <a:off x="10479024" y="2766220"/>
            <a:ext cx="1572768" cy="3520758"/>
          </a:xfrm>
          <a:prstGeom prst="roundRect">
            <a:avLst/>
          </a:prstGeom>
          <a:solidFill>
            <a:schemeClr val="accent6"/>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Number of Expansions per acronym:</a:t>
            </a:r>
          </a:p>
          <a:p>
            <a:pPr marL="285750" indent="-285750">
              <a:buFont typeface="Arial" panose="020B0604020202020204" pitchFamily="34" charset="0"/>
              <a:buChar char="•"/>
            </a:pPr>
            <a:r>
              <a:rPr lang="en-US" b="1" dirty="0"/>
              <a:t>PEG</a:t>
            </a:r>
            <a:r>
              <a:rPr lang="en-US" dirty="0"/>
              <a:t>: 7</a:t>
            </a:r>
          </a:p>
          <a:p>
            <a:pPr marL="285750" indent="-285750">
              <a:buFont typeface="Arial" panose="020B0604020202020204" pitchFamily="34" charset="0"/>
              <a:buChar char="•"/>
            </a:pPr>
            <a:r>
              <a:rPr lang="en-US" b="1" dirty="0"/>
              <a:t>HS</a:t>
            </a:r>
            <a:r>
              <a:rPr lang="en-US" dirty="0"/>
              <a:t>: 29</a:t>
            </a:r>
          </a:p>
          <a:p>
            <a:pPr marL="285750" indent="-285750">
              <a:buFont typeface="Arial" panose="020B0604020202020204" pitchFamily="34" charset="0"/>
              <a:buChar char="•"/>
            </a:pPr>
            <a:r>
              <a:rPr lang="en-US" b="1" dirty="0"/>
              <a:t>IVF</a:t>
            </a:r>
            <a:r>
              <a:rPr lang="en-US" dirty="0"/>
              <a:t>: 7</a:t>
            </a:r>
          </a:p>
          <a:p>
            <a:pPr marL="285750" indent="-285750">
              <a:buFont typeface="Arial" panose="020B0604020202020204" pitchFamily="34" charset="0"/>
              <a:buChar char="•"/>
            </a:pPr>
            <a:r>
              <a:rPr lang="en-US" b="1" dirty="0"/>
              <a:t>GA</a:t>
            </a:r>
            <a:r>
              <a:rPr lang="en-US" dirty="0"/>
              <a:t>: 20</a:t>
            </a:r>
          </a:p>
          <a:p>
            <a:pPr marL="285750" indent="-285750">
              <a:buFont typeface="Arial" panose="020B0604020202020204" pitchFamily="34" charset="0"/>
              <a:buChar char="•"/>
            </a:pPr>
            <a:r>
              <a:rPr lang="en-US" b="1" dirty="0"/>
              <a:t>ELBW</a:t>
            </a:r>
            <a:r>
              <a:rPr lang="en-US" dirty="0"/>
              <a:t>: 4</a:t>
            </a:r>
          </a:p>
          <a:p>
            <a:pPr marL="285750" indent="-285750">
              <a:buFont typeface="Arial" panose="020B0604020202020204" pitchFamily="34" charset="0"/>
              <a:buChar char="•"/>
            </a:pPr>
            <a:r>
              <a:rPr lang="en-US" b="1" dirty="0"/>
              <a:t>MRSA</a:t>
            </a:r>
            <a:r>
              <a:rPr lang="en-US" dirty="0"/>
              <a:t>: 2</a:t>
            </a:r>
          </a:p>
          <a:p>
            <a:pPr marL="285750" indent="-285750">
              <a:buFont typeface="Arial" panose="020B0604020202020204" pitchFamily="34" charset="0"/>
              <a:buChar char="•"/>
            </a:pPr>
            <a:r>
              <a:rPr lang="en-US" b="1" dirty="0"/>
              <a:t>REM: </a:t>
            </a:r>
            <a:r>
              <a:rPr lang="en-US" dirty="0"/>
              <a:t>5</a:t>
            </a:r>
          </a:p>
          <a:p>
            <a:pPr marL="285750" indent="-285750">
              <a:buFont typeface="Arial" panose="020B0604020202020204" pitchFamily="34" charset="0"/>
              <a:buChar char="•"/>
            </a:pPr>
            <a:r>
              <a:rPr lang="en-US" b="1" dirty="0"/>
              <a:t>PROM: </a:t>
            </a:r>
            <a:r>
              <a:rPr lang="en-US" dirty="0"/>
              <a:t>5</a:t>
            </a:r>
          </a:p>
          <a:p>
            <a:pPr marL="285750" indent="-285750">
              <a:buFont typeface="Arial" panose="020B0604020202020204" pitchFamily="34" charset="0"/>
              <a:buChar char="•"/>
            </a:pPr>
            <a:r>
              <a:rPr lang="en-US" b="1" dirty="0"/>
              <a:t>PSA: </a:t>
            </a:r>
            <a:r>
              <a:rPr lang="en-US" dirty="0"/>
              <a:t>15</a:t>
            </a:r>
          </a:p>
        </p:txBody>
      </p:sp>
      <p:sp>
        <p:nvSpPr>
          <p:cNvPr id="8" name="Rounded Rectangle 7">
            <a:extLst>
              <a:ext uri="{FF2B5EF4-FFF2-40B4-BE49-F238E27FC236}">
                <a16:creationId xmlns:a16="http://schemas.microsoft.com/office/drawing/2014/main" id="{58F62D72-F6CF-04D1-0B7D-153D7ABA7494}"/>
              </a:ext>
            </a:extLst>
          </p:cNvPr>
          <p:cNvSpPr/>
          <p:nvPr/>
        </p:nvSpPr>
        <p:spPr>
          <a:xfrm>
            <a:off x="7107936" y="2731007"/>
            <a:ext cx="3060192" cy="4126993"/>
          </a:xfrm>
          <a:prstGeom prst="roundRect">
            <a:avLst/>
          </a:prstGeom>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Reasons for some acronyms performing poorly:</a:t>
            </a:r>
          </a:p>
          <a:p>
            <a:pPr marL="285750" indent="-285750">
              <a:buFont typeface="Arial" panose="020B0604020202020204" pitchFamily="34" charset="0"/>
              <a:buChar char="•"/>
            </a:pPr>
            <a:r>
              <a:rPr lang="en-US" dirty="0"/>
              <a:t>Some expansions missing from our PubMed dataset (</a:t>
            </a:r>
            <a:r>
              <a:rPr lang="en-US" b="1" dirty="0"/>
              <a:t>HS</a:t>
            </a:r>
            <a:r>
              <a:rPr lang="en-US" dirty="0"/>
              <a:t>: Heart sounds) </a:t>
            </a:r>
          </a:p>
          <a:p>
            <a:pPr marL="285750" indent="-285750">
              <a:buFont typeface="Arial" panose="020B0604020202020204" pitchFamily="34" charset="0"/>
              <a:buChar char="•"/>
            </a:pPr>
            <a:r>
              <a:rPr lang="en-US" dirty="0"/>
              <a:t>Several misspellings (‘his’, ‘has’ </a:t>
            </a:r>
            <a:r>
              <a:rPr lang="en-US" dirty="0">
                <a:sym typeface="Wingdings" pitchFamily="2" charset="2"/>
              </a:rPr>
              <a:t> </a:t>
            </a:r>
            <a:r>
              <a:rPr lang="en-US" dirty="0" err="1">
                <a:sym typeface="Wingdings" pitchFamily="2" charset="2"/>
              </a:rPr>
              <a:t>hs</a:t>
            </a:r>
            <a:r>
              <a:rPr lang="en-US" dirty="0"/>
              <a:t>) </a:t>
            </a:r>
          </a:p>
          <a:p>
            <a:pPr marL="285750" indent="-285750">
              <a:buFont typeface="Arial" panose="020B0604020202020204" pitchFamily="34" charset="0"/>
              <a:buChar char="•"/>
            </a:pPr>
            <a:r>
              <a:rPr lang="en-US" dirty="0"/>
              <a:t>Domain mismatch between Research text and Clinical Text</a:t>
            </a:r>
          </a:p>
        </p:txBody>
      </p:sp>
      <p:sp>
        <p:nvSpPr>
          <p:cNvPr id="11" name="Slide Number Placeholder 10">
            <a:extLst>
              <a:ext uri="{FF2B5EF4-FFF2-40B4-BE49-F238E27FC236}">
                <a16:creationId xmlns:a16="http://schemas.microsoft.com/office/drawing/2014/main" id="{7EBDEE90-AF42-A890-A709-ABC40B6724E6}"/>
              </a:ext>
            </a:extLst>
          </p:cNvPr>
          <p:cNvSpPr>
            <a:spLocks noGrp="1"/>
          </p:cNvSpPr>
          <p:nvPr>
            <p:ph type="sldNum" sz="quarter" idx="12"/>
          </p:nvPr>
        </p:nvSpPr>
        <p:spPr/>
        <p:txBody>
          <a:bodyPr/>
          <a:lstStyle/>
          <a:p>
            <a:fld id="{BDA8D12A-5188-A74B-8183-7E806E12A340}" type="slidenum">
              <a:rPr lang="en-US" smtClean="0"/>
              <a:t>16</a:t>
            </a:fld>
            <a:endParaRPr lang="en-US"/>
          </a:p>
        </p:txBody>
      </p:sp>
    </p:spTree>
    <p:extLst>
      <p:ext uri="{BB962C8B-B14F-4D97-AF65-F5344CB8AC3E}">
        <p14:creationId xmlns:p14="http://schemas.microsoft.com/office/powerpoint/2010/main" val="2469591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17855-49E6-6DC1-B59E-927428972B1D}"/>
              </a:ext>
            </a:extLst>
          </p:cNvPr>
          <p:cNvSpPr>
            <a:spLocks noGrp="1"/>
          </p:cNvSpPr>
          <p:nvPr>
            <p:ph type="title"/>
          </p:nvPr>
        </p:nvSpPr>
        <p:spPr/>
        <p:txBody>
          <a:bodyPr>
            <a:normAutofit/>
          </a:bodyPr>
          <a:lstStyle/>
          <a:p>
            <a:r>
              <a:rPr lang="en-US" dirty="0"/>
              <a:t>Contributions and Conclusion</a:t>
            </a:r>
          </a:p>
        </p:txBody>
      </p:sp>
      <p:sp>
        <p:nvSpPr>
          <p:cNvPr id="3" name="Content Placeholder 2">
            <a:extLst>
              <a:ext uri="{FF2B5EF4-FFF2-40B4-BE49-F238E27FC236}">
                <a16:creationId xmlns:a16="http://schemas.microsoft.com/office/drawing/2014/main" id="{248D7C8D-9C5E-4119-A54C-B97A5C5BA9A2}"/>
              </a:ext>
            </a:extLst>
          </p:cNvPr>
          <p:cNvSpPr>
            <a:spLocks noGrp="1"/>
          </p:cNvSpPr>
          <p:nvPr>
            <p:ph idx="1"/>
          </p:nvPr>
        </p:nvSpPr>
        <p:spPr>
          <a:xfrm>
            <a:off x="838200" y="1825624"/>
            <a:ext cx="10515600" cy="3314787"/>
          </a:xfrm>
        </p:spPr>
        <p:txBody>
          <a:bodyPr>
            <a:normAutofit fontScale="62500" lnSpcReduction="20000"/>
          </a:bodyPr>
          <a:lstStyle/>
          <a:p>
            <a:pPr>
              <a:lnSpc>
                <a:spcPct val="100000"/>
              </a:lnSpc>
            </a:pPr>
            <a:r>
              <a:rPr lang="en-US" dirty="0"/>
              <a:t>Created a dataset of 1,257 acronyms and 8,287 expansions with context information</a:t>
            </a:r>
          </a:p>
          <a:p>
            <a:pPr lvl="1">
              <a:lnSpc>
                <a:spcPct val="100000"/>
              </a:lnSpc>
            </a:pPr>
            <a:r>
              <a:rPr lang="en-US" dirty="0"/>
              <a:t>Used scientific research papers from PubMed </a:t>
            </a:r>
            <a:r>
              <a:rPr lang="en-US" dirty="0">
                <a:sym typeface="Wingdings" pitchFamily="2" charset="2"/>
              </a:rPr>
              <a:t> Previous approaches focused on Wikipedia, Medical webpages (MedlinePlus), and manually annotated clinical notes</a:t>
            </a:r>
          </a:p>
          <a:p>
            <a:pPr>
              <a:lnSpc>
                <a:spcPct val="100000"/>
              </a:lnSpc>
            </a:pPr>
            <a:r>
              <a:rPr lang="en-US" dirty="0"/>
              <a:t>Used </a:t>
            </a:r>
            <a:r>
              <a:rPr lang="en-US" dirty="0" err="1"/>
              <a:t>BioBERT</a:t>
            </a:r>
            <a:r>
              <a:rPr lang="en-US" dirty="0"/>
              <a:t> </a:t>
            </a:r>
          </a:p>
          <a:p>
            <a:pPr lvl="1">
              <a:lnSpc>
                <a:spcPct val="100000"/>
              </a:lnSpc>
            </a:pPr>
            <a:r>
              <a:rPr lang="en-US" dirty="0"/>
              <a:t>Past work used ngram features, word embeddings (word2vec) with CNNs, manually created features, Topic Modelling.</a:t>
            </a:r>
          </a:p>
          <a:p>
            <a:pPr>
              <a:lnSpc>
                <a:spcPct val="100000"/>
              </a:lnSpc>
            </a:pPr>
            <a:r>
              <a:rPr lang="en-US" b="0" i="0" u="none" strike="noStrike" dirty="0">
                <a:solidFill>
                  <a:srgbClr val="1F1F1F"/>
                </a:solidFill>
                <a:effectLst/>
                <a:latin typeface="ElsevierGulliver"/>
              </a:rPr>
              <a:t>42.19 % acronyms in our dataset do not occur in UMLS and Medline</a:t>
            </a:r>
            <a:r>
              <a:rPr lang="en-US" b="0" i="0" u="none" strike="noStrike" baseline="30000" dirty="0">
                <a:solidFill>
                  <a:srgbClr val="1F1F1F"/>
                </a:solidFill>
                <a:effectLst/>
                <a:latin typeface="ElsevierGulliver"/>
              </a:rPr>
              <a:t>1</a:t>
            </a:r>
            <a:r>
              <a:rPr lang="en-US" b="0" i="0" u="none" strike="noStrike" dirty="0">
                <a:solidFill>
                  <a:srgbClr val="1F1F1F"/>
                </a:solidFill>
                <a:effectLst/>
                <a:latin typeface="ElsevierGulliver"/>
              </a:rPr>
              <a:t>.</a:t>
            </a:r>
          </a:p>
          <a:p>
            <a:pPr>
              <a:lnSpc>
                <a:spcPct val="100000"/>
              </a:lnSpc>
            </a:pPr>
            <a:r>
              <a:rPr lang="en-US" dirty="0"/>
              <a:t>Cost Effective: Distantly supervised approach removes the need for manually annotated training data.</a:t>
            </a:r>
          </a:p>
          <a:p>
            <a:pPr lvl="1">
              <a:lnSpc>
                <a:spcPct val="100000"/>
              </a:lnSpc>
            </a:pPr>
            <a:r>
              <a:rPr lang="en-US" dirty="0"/>
              <a:t>Researchers</a:t>
            </a:r>
            <a:r>
              <a:rPr lang="en-US" baseline="30000" dirty="0"/>
              <a:t>2</a:t>
            </a:r>
            <a:r>
              <a:rPr lang="en-US" dirty="0"/>
              <a:t> have spent $100,000 to annotate 13,091 sentences </a:t>
            </a:r>
            <a:r>
              <a:rPr lang="en-US" dirty="0">
                <a:sym typeface="Wingdings" pitchFamily="2" charset="2"/>
              </a:rPr>
              <a:t> $7.64 per sentence.</a:t>
            </a:r>
          </a:p>
          <a:p>
            <a:pPr lvl="1">
              <a:lnSpc>
                <a:spcPct val="100000"/>
              </a:lnSpc>
            </a:pPr>
            <a:r>
              <a:rPr lang="en-US" dirty="0">
                <a:sym typeface="Wingdings" pitchFamily="2" charset="2"/>
              </a:rPr>
              <a:t>Moon et al., 2012</a:t>
            </a:r>
            <a:r>
              <a:rPr lang="en-US" baseline="30000" dirty="0">
                <a:sym typeface="Wingdings" pitchFamily="2" charset="2"/>
              </a:rPr>
              <a:t>3</a:t>
            </a:r>
            <a:r>
              <a:rPr lang="en-US" dirty="0">
                <a:sym typeface="Wingdings" pitchFamily="2" charset="2"/>
              </a:rPr>
              <a:t> suggested 500 training annotations required per acronym.</a:t>
            </a:r>
          </a:p>
          <a:p>
            <a:pPr lvl="1">
              <a:lnSpc>
                <a:spcPct val="100000"/>
              </a:lnSpc>
            </a:pPr>
            <a:r>
              <a:rPr lang="en-US" dirty="0">
                <a:sym typeface="Wingdings" pitchFamily="2" charset="2"/>
              </a:rPr>
              <a:t>Approximate cost to annotate 8,287 acronyms is ~$32 Million.</a:t>
            </a:r>
          </a:p>
        </p:txBody>
      </p:sp>
      <p:sp>
        <p:nvSpPr>
          <p:cNvPr id="4" name="TextBox 3">
            <a:extLst>
              <a:ext uri="{FF2B5EF4-FFF2-40B4-BE49-F238E27FC236}">
                <a16:creationId xmlns:a16="http://schemas.microsoft.com/office/drawing/2014/main" id="{41BC5E55-E4DD-A032-33D0-8EC7172E7EEE}"/>
              </a:ext>
            </a:extLst>
          </p:cNvPr>
          <p:cNvSpPr txBox="1"/>
          <p:nvPr/>
        </p:nvSpPr>
        <p:spPr>
          <a:xfrm>
            <a:off x="144649" y="5174753"/>
            <a:ext cx="11902699" cy="461665"/>
          </a:xfrm>
          <a:prstGeom prst="rect">
            <a:avLst/>
          </a:prstGeom>
          <a:noFill/>
        </p:spPr>
        <p:txBody>
          <a:bodyPr wrap="square" rtlCol="0">
            <a:spAutoFit/>
          </a:bodyPr>
          <a:lstStyle/>
          <a:p>
            <a:r>
              <a:rPr lang="en-US" sz="1200" b="0" i="0" u="none" strike="noStrike" dirty="0">
                <a:solidFill>
                  <a:srgbClr val="222222"/>
                </a:solidFill>
                <a:effectLst/>
                <a:latin typeface="Arial" panose="020B0604020202020204" pitchFamily="34" charset="0"/>
              </a:rPr>
              <a:t>1. Wu, Stephen, and </a:t>
            </a:r>
            <a:r>
              <a:rPr lang="en-US" sz="1200" b="0" i="0" u="none" strike="noStrike" dirty="0" err="1">
                <a:solidFill>
                  <a:srgbClr val="222222"/>
                </a:solidFill>
                <a:effectLst/>
                <a:latin typeface="Arial" panose="020B0604020202020204" pitchFamily="34" charset="0"/>
              </a:rPr>
              <a:t>Hongfang</a:t>
            </a:r>
            <a:r>
              <a:rPr lang="en-US" sz="1200" b="0" i="0" u="none" strike="noStrike" dirty="0">
                <a:solidFill>
                  <a:srgbClr val="222222"/>
                </a:solidFill>
                <a:effectLst/>
                <a:latin typeface="Arial" panose="020B0604020202020204" pitchFamily="34" charset="0"/>
              </a:rPr>
              <a:t> Liu. "Semantic characteristics of NLP-extracted concepts in clinical notes vs. biomedical literature." </a:t>
            </a:r>
            <a:r>
              <a:rPr lang="en-US" sz="1200" b="0" i="1" u="none" strike="noStrike" dirty="0">
                <a:solidFill>
                  <a:srgbClr val="222222"/>
                </a:solidFill>
                <a:effectLst/>
                <a:latin typeface="Arial" panose="020B0604020202020204" pitchFamily="34" charset="0"/>
              </a:rPr>
              <a:t>AMIA Annual Symposium Proceedings</a:t>
            </a:r>
            <a:r>
              <a:rPr lang="en-US" sz="1200" b="0" i="0" u="none" strike="noStrike" dirty="0">
                <a:solidFill>
                  <a:srgbClr val="222222"/>
                </a:solidFill>
                <a:effectLst/>
                <a:latin typeface="Arial" panose="020B0604020202020204" pitchFamily="34" charset="0"/>
              </a:rPr>
              <a:t>. Vol. 2011. American Medical Informatics Association, 2011.</a:t>
            </a:r>
            <a:endParaRPr lang="en-US" sz="1200" dirty="0"/>
          </a:p>
        </p:txBody>
      </p:sp>
      <p:sp>
        <p:nvSpPr>
          <p:cNvPr id="7" name="TextBox 6">
            <a:extLst>
              <a:ext uri="{FF2B5EF4-FFF2-40B4-BE49-F238E27FC236}">
                <a16:creationId xmlns:a16="http://schemas.microsoft.com/office/drawing/2014/main" id="{B8559C3B-E815-C9D0-26D5-4C658C97A3A2}"/>
              </a:ext>
            </a:extLst>
          </p:cNvPr>
          <p:cNvSpPr txBox="1"/>
          <p:nvPr/>
        </p:nvSpPr>
        <p:spPr>
          <a:xfrm>
            <a:off x="144649" y="5636418"/>
            <a:ext cx="11902699" cy="461665"/>
          </a:xfrm>
          <a:prstGeom prst="rect">
            <a:avLst/>
          </a:prstGeom>
          <a:noFill/>
        </p:spPr>
        <p:txBody>
          <a:bodyPr wrap="square" rtlCol="0">
            <a:spAutoFit/>
          </a:bodyPr>
          <a:lstStyle/>
          <a:p>
            <a:r>
              <a:rPr lang="en-US" sz="1200" dirty="0">
                <a:solidFill>
                  <a:srgbClr val="222222"/>
                </a:solidFill>
                <a:latin typeface="Arial" panose="020B0604020202020204" pitchFamily="34" charset="0"/>
                <a:cs typeface="Arial" panose="020B0604020202020204" pitchFamily="34" charset="0"/>
              </a:rPr>
              <a:t>2.</a:t>
            </a:r>
            <a:r>
              <a:rPr lang="en-US" sz="1200" b="0" i="0" u="none" strike="noStrike" dirty="0">
                <a:solidFill>
                  <a:srgbClr val="222222"/>
                </a:solidFill>
                <a:effectLst/>
                <a:latin typeface="Arial" panose="020B0604020202020204" pitchFamily="34" charset="0"/>
                <a:cs typeface="Arial" panose="020B0604020202020204" pitchFamily="34" charset="0"/>
              </a:rPr>
              <a:t> </a:t>
            </a:r>
            <a:r>
              <a:rPr lang="en-US" sz="1200" b="0" i="0" u="none" strike="noStrike" dirty="0">
                <a:solidFill>
                  <a:srgbClr val="1F1F1F"/>
                </a:solidFill>
                <a:effectLst/>
                <a:latin typeface="Arial" panose="020B0604020202020204" pitchFamily="34" charset="0"/>
                <a:cs typeface="Arial" panose="020B0604020202020204" pitchFamily="34" charset="0"/>
              </a:rPr>
              <a:t>D. Albright, A. Lanfranchi, </a:t>
            </a:r>
            <a:r>
              <a:rPr lang="en-US" sz="1200" b="0" i="0" u="none" strike="noStrike" dirty="0" err="1">
                <a:solidFill>
                  <a:srgbClr val="1F1F1F"/>
                </a:solidFill>
                <a:effectLst/>
                <a:latin typeface="Arial" panose="020B0604020202020204" pitchFamily="34" charset="0"/>
                <a:cs typeface="Arial" panose="020B0604020202020204" pitchFamily="34" charset="0"/>
              </a:rPr>
              <a:t>A.Fredriksen</a:t>
            </a:r>
            <a:r>
              <a:rPr lang="en-US" sz="1200" b="0" i="0" u="none" strike="noStrike" dirty="0">
                <a:solidFill>
                  <a:srgbClr val="1F1F1F"/>
                </a:solidFill>
                <a:effectLst/>
                <a:latin typeface="Arial" panose="020B0604020202020204" pitchFamily="34" charset="0"/>
                <a:cs typeface="Arial" panose="020B0604020202020204" pitchFamily="34" charset="0"/>
              </a:rPr>
              <a:t>, </a:t>
            </a:r>
            <a:r>
              <a:rPr lang="en-US" sz="1200" b="0" i="1" u="none" strike="noStrike" dirty="0">
                <a:solidFill>
                  <a:srgbClr val="1F1F1F"/>
                </a:solidFill>
                <a:effectLst/>
                <a:latin typeface="Arial" panose="020B0604020202020204" pitchFamily="34" charset="0"/>
                <a:cs typeface="Arial" panose="020B0604020202020204" pitchFamily="34" charset="0"/>
              </a:rPr>
              <a:t>et al., 2013: “</a:t>
            </a:r>
            <a:r>
              <a:rPr lang="en-US" sz="1200" b="0" i="0" u="none" strike="noStrike" dirty="0">
                <a:solidFill>
                  <a:srgbClr val="1F1F1F"/>
                </a:solidFill>
                <a:effectLst/>
                <a:latin typeface="Arial" panose="020B0604020202020204" pitchFamily="34" charset="0"/>
                <a:cs typeface="Arial" panose="020B0604020202020204" pitchFamily="34" charset="0"/>
              </a:rPr>
              <a:t>Towards comprehensive syntactic and semantic annotations of the clinical narrative”. </a:t>
            </a:r>
            <a:r>
              <a:rPr lang="en-US" sz="1200" b="0" i="1" u="none" strike="noStrike" dirty="0">
                <a:solidFill>
                  <a:srgbClr val="212121"/>
                </a:solidFill>
                <a:effectLst/>
                <a:latin typeface="Arial" panose="020B0604020202020204" pitchFamily="34" charset="0"/>
                <a:cs typeface="Arial" panose="020B0604020202020204" pitchFamily="34" charset="0"/>
              </a:rPr>
              <a:t>Journal of the American Medical Informatics Association : JAMIA</a:t>
            </a:r>
            <a:r>
              <a:rPr lang="en-US" sz="1200" b="0" i="0" u="none" strike="noStrike" dirty="0">
                <a:solidFill>
                  <a:srgbClr val="212121"/>
                </a:solidFill>
                <a:effectLst/>
                <a:latin typeface="Arial" panose="020B0604020202020204" pitchFamily="34" charset="0"/>
                <a:cs typeface="Arial" panose="020B0604020202020204" pitchFamily="34" charset="0"/>
              </a:rPr>
              <a:t>, </a:t>
            </a:r>
            <a:r>
              <a:rPr lang="en-US" sz="1200" b="0" i="1" u="none" strike="noStrike" dirty="0">
                <a:solidFill>
                  <a:srgbClr val="212121"/>
                </a:solidFill>
                <a:effectLst/>
                <a:latin typeface="Arial" panose="020B0604020202020204" pitchFamily="34" charset="0"/>
                <a:cs typeface="Arial" panose="020B0604020202020204" pitchFamily="34" charset="0"/>
              </a:rPr>
              <a:t>20</a:t>
            </a:r>
            <a:r>
              <a:rPr lang="en-US" sz="1200" b="0" i="0" u="none" strike="noStrike" dirty="0">
                <a:solidFill>
                  <a:srgbClr val="212121"/>
                </a:solidFill>
                <a:effectLst/>
                <a:latin typeface="Arial" panose="020B0604020202020204" pitchFamily="34" charset="0"/>
                <a:cs typeface="Arial" panose="020B0604020202020204" pitchFamily="34" charset="0"/>
              </a:rPr>
              <a:t>(5), 922–930.</a:t>
            </a:r>
            <a:endParaRPr lang="en-US" sz="12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BE13B58C-DFB5-848F-DF86-13A15C5D657E}"/>
              </a:ext>
            </a:extLst>
          </p:cNvPr>
          <p:cNvSpPr txBox="1"/>
          <p:nvPr/>
        </p:nvSpPr>
        <p:spPr>
          <a:xfrm>
            <a:off x="144648" y="6098083"/>
            <a:ext cx="11902699" cy="461665"/>
          </a:xfrm>
          <a:prstGeom prst="rect">
            <a:avLst/>
          </a:prstGeom>
          <a:noFill/>
        </p:spPr>
        <p:txBody>
          <a:bodyPr wrap="square" rtlCol="0">
            <a:spAutoFit/>
          </a:bodyPr>
          <a:lstStyle/>
          <a:p>
            <a:r>
              <a:rPr lang="en-US" sz="1200" dirty="0">
                <a:solidFill>
                  <a:srgbClr val="222222"/>
                </a:solidFill>
                <a:latin typeface="Arial" panose="020B0604020202020204" pitchFamily="34" charset="0"/>
                <a:cs typeface="Arial" panose="020B0604020202020204" pitchFamily="34" charset="0"/>
              </a:rPr>
              <a:t>3.</a:t>
            </a:r>
            <a:r>
              <a:rPr lang="en-US" sz="1200" b="0" i="0" u="none" strike="noStrike" dirty="0">
                <a:solidFill>
                  <a:srgbClr val="222222"/>
                </a:solidFill>
                <a:effectLst/>
                <a:latin typeface="Arial" panose="020B0604020202020204" pitchFamily="34" charset="0"/>
                <a:cs typeface="Arial" panose="020B0604020202020204" pitchFamily="34" charset="0"/>
              </a:rPr>
              <a:t> </a:t>
            </a:r>
            <a:r>
              <a:rPr lang="en-US" sz="1200" b="0" i="0" u="none" strike="noStrike" dirty="0">
                <a:solidFill>
                  <a:srgbClr val="1B1B1B"/>
                </a:solidFill>
                <a:effectLst/>
                <a:latin typeface="Arial" panose="020B0604020202020204" pitchFamily="34" charset="0"/>
                <a:cs typeface="Arial" panose="020B0604020202020204" pitchFamily="34" charset="0"/>
              </a:rPr>
              <a:t>Moon S, </a:t>
            </a:r>
            <a:r>
              <a:rPr lang="en-US" sz="1200" b="0" i="0" u="none" strike="noStrike" dirty="0" err="1">
                <a:solidFill>
                  <a:srgbClr val="1B1B1B"/>
                </a:solidFill>
                <a:effectLst/>
                <a:latin typeface="Arial" panose="020B0604020202020204" pitchFamily="34" charset="0"/>
                <a:cs typeface="Arial" panose="020B0604020202020204" pitchFamily="34" charset="0"/>
              </a:rPr>
              <a:t>Pakhomov</a:t>
            </a:r>
            <a:r>
              <a:rPr lang="en-US" sz="1200" b="0" i="0" u="none" strike="noStrike" dirty="0">
                <a:solidFill>
                  <a:srgbClr val="1B1B1B"/>
                </a:solidFill>
                <a:effectLst/>
                <a:latin typeface="Arial" panose="020B0604020202020204" pitchFamily="34" charset="0"/>
                <a:cs typeface="Arial" panose="020B0604020202020204" pitchFamily="34" charset="0"/>
              </a:rPr>
              <a:t> S, Melton GB, 2012 “Automated disambiguation of acronyms and abbreviations in clinical texts: window and training size considerations”</a:t>
            </a:r>
            <a:r>
              <a:rPr lang="en-US" sz="1200" b="0" i="0" u="none" strike="noStrike" dirty="0">
                <a:solidFill>
                  <a:srgbClr val="1F1F1F"/>
                </a:solidFill>
                <a:effectLst/>
                <a:latin typeface="Arial" panose="020B0604020202020204" pitchFamily="34" charset="0"/>
                <a:cs typeface="Arial" panose="020B0604020202020204" pitchFamily="34" charset="0"/>
              </a:rPr>
              <a:t>. </a:t>
            </a:r>
            <a:r>
              <a:rPr lang="en-US" sz="1200" b="0" i="1" u="none" strike="noStrike" dirty="0">
                <a:solidFill>
                  <a:srgbClr val="212121"/>
                </a:solidFill>
                <a:effectLst/>
                <a:latin typeface="Arial" panose="020B0604020202020204" pitchFamily="34" charset="0"/>
                <a:cs typeface="Arial" panose="020B0604020202020204" pitchFamily="34" charset="0"/>
              </a:rPr>
              <a:t>Journal of the American Medical Informatics Association : JAMIA</a:t>
            </a:r>
            <a:r>
              <a:rPr lang="en-US" sz="1200" b="0" i="0" u="none" strike="noStrike" dirty="0">
                <a:solidFill>
                  <a:srgbClr val="212121"/>
                </a:solidFill>
                <a:effectLst/>
                <a:latin typeface="Arial" panose="020B0604020202020204" pitchFamily="34" charset="0"/>
                <a:cs typeface="Arial" panose="020B0604020202020204" pitchFamily="34" charset="0"/>
              </a:rPr>
              <a:t>, </a:t>
            </a:r>
            <a:r>
              <a:rPr lang="en-US" sz="1200" b="0" i="1" u="none" strike="noStrike" dirty="0">
                <a:solidFill>
                  <a:srgbClr val="212121"/>
                </a:solidFill>
                <a:effectLst/>
                <a:latin typeface="Arial" panose="020B0604020202020204" pitchFamily="34" charset="0"/>
                <a:cs typeface="Arial" panose="020B0604020202020204" pitchFamily="34" charset="0"/>
              </a:rPr>
              <a:t>20</a:t>
            </a:r>
            <a:r>
              <a:rPr lang="en-US" sz="1200" b="0" i="0" u="none" strike="noStrike" dirty="0">
                <a:solidFill>
                  <a:srgbClr val="212121"/>
                </a:solidFill>
                <a:effectLst/>
                <a:latin typeface="Arial" panose="020B0604020202020204" pitchFamily="34" charset="0"/>
                <a:cs typeface="Arial" panose="020B0604020202020204" pitchFamily="34" charset="0"/>
              </a:rPr>
              <a:t>(5), 922–930.</a:t>
            </a:r>
            <a:endParaRPr lang="en-US" sz="12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DC7E7FB7-913E-F493-A50F-AA4A50FA9F11}"/>
              </a:ext>
            </a:extLst>
          </p:cNvPr>
          <p:cNvSpPr>
            <a:spLocks noGrp="1"/>
          </p:cNvSpPr>
          <p:nvPr>
            <p:ph type="sldNum" sz="quarter" idx="12"/>
          </p:nvPr>
        </p:nvSpPr>
        <p:spPr/>
        <p:txBody>
          <a:bodyPr/>
          <a:lstStyle/>
          <a:p>
            <a:fld id="{BDA8D12A-5188-A74B-8183-7E806E12A340}" type="slidenum">
              <a:rPr lang="en-US" smtClean="0"/>
              <a:t>17</a:t>
            </a:fld>
            <a:endParaRPr lang="en-US"/>
          </a:p>
        </p:txBody>
      </p:sp>
    </p:spTree>
    <p:extLst>
      <p:ext uri="{BB962C8B-B14F-4D97-AF65-F5344CB8AC3E}">
        <p14:creationId xmlns:p14="http://schemas.microsoft.com/office/powerpoint/2010/main" val="3761675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B1709-2088-1E5E-B424-EB9A521504F2}"/>
              </a:ext>
            </a:extLst>
          </p:cNvPr>
          <p:cNvSpPr>
            <a:spLocks noGrp="1"/>
          </p:cNvSpPr>
          <p:nvPr>
            <p:ph type="title"/>
          </p:nvPr>
        </p:nvSpPr>
        <p:spPr>
          <a:xfrm>
            <a:off x="935736" y="2523109"/>
            <a:ext cx="10515600" cy="1325563"/>
          </a:xfrm>
        </p:spPr>
        <p:txBody>
          <a:bodyPr/>
          <a:lstStyle/>
          <a:p>
            <a:r>
              <a:rPr lang="en-US" dirty="0"/>
              <a:t>Structured and Unstructured Long Document EHR classification</a:t>
            </a:r>
          </a:p>
        </p:txBody>
      </p:sp>
      <p:sp>
        <p:nvSpPr>
          <p:cNvPr id="4" name="TextBox 3">
            <a:extLst>
              <a:ext uri="{FF2B5EF4-FFF2-40B4-BE49-F238E27FC236}">
                <a16:creationId xmlns:a16="http://schemas.microsoft.com/office/drawing/2014/main" id="{6C8F841A-1542-2057-FB67-5D11ED5C3A0D}"/>
              </a:ext>
            </a:extLst>
          </p:cNvPr>
          <p:cNvSpPr txBox="1"/>
          <p:nvPr/>
        </p:nvSpPr>
        <p:spPr>
          <a:xfrm>
            <a:off x="1650841" y="4137286"/>
            <a:ext cx="8890317" cy="1477328"/>
          </a:xfrm>
          <a:prstGeom prst="rect">
            <a:avLst/>
          </a:prstGeom>
          <a:noFill/>
        </p:spPr>
        <p:txBody>
          <a:bodyPr wrap="square" rtlCol="0">
            <a:spAutoFit/>
          </a:bodyPr>
          <a:lstStyle/>
          <a:p>
            <a:r>
              <a:rPr lang="en-US" sz="1800" b="0" i="0" u="none" strike="noStrike" dirty="0">
                <a:effectLst/>
                <a:latin typeface="Arial" panose="020B0604020202020204" pitchFamily="34" charset="0"/>
              </a:rPr>
              <a:t>[Kashyap et al., 2023] Kashyap, Aditya, Chris </a:t>
            </a:r>
            <a:r>
              <a:rPr lang="en-US" sz="1800" b="0" i="0" u="none" strike="noStrike" dirty="0" err="1">
                <a:effectLst/>
                <a:latin typeface="Arial" panose="020B0604020202020204" pitchFamily="34" charset="0"/>
              </a:rPr>
              <a:t>Callison</a:t>
            </a:r>
            <a:r>
              <a:rPr lang="en-US" sz="1800" b="0" i="0" u="none" strike="noStrike" dirty="0">
                <a:effectLst/>
                <a:latin typeface="Arial" panose="020B0604020202020204" pitchFamily="34" charset="0"/>
              </a:rPr>
              <a:t>-Burch, and Mary Regina Boland. “A deep learning method to detect opioid prescription and opioid use disorder from electronic health records.” International Journal of Medical Informatics</a:t>
            </a:r>
            <a:br>
              <a:rPr lang="en-US" sz="1800" dirty="0"/>
            </a:br>
            <a:r>
              <a:rPr lang="en-US" sz="1800" b="0" i="0" u="none" strike="noStrike" dirty="0">
                <a:effectLst/>
                <a:latin typeface="Arial" panose="020B0604020202020204" pitchFamily="34" charset="0"/>
              </a:rPr>
              <a:t>171 (2023): 104979</a:t>
            </a:r>
            <a:endParaRPr lang="en-US" sz="1800" b="1" dirty="0"/>
          </a:p>
          <a:p>
            <a:endParaRPr lang="en-US" dirty="0"/>
          </a:p>
        </p:txBody>
      </p:sp>
      <p:sp>
        <p:nvSpPr>
          <p:cNvPr id="9" name="Slide Number Placeholder 8">
            <a:extLst>
              <a:ext uri="{FF2B5EF4-FFF2-40B4-BE49-F238E27FC236}">
                <a16:creationId xmlns:a16="http://schemas.microsoft.com/office/drawing/2014/main" id="{44EBAD97-C3C4-B0DA-1A9E-A4D08E894AD2}"/>
              </a:ext>
            </a:extLst>
          </p:cNvPr>
          <p:cNvSpPr>
            <a:spLocks noGrp="1"/>
          </p:cNvSpPr>
          <p:nvPr>
            <p:ph type="sldNum" sz="quarter" idx="12"/>
          </p:nvPr>
        </p:nvSpPr>
        <p:spPr/>
        <p:txBody>
          <a:bodyPr/>
          <a:lstStyle/>
          <a:p>
            <a:fld id="{BDA8D12A-5188-A74B-8183-7E806E12A340}" type="slidenum">
              <a:rPr lang="en-US" smtClean="0"/>
              <a:t>18</a:t>
            </a:fld>
            <a:endParaRPr lang="en-US"/>
          </a:p>
        </p:txBody>
      </p:sp>
    </p:spTree>
    <p:extLst>
      <p:ext uri="{BB962C8B-B14F-4D97-AF65-F5344CB8AC3E}">
        <p14:creationId xmlns:p14="http://schemas.microsoft.com/office/powerpoint/2010/main" val="1599570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D3254-B1CA-2AE3-23EC-A86DCD1D5372}"/>
              </a:ext>
            </a:extLst>
          </p:cNvPr>
          <p:cNvSpPr>
            <a:spLocks noGrp="1"/>
          </p:cNvSpPr>
          <p:nvPr>
            <p:ph type="title"/>
          </p:nvPr>
        </p:nvSpPr>
        <p:spPr/>
        <p:txBody>
          <a:bodyPr>
            <a:normAutofit/>
          </a:bodyPr>
          <a:lstStyle/>
          <a:p>
            <a:r>
              <a:rPr lang="en-US" sz="3200" dirty="0"/>
              <a:t>Structured and Unstructured Long Document EHR classification</a:t>
            </a:r>
          </a:p>
        </p:txBody>
      </p:sp>
      <p:sp>
        <p:nvSpPr>
          <p:cNvPr id="16" name="TextBox 15">
            <a:extLst>
              <a:ext uri="{FF2B5EF4-FFF2-40B4-BE49-F238E27FC236}">
                <a16:creationId xmlns:a16="http://schemas.microsoft.com/office/drawing/2014/main" id="{0635F1A5-69ED-1354-D1DF-8DFDC0523554}"/>
              </a:ext>
            </a:extLst>
          </p:cNvPr>
          <p:cNvSpPr txBox="1"/>
          <p:nvPr/>
        </p:nvSpPr>
        <p:spPr>
          <a:xfrm>
            <a:off x="920495" y="6428266"/>
            <a:ext cx="10146897" cy="307777"/>
          </a:xfrm>
          <a:prstGeom prst="rect">
            <a:avLst/>
          </a:prstGeom>
          <a:noFill/>
        </p:spPr>
        <p:txBody>
          <a:bodyPr wrap="square" rtlCol="0">
            <a:spAutoFit/>
          </a:bodyPr>
          <a:lstStyle/>
          <a:p>
            <a:r>
              <a:rPr lang="en-US" sz="1400" b="1" dirty="0"/>
              <a:t>Note: </a:t>
            </a:r>
            <a:r>
              <a:rPr lang="en-US" sz="1400" dirty="0"/>
              <a:t>Patient EHRs also contain images like CT scans, MRI scans, etc. (not shown in the figure)</a:t>
            </a:r>
          </a:p>
        </p:txBody>
      </p:sp>
      <p:pic>
        <p:nvPicPr>
          <p:cNvPr id="17" name="Picture 16">
            <a:extLst>
              <a:ext uri="{FF2B5EF4-FFF2-40B4-BE49-F238E27FC236}">
                <a16:creationId xmlns:a16="http://schemas.microsoft.com/office/drawing/2014/main" id="{690DB374-F339-586A-2ADE-FA186C63795D}"/>
              </a:ext>
            </a:extLst>
          </p:cNvPr>
          <p:cNvPicPr>
            <a:picLocks noChangeAspect="1"/>
          </p:cNvPicPr>
          <p:nvPr/>
        </p:nvPicPr>
        <p:blipFill>
          <a:blip r:embed="rId2"/>
          <a:stretch>
            <a:fillRect/>
          </a:stretch>
        </p:blipFill>
        <p:spPr>
          <a:xfrm>
            <a:off x="1475703" y="1480977"/>
            <a:ext cx="8672848" cy="3896046"/>
          </a:xfrm>
          <a:prstGeom prst="rect">
            <a:avLst/>
          </a:prstGeom>
          <a:effectLst>
            <a:outerShdw blurRad="63500" sx="102000" sy="102000" algn="ctr" rotWithShape="0">
              <a:prstClr val="black">
                <a:alpha val="40000"/>
              </a:prstClr>
            </a:outerShdw>
          </a:effectLst>
        </p:spPr>
      </p:pic>
      <p:sp>
        <p:nvSpPr>
          <p:cNvPr id="19" name="Rectangle 18">
            <a:extLst>
              <a:ext uri="{FF2B5EF4-FFF2-40B4-BE49-F238E27FC236}">
                <a16:creationId xmlns:a16="http://schemas.microsoft.com/office/drawing/2014/main" id="{3345D529-05F8-C285-57C0-96D7B20B2804}"/>
              </a:ext>
            </a:extLst>
          </p:cNvPr>
          <p:cNvSpPr/>
          <p:nvPr/>
        </p:nvSpPr>
        <p:spPr>
          <a:xfrm>
            <a:off x="642771" y="5428540"/>
            <a:ext cx="10702343" cy="927278"/>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In this section of my dissertation, I build a deep learning model that attempts to solve the following challenges:</a:t>
            </a:r>
          </a:p>
          <a:p>
            <a:pPr marL="285750" indent="-285750">
              <a:buFont typeface="Arial" panose="020B0604020202020204" pitchFamily="34" charset="0"/>
              <a:buChar char="•"/>
            </a:pPr>
            <a:r>
              <a:rPr lang="en-US" dirty="0">
                <a:solidFill>
                  <a:schemeClr val="tx1"/>
                </a:solidFill>
              </a:rPr>
              <a:t>Handle structured and unstructured data</a:t>
            </a:r>
          </a:p>
          <a:p>
            <a:pPr marL="285750" indent="-285750">
              <a:buFont typeface="Arial" panose="020B0604020202020204" pitchFamily="34" charset="0"/>
              <a:buChar char="•"/>
            </a:pPr>
            <a:r>
              <a:rPr lang="en-US" dirty="0">
                <a:solidFill>
                  <a:schemeClr val="tx1"/>
                </a:solidFill>
              </a:rPr>
              <a:t>Handle multiple clinical notes, each containing between 200 and 20000 tokens</a:t>
            </a:r>
          </a:p>
        </p:txBody>
      </p:sp>
      <p:sp>
        <p:nvSpPr>
          <p:cNvPr id="24" name="Slide Number Placeholder 23">
            <a:extLst>
              <a:ext uri="{FF2B5EF4-FFF2-40B4-BE49-F238E27FC236}">
                <a16:creationId xmlns:a16="http://schemas.microsoft.com/office/drawing/2014/main" id="{9653CF16-A248-97A9-3AA9-26ACA3E859A5}"/>
              </a:ext>
            </a:extLst>
          </p:cNvPr>
          <p:cNvSpPr>
            <a:spLocks noGrp="1"/>
          </p:cNvSpPr>
          <p:nvPr>
            <p:ph type="sldNum" sz="quarter" idx="12"/>
          </p:nvPr>
        </p:nvSpPr>
        <p:spPr/>
        <p:txBody>
          <a:bodyPr/>
          <a:lstStyle/>
          <a:p>
            <a:fld id="{BDA8D12A-5188-A74B-8183-7E806E12A340}" type="slidenum">
              <a:rPr lang="en-US" smtClean="0"/>
              <a:t>19</a:t>
            </a:fld>
            <a:endParaRPr lang="en-US"/>
          </a:p>
        </p:txBody>
      </p:sp>
    </p:spTree>
    <p:extLst>
      <p:ext uri="{BB962C8B-B14F-4D97-AF65-F5344CB8AC3E}">
        <p14:creationId xmlns:p14="http://schemas.microsoft.com/office/powerpoint/2010/main" val="6106784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5650C-6DD1-265A-6BC4-594E5F8056C3}"/>
              </a:ext>
            </a:extLst>
          </p:cNvPr>
          <p:cNvSpPr>
            <a:spLocks noGrp="1"/>
          </p:cNvSpPr>
          <p:nvPr>
            <p:ph type="title"/>
          </p:nvPr>
        </p:nvSpPr>
        <p:spPr/>
        <p:txBody>
          <a:bodyPr>
            <a:normAutofit/>
          </a:bodyPr>
          <a:lstStyle/>
          <a:p>
            <a:r>
              <a:rPr lang="en-US" sz="4000" dirty="0"/>
              <a:t>Past Research on Long Document Classification</a:t>
            </a:r>
          </a:p>
        </p:txBody>
      </p:sp>
      <p:sp>
        <p:nvSpPr>
          <p:cNvPr id="3" name="Content Placeholder 2">
            <a:extLst>
              <a:ext uri="{FF2B5EF4-FFF2-40B4-BE49-F238E27FC236}">
                <a16:creationId xmlns:a16="http://schemas.microsoft.com/office/drawing/2014/main" id="{4177778D-F345-8AB1-B231-9D240FBDFDB4}"/>
              </a:ext>
            </a:extLst>
          </p:cNvPr>
          <p:cNvSpPr>
            <a:spLocks noGrp="1"/>
          </p:cNvSpPr>
          <p:nvPr>
            <p:ph idx="1"/>
          </p:nvPr>
        </p:nvSpPr>
        <p:spPr/>
        <p:txBody>
          <a:bodyPr>
            <a:normAutofit fontScale="85000" lnSpcReduction="20000"/>
          </a:bodyPr>
          <a:lstStyle/>
          <a:p>
            <a:r>
              <a:rPr lang="en-US" dirty="0"/>
              <a:t>Bag of Words, TFIDF</a:t>
            </a:r>
          </a:p>
          <a:p>
            <a:pPr lvl="1"/>
            <a:r>
              <a:rPr lang="en-US" dirty="0"/>
              <a:t>Disregards word order and context </a:t>
            </a:r>
            <a:r>
              <a:rPr lang="en-US" dirty="0">
                <a:sym typeface="Wingdings" pitchFamily="2" charset="2"/>
              </a:rPr>
              <a:t> doesn’t capture meaning over long documents</a:t>
            </a:r>
          </a:p>
          <a:p>
            <a:r>
              <a:rPr lang="en-US" dirty="0">
                <a:sym typeface="Wingdings" pitchFamily="2" charset="2"/>
              </a:rPr>
              <a:t>RNNs and LSTMs</a:t>
            </a:r>
          </a:p>
          <a:p>
            <a:pPr lvl="1"/>
            <a:r>
              <a:rPr lang="en-US" dirty="0">
                <a:sym typeface="Wingdings" pitchFamily="2" charset="2"/>
              </a:rPr>
              <a:t>Suffer from vanishing gradient problem</a:t>
            </a:r>
          </a:p>
          <a:p>
            <a:pPr lvl="1"/>
            <a:r>
              <a:rPr lang="en-US" dirty="0">
                <a:sym typeface="Wingdings" pitchFamily="2" charset="2"/>
              </a:rPr>
              <a:t>Difficulty capturing long-term dependencies</a:t>
            </a:r>
          </a:p>
          <a:p>
            <a:r>
              <a:rPr lang="en-US" dirty="0">
                <a:sym typeface="Wingdings" pitchFamily="2" charset="2"/>
              </a:rPr>
              <a:t>CNNs applied over word embeddings</a:t>
            </a:r>
          </a:p>
          <a:p>
            <a:pPr lvl="1"/>
            <a:r>
              <a:rPr lang="en-US" dirty="0">
                <a:sym typeface="Wingdings" pitchFamily="2" charset="2"/>
              </a:rPr>
              <a:t>Not as effective at capturing long-term dependencies as attention models</a:t>
            </a:r>
          </a:p>
          <a:p>
            <a:r>
              <a:rPr lang="en-US" dirty="0">
                <a:sym typeface="Wingdings" pitchFamily="2" charset="2"/>
              </a:rPr>
              <a:t>Transformer Models like BERT</a:t>
            </a:r>
          </a:p>
          <a:p>
            <a:pPr lvl="1"/>
            <a:r>
              <a:rPr lang="en-US" dirty="0">
                <a:sym typeface="Wingdings" pitchFamily="2" charset="2"/>
              </a:rPr>
              <a:t>Can capture long-term dependencies</a:t>
            </a:r>
          </a:p>
          <a:p>
            <a:pPr lvl="1"/>
            <a:r>
              <a:rPr lang="en-US" dirty="0">
                <a:sym typeface="Wingdings" pitchFamily="2" charset="2"/>
              </a:rPr>
              <a:t>limited by a maximum input size of 512 tokens</a:t>
            </a:r>
          </a:p>
          <a:p>
            <a:r>
              <a:rPr lang="en-US" dirty="0">
                <a:sym typeface="Wingdings" pitchFamily="2" charset="2"/>
              </a:rPr>
              <a:t>Hierarchical Attention Models</a:t>
            </a:r>
          </a:p>
          <a:p>
            <a:pPr lvl="1"/>
            <a:r>
              <a:rPr lang="en-US" dirty="0">
                <a:sym typeface="Wingdings" pitchFamily="2" charset="2"/>
              </a:rPr>
              <a:t>Can handle long documents (&gt; 512 tokens) by analyzing segments and aggregating information across different levels</a:t>
            </a:r>
          </a:p>
        </p:txBody>
      </p:sp>
      <p:sp>
        <p:nvSpPr>
          <p:cNvPr id="10" name="Slide Number Placeholder 9">
            <a:extLst>
              <a:ext uri="{FF2B5EF4-FFF2-40B4-BE49-F238E27FC236}">
                <a16:creationId xmlns:a16="http://schemas.microsoft.com/office/drawing/2014/main" id="{30DD96D4-E7B6-F444-2A65-EF90655E8162}"/>
              </a:ext>
            </a:extLst>
          </p:cNvPr>
          <p:cNvSpPr>
            <a:spLocks noGrp="1"/>
          </p:cNvSpPr>
          <p:nvPr>
            <p:ph type="sldNum" sz="quarter" idx="12"/>
          </p:nvPr>
        </p:nvSpPr>
        <p:spPr/>
        <p:txBody>
          <a:bodyPr/>
          <a:lstStyle/>
          <a:p>
            <a:fld id="{BDA8D12A-5188-A74B-8183-7E806E12A340}" type="slidenum">
              <a:rPr lang="en-US" smtClean="0"/>
              <a:t>20</a:t>
            </a:fld>
            <a:endParaRPr lang="en-US"/>
          </a:p>
        </p:txBody>
      </p:sp>
    </p:spTree>
    <p:extLst>
      <p:ext uri="{BB962C8B-B14F-4D97-AF65-F5344CB8AC3E}">
        <p14:creationId xmlns:p14="http://schemas.microsoft.com/office/powerpoint/2010/main" val="484886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5650C-6DD1-265A-6BC4-594E5F8056C3}"/>
              </a:ext>
            </a:extLst>
          </p:cNvPr>
          <p:cNvSpPr>
            <a:spLocks noGrp="1"/>
          </p:cNvSpPr>
          <p:nvPr>
            <p:ph type="title"/>
          </p:nvPr>
        </p:nvSpPr>
        <p:spPr/>
        <p:txBody>
          <a:bodyPr>
            <a:normAutofit/>
          </a:bodyPr>
          <a:lstStyle/>
          <a:p>
            <a:r>
              <a:rPr lang="en-US" sz="4000" dirty="0"/>
              <a:t>Past Research on Long Document Classification</a:t>
            </a:r>
          </a:p>
        </p:txBody>
      </p:sp>
      <p:sp>
        <p:nvSpPr>
          <p:cNvPr id="3" name="Content Placeholder 2">
            <a:extLst>
              <a:ext uri="{FF2B5EF4-FFF2-40B4-BE49-F238E27FC236}">
                <a16:creationId xmlns:a16="http://schemas.microsoft.com/office/drawing/2014/main" id="{4177778D-F345-8AB1-B231-9D240FBDFDB4}"/>
              </a:ext>
            </a:extLst>
          </p:cNvPr>
          <p:cNvSpPr>
            <a:spLocks noGrp="1"/>
          </p:cNvSpPr>
          <p:nvPr>
            <p:ph idx="1"/>
          </p:nvPr>
        </p:nvSpPr>
        <p:spPr/>
        <p:txBody>
          <a:bodyPr>
            <a:normAutofit fontScale="85000" lnSpcReduction="20000"/>
          </a:bodyPr>
          <a:lstStyle/>
          <a:p>
            <a:r>
              <a:rPr lang="en-US" dirty="0"/>
              <a:t>Bag of Words, TFIDF</a:t>
            </a:r>
          </a:p>
          <a:p>
            <a:pPr lvl="1"/>
            <a:r>
              <a:rPr lang="en-US" dirty="0"/>
              <a:t>Disregards word order and context </a:t>
            </a:r>
            <a:r>
              <a:rPr lang="en-US" dirty="0">
                <a:sym typeface="Wingdings" pitchFamily="2" charset="2"/>
              </a:rPr>
              <a:t> doesn’t capture meaning over long documents</a:t>
            </a:r>
          </a:p>
          <a:p>
            <a:r>
              <a:rPr lang="en-US" dirty="0">
                <a:sym typeface="Wingdings" pitchFamily="2" charset="2"/>
              </a:rPr>
              <a:t>RNNs and LSTMs</a:t>
            </a:r>
          </a:p>
          <a:p>
            <a:pPr lvl="1"/>
            <a:r>
              <a:rPr lang="en-US" dirty="0">
                <a:sym typeface="Wingdings" pitchFamily="2" charset="2"/>
              </a:rPr>
              <a:t>Suffer from vanishing gradient problem</a:t>
            </a:r>
          </a:p>
          <a:p>
            <a:pPr lvl="1"/>
            <a:r>
              <a:rPr lang="en-US" dirty="0">
                <a:sym typeface="Wingdings" pitchFamily="2" charset="2"/>
              </a:rPr>
              <a:t>Difficulty capturing long-term dependencies</a:t>
            </a:r>
          </a:p>
          <a:p>
            <a:r>
              <a:rPr lang="en-US" dirty="0">
                <a:sym typeface="Wingdings" pitchFamily="2" charset="2"/>
              </a:rPr>
              <a:t>CNNs applied over word embeddings</a:t>
            </a:r>
          </a:p>
          <a:p>
            <a:pPr lvl="1"/>
            <a:r>
              <a:rPr lang="en-US" dirty="0">
                <a:sym typeface="Wingdings" pitchFamily="2" charset="2"/>
              </a:rPr>
              <a:t>Not as effective at capturing long-term dependencies as attention models</a:t>
            </a:r>
          </a:p>
          <a:p>
            <a:r>
              <a:rPr lang="en-US" dirty="0">
                <a:sym typeface="Wingdings" pitchFamily="2" charset="2"/>
              </a:rPr>
              <a:t>Transformer Models like BERT</a:t>
            </a:r>
          </a:p>
          <a:p>
            <a:pPr lvl="1"/>
            <a:r>
              <a:rPr lang="en-US" dirty="0">
                <a:sym typeface="Wingdings" pitchFamily="2" charset="2"/>
              </a:rPr>
              <a:t>Can capture long-term dependencies</a:t>
            </a:r>
          </a:p>
          <a:p>
            <a:pPr lvl="1"/>
            <a:r>
              <a:rPr lang="en-US" dirty="0">
                <a:sym typeface="Wingdings" pitchFamily="2" charset="2"/>
              </a:rPr>
              <a:t>limited by a maximum input size of 512 tokens</a:t>
            </a:r>
          </a:p>
          <a:p>
            <a:r>
              <a:rPr lang="en-US" dirty="0">
                <a:sym typeface="Wingdings" pitchFamily="2" charset="2"/>
              </a:rPr>
              <a:t>Hierarchical Attention Models</a:t>
            </a:r>
          </a:p>
          <a:p>
            <a:pPr lvl="1"/>
            <a:r>
              <a:rPr lang="en-US" dirty="0">
                <a:sym typeface="Wingdings" pitchFamily="2" charset="2"/>
              </a:rPr>
              <a:t>Can handle long documents (&gt; 512 tokens) by analyzing segments and aggregating information across different levels</a:t>
            </a:r>
          </a:p>
        </p:txBody>
      </p:sp>
      <p:sp>
        <p:nvSpPr>
          <p:cNvPr id="4" name="Rectangle 3">
            <a:extLst>
              <a:ext uri="{FF2B5EF4-FFF2-40B4-BE49-F238E27FC236}">
                <a16:creationId xmlns:a16="http://schemas.microsoft.com/office/drawing/2014/main" id="{C3177CE8-C77B-4837-1D6B-9DA6BD311B3A}"/>
              </a:ext>
            </a:extLst>
          </p:cNvPr>
          <p:cNvSpPr/>
          <p:nvPr/>
        </p:nvSpPr>
        <p:spPr>
          <a:xfrm>
            <a:off x="708338" y="4069724"/>
            <a:ext cx="9633397" cy="2107239"/>
          </a:xfrm>
          <a:prstGeom prst="rect">
            <a:avLst/>
          </a:prstGeom>
          <a:noFill/>
          <a:ln w="317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C4B5A827-117F-8AF9-8D54-87E40219C2A4}"/>
              </a:ext>
            </a:extLst>
          </p:cNvPr>
          <p:cNvSpPr/>
          <p:nvPr/>
        </p:nvSpPr>
        <p:spPr>
          <a:xfrm>
            <a:off x="6387921" y="2009104"/>
            <a:ext cx="4739425" cy="1275009"/>
          </a:xfrm>
          <a:prstGeom prst="roundRect">
            <a:avLst/>
          </a:prstGeom>
          <a:solidFill>
            <a:schemeClr val="accent4"/>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Inspired by these 2 approaches, we develop a deep learning model that can handle multiple long clinical notes per patient</a:t>
            </a:r>
          </a:p>
        </p:txBody>
      </p:sp>
      <p:sp>
        <p:nvSpPr>
          <p:cNvPr id="10" name="Slide Number Placeholder 9">
            <a:extLst>
              <a:ext uri="{FF2B5EF4-FFF2-40B4-BE49-F238E27FC236}">
                <a16:creationId xmlns:a16="http://schemas.microsoft.com/office/drawing/2014/main" id="{112ABECA-A6C3-AA16-CDDE-3974F6D74E2F}"/>
              </a:ext>
            </a:extLst>
          </p:cNvPr>
          <p:cNvSpPr>
            <a:spLocks noGrp="1"/>
          </p:cNvSpPr>
          <p:nvPr>
            <p:ph type="sldNum" sz="quarter" idx="12"/>
          </p:nvPr>
        </p:nvSpPr>
        <p:spPr/>
        <p:txBody>
          <a:bodyPr/>
          <a:lstStyle/>
          <a:p>
            <a:fld id="{BDA8D12A-5188-A74B-8183-7E806E12A340}" type="slidenum">
              <a:rPr lang="en-US" smtClean="0"/>
              <a:t>21</a:t>
            </a:fld>
            <a:endParaRPr lang="en-US"/>
          </a:p>
        </p:txBody>
      </p:sp>
    </p:spTree>
    <p:extLst>
      <p:ext uri="{BB962C8B-B14F-4D97-AF65-F5344CB8AC3E}">
        <p14:creationId xmlns:p14="http://schemas.microsoft.com/office/powerpoint/2010/main" val="38809244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64D66-4B07-784D-056F-C9AB3CB224BF}"/>
              </a:ext>
            </a:extLst>
          </p:cNvPr>
          <p:cNvSpPr>
            <a:spLocks noGrp="1"/>
          </p:cNvSpPr>
          <p:nvPr>
            <p:ph type="title"/>
          </p:nvPr>
        </p:nvSpPr>
        <p:spPr/>
        <p:txBody>
          <a:bodyPr>
            <a:normAutofit/>
          </a:bodyPr>
          <a:lstStyle/>
          <a:p>
            <a:r>
              <a:rPr lang="en-US" dirty="0"/>
              <a:t>Task Formulation and Dataset</a:t>
            </a:r>
          </a:p>
        </p:txBody>
      </p:sp>
      <p:sp>
        <p:nvSpPr>
          <p:cNvPr id="3" name="Content Placeholder 2">
            <a:extLst>
              <a:ext uri="{FF2B5EF4-FFF2-40B4-BE49-F238E27FC236}">
                <a16:creationId xmlns:a16="http://schemas.microsoft.com/office/drawing/2014/main" id="{36FF6985-F9D8-E69A-F8F5-87AC085483CF}"/>
              </a:ext>
            </a:extLst>
          </p:cNvPr>
          <p:cNvSpPr>
            <a:spLocks noGrp="1"/>
          </p:cNvSpPr>
          <p:nvPr>
            <p:ph idx="1"/>
          </p:nvPr>
        </p:nvSpPr>
        <p:spPr>
          <a:xfrm>
            <a:off x="838200" y="1825625"/>
            <a:ext cx="10515600" cy="1808826"/>
          </a:xfrm>
        </p:spPr>
        <p:txBody>
          <a:bodyPr>
            <a:normAutofit fontScale="77500" lnSpcReduction="20000"/>
          </a:bodyPr>
          <a:lstStyle/>
          <a:p>
            <a:r>
              <a:rPr lang="en-US" dirty="0"/>
              <a:t>We formulate 2 binary classification problems given patient EHR data:</a:t>
            </a:r>
          </a:p>
          <a:p>
            <a:pPr marL="914400" lvl="1" indent="-457200">
              <a:buFont typeface="+mj-lt"/>
              <a:buAutoNum type="arabicPeriod"/>
            </a:pPr>
            <a:r>
              <a:rPr lang="en-US" dirty="0"/>
              <a:t>Will the patient be prescribed an Opioid Medication?</a:t>
            </a:r>
          </a:p>
          <a:p>
            <a:pPr marL="914400" lvl="1" indent="-457200">
              <a:buFont typeface="+mj-lt"/>
              <a:buAutoNum type="arabicPeriod"/>
            </a:pPr>
            <a:r>
              <a:rPr lang="en-US" dirty="0"/>
              <a:t>Does the patient have Opioid Use Disorder (OUD)?</a:t>
            </a:r>
          </a:p>
          <a:p>
            <a:pPr marL="914400" lvl="1" indent="-457200">
              <a:buFont typeface="+mj-lt"/>
              <a:buAutoNum type="arabicPeriod"/>
            </a:pPr>
            <a:endParaRPr lang="en-US" dirty="0"/>
          </a:p>
          <a:p>
            <a:r>
              <a:rPr lang="en-US" dirty="0"/>
              <a:t>Dataset used:</a:t>
            </a:r>
          </a:p>
          <a:p>
            <a:pPr lvl="1"/>
            <a:r>
              <a:rPr lang="en-US" b="1" dirty="0"/>
              <a:t>Mimic III</a:t>
            </a:r>
            <a:r>
              <a:rPr lang="en-US" dirty="0"/>
              <a:t> : De-identified health data associated with ~60,000 CCU admissions</a:t>
            </a:r>
          </a:p>
        </p:txBody>
      </p:sp>
      <p:sp>
        <p:nvSpPr>
          <p:cNvPr id="11" name="Can 10">
            <a:extLst>
              <a:ext uri="{FF2B5EF4-FFF2-40B4-BE49-F238E27FC236}">
                <a16:creationId xmlns:a16="http://schemas.microsoft.com/office/drawing/2014/main" id="{3963AF72-208E-9C95-D36C-FCF9ADD75F8F}"/>
              </a:ext>
            </a:extLst>
          </p:cNvPr>
          <p:cNvSpPr/>
          <p:nvPr/>
        </p:nvSpPr>
        <p:spPr>
          <a:xfrm>
            <a:off x="5421363" y="3701951"/>
            <a:ext cx="1053295" cy="879676"/>
          </a:xfrm>
          <a:prstGeom prst="can">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Mimic-III</a:t>
            </a:r>
          </a:p>
        </p:txBody>
      </p:sp>
      <p:cxnSp>
        <p:nvCxnSpPr>
          <p:cNvPr id="13" name="Straight Arrow Connector 12">
            <a:extLst>
              <a:ext uri="{FF2B5EF4-FFF2-40B4-BE49-F238E27FC236}">
                <a16:creationId xmlns:a16="http://schemas.microsoft.com/office/drawing/2014/main" id="{60BA0D5D-3970-7B15-8546-B3EF91B59A1D}"/>
              </a:ext>
            </a:extLst>
          </p:cNvPr>
          <p:cNvCxnSpPr>
            <a:cxnSpLocks/>
          </p:cNvCxnSpPr>
          <p:nvPr/>
        </p:nvCxnSpPr>
        <p:spPr>
          <a:xfrm flipH="1">
            <a:off x="3135363" y="4141789"/>
            <a:ext cx="2286000"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B9D0EAA-B63E-B44F-463A-12405FCEA28A}"/>
              </a:ext>
            </a:extLst>
          </p:cNvPr>
          <p:cNvCxnSpPr>
            <a:cxnSpLocks/>
            <a:stCxn id="11" idx="4"/>
          </p:cNvCxnSpPr>
          <p:nvPr/>
        </p:nvCxnSpPr>
        <p:spPr>
          <a:xfrm>
            <a:off x="6474658" y="4141789"/>
            <a:ext cx="2286000"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9854172-CA53-4CE2-DFA1-A84B83748BDA}"/>
              </a:ext>
            </a:extLst>
          </p:cNvPr>
          <p:cNvCxnSpPr>
            <a:cxnSpLocks/>
            <a:stCxn id="11" idx="2"/>
          </p:cNvCxnSpPr>
          <p:nvPr/>
        </p:nvCxnSpPr>
        <p:spPr>
          <a:xfrm flipH="1">
            <a:off x="3135363" y="4141789"/>
            <a:ext cx="2286000" cy="609499"/>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9DA5EB5F-859B-92E8-26BE-8D38CC18044F}"/>
              </a:ext>
            </a:extLst>
          </p:cNvPr>
          <p:cNvCxnSpPr>
            <a:cxnSpLocks/>
            <a:stCxn id="11" idx="4"/>
          </p:cNvCxnSpPr>
          <p:nvPr/>
        </p:nvCxnSpPr>
        <p:spPr>
          <a:xfrm>
            <a:off x="6474658" y="4141789"/>
            <a:ext cx="2286000" cy="609499"/>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Can 31">
            <a:extLst>
              <a:ext uri="{FF2B5EF4-FFF2-40B4-BE49-F238E27FC236}">
                <a16:creationId xmlns:a16="http://schemas.microsoft.com/office/drawing/2014/main" id="{D3A0C87A-280F-29AD-BF0E-54878937C8E4}"/>
              </a:ext>
            </a:extLst>
          </p:cNvPr>
          <p:cNvSpPr/>
          <p:nvPr/>
        </p:nvSpPr>
        <p:spPr>
          <a:xfrm>
            <a:off x="2163960" y="3701951"/>
            <a:ext cx="869526" cy="753339"/>
          </a:xfrm>
          <a:prstGeom prst="can">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Positive Examples</a:t>
            </a:r>
          </a:p>
        </p:txBody>
      </p:sp>
      <p:sp>
        <p:nvSpPr>
          <p:cNvPr id="33" name="Can 32">
            <a:extLst>
              <a:ext uri="{FF2B5EF4-FFF2-40B4-BE49-F238E27FC236}">
                <a16:creationId xmlns:a16="http://schemas.microsoft.com/office/drawing/2014/main" id="{592BD28F-E468-599D-9213-269269E5E5A3}"/>
              </a:ext>
            </a:extLst>
          </p:cNvPr>
          <p:cNvSpPr/>
          <p:nvPr/>
        </p:nvSpPr>
        <p:spPr>
          <a:xfrm>
            <a:off x="2163960" y="4581627"/>
            <a:ext cx="869526" cy="753374"/>
          </a:xfrm>
          <a:prstGeom prst="can">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Negative Examples</a:t>
            </a:r>
          </a:p>
        </p:txBody>
      </p:sp>
      <p:sp>
        <p:nvSpPr>
          <p:cNvPr id="38" name="TextBox 37">
            <a:extLst>
              <a:ext uri="{FF2B5EF4-FFF2-40B4-BE49-F238E27FC236}">
                <a16:creationId xmlns:a16="http://schemas.microsoft.com/office/drawing/2014/main" id="{B7C3C170-8201-17B7-05F9-D286F35BB989}"/>
              </a:ext>
            </a:extLst>
          </p:cNvPr>
          <p:cNvSpPr txBox="1"/>
          <p:nvPr/>
        </p:nvSpPr>
        <p:spPr>
          <a:xfrm>
            <a:off x="3351236" y="3634451"/>
            <a:ext cx="1872343" cy="523220"/>
          </a:xfrm>
          <a:prstGeom prst="rect">
            <a:avLst/>
          </a:prstGeom>
          <a:noFill/>
        </p:spPr>
        <p:txBody>
          <a:bodyPr wrap="square" rtlCol="0">
            <a:spAutoFit/>
          </a:bodyPr>
          <a:lstStyle/>
          <a:p>
            <a:pPr algn="ctr"/>
            <a:r>
              <a:rPr lang="en-US" sz="1400" dirty="0"/>
              <a:t>Patient EHRs containing Opioids</a:t>
            </a:r>
          </a:p>
        </p:txBody>
      </p:sp>
      <p:sp>
        <p:nvSpPr>
          <p:cNvPr id="39" name="TextBox 38">
            <a:extLst>
              <a:ext uri="{FF2B5EF4-FFF2-40B4-BE49-F238E27FC236}">
                <a16:creationId xmlns:a16="http://schemas.microsoft.com/office/drawing/2014/main" id="{D3A41CC7-E77E-8F09-81F8-E850D15C6FA4}"/>
              </a:ext>
            </a:extLst>
          </p:cNvPr>
          <p:cNvSpPr txBox="1"/>
          <p:nvPr/>
        </p:nvSpPr>
        <p:spPr>
          <a:xfrm>
            <a:off x="6570565" y="3634451"/>
            <a:ext cx="2190093" cy="523220"/>
          </a:xfrm>
          <a:prstGeom prst="rect">
            <a:avLst/>
          </a:prstGeom>
          <a:noFill/>
        </p:spPr>
        <p:txBody>
          <a:bodyPr wrap="square" rtlCol="0">
            <a:spAutoFit/>
          </a:bodyPr>
          <a:lstStyle/>
          <a:p>
            <a:pPr algn="ctr"/>
            <a:r>
              <a:rPr lang="en-US" sz="1400" dirty="0"/>
              <a:t>Patient EHRs containing OUD ICD-9 Codes</a:t>
            </a:r>
          </a:p>
        </p:txBody>
      </p:sp>
      <p:sp>
        <p:nvSpPr>
          <p:cNvPr id="40" name="TextBox 39">
            <a:extLst>
              <a:ext uri="{FF2B5EF4-FFF2-40B4-BE49-F238E27FC236}">
                <a16:creationId xmlns:a16="http://schemas.microsoft.com/office/drawing/2014/main" id="{EA1887ED-D20F-8805-D7DC-A710244A32ED}"/>
              </a:ext>
            </a:extLst>
          </p:cNvPr>
          <p:cNvSpPr txBox="1"/>
          <p:nvPr/>
        </p:nvSpPr>
        <p:spPr>
          <a:xfrm rot="20603058">
            <a:off x="3265571" y="4466233"/>
            <a:ext cx="2107140" cy="307777"/>
          </a:xfrm>
          <a:prstGeom prst="rect">
            <a:avLst/>
          </a:prstGeom>
          <a:noFill/>
        </p:spPr>
        <p:txBody>
          <a:bodyPr wrap="square" rtlCol="0">
            <a:spAutoFit/>
          </a:bodyPr>
          <a:lstStyle/>
          <a:p>
            <a:pPr algn="ctr"/>
            <a:r>
              <a:rPr lang="en-US" sz="1400" dirty="0"/>
              <a:t>Remaining Set of Patients</a:t>
            </a:r>
          </a:p>
        </p:txBody>
      </p:sp>
      <p:sp>
        <p:nvSpPr>
          <p:cNvPr id="41" name="TextBox 40">
            <a:extLst>
              <a:ext uri="{FF2B5EF4-FFF2-40B4-BE49-F238E27FC236}">
                <a16:creationId xmlns:a16="http://schemas.microsoft.com/office/drawing/2014/main" id="{C08E938D-77CC-FF0E-B5E3-EF98934C1AA4}"/>
              </a:ext>
            </a:extLst>
          </p:cNvPr>
          <p:cNvSpPr txBox="1"/>
          <p:nvPr/>
        </p:nvSpPr>
        <p:spPr>
          <a:xfrm rot="995867">
            <a:off x="6474383" y="4482755"/>
            <a:ext cx="2107140" cy="307777"/>
          </a:xfrm>
          <a:prstGeom prst="rect">
            <a:avLst/>
          </a:prstGeom>
          <a:noFill/>
        </p:spPr>
        <p:txBody>
          <a:bodyPr wrap="square" rtlCol="0">
            <a:spAutoFit/>
          </a:bodyPr>
          <a:lstStyle/>
          <a:p>
            <a:pPr algn="ctr"/>
            <a:r>
              <a:rPr lang="en-US" sz="1400" dirty="0"/>
              <a:t>Remaining Set of Patients</a:t>
            </a:r>
          </a:p>
        </p:txBody>
      </p:sp>
      <p:sp>
        <p:nvSpPr>
          <p:cNvPr id="42" name="Can 41">
            <a:extLst>
              <a:ext uri="{FF2B5EF4-FFF2-40B4-BE49-F238E27FC236}">
                <a16:creationId xmlns:a16="http://schemas.microsoft.com/office/drawing/2014/main" id="{EFC1CFDA-AEEB-4AE7-4922-76EAA1CEE09B}"/>
              </a:ext>
            </a:extLst>
          </p:cNvPr>
          <p:cNvSpPr/>
          <p:nvPr/>
        </p:nvSpPr>
        <p:spPr>
          <a:xfrm>
            <a:off x="8929180" y="3634451"/>
            <a:ext cx="869526" cy="753339"/>
          </a:xfrm>
          <a:prstGeom prst="can">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Positive Examples</a:t>
            </a:r>
          </a:p>
        </p:txBody>
      </p:sp>
      <p:sp>
        <p:nvSpPr>
          <p:cNvPr id="43" name="Can 42">
            <a:extLst>
              <a:ext uri="{FF2B5EF4-FFF2-40B4-BE49-F238E27FC236}">
                <a16:creationId xmlns:a16="http://schemas.microsoft.com/office/drawing/2014/main" id="{2F6FFC8D-A88E-9892-520E-393FDBA34E5E}"/>
              </a:ext>
            </a:extLst>
          </p:cNvPr>
          <p:cNvSpPr/>
          <p:nvPr/>
        </p:nvSpPr>
        <p:spPr>
          <a:xfrm>
            <a:off x="8935840" y="4581627"/>
            <a:ext cx="869526" cy="753374"/>
          </a:xfrm>
          <a:prstGeom prst="can">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Negative Examples</a:t>
            </a:r>
          </a:p>
        </p:txBody>
      </p:sp>
      <p:sp>
        <p:nvSpPr>
          <p:cNvPr id="44" name="Rectangle 43">
            <a:extLst>
              <a:ext uri="{FF2B5EF4-FFF2-40B4-BE49-F238E27FC236}">
                <a16:creationId xmlns:a16="http://schemas.microsoft.com/office/drawing/2014/main" id="{123CA7FD-739F-1721-74CC-C2F2DC311C78}"/>
              </a:ext>
            </a:extLst>
          </p:cNvPr>
          <p:cNvSpPr/>
          <p:nvPr/>
        </p:nvSpPr>
        <p:spPr>
          <a:xfrm>
            <a:off x="386189" y="4005811"/>
            <a:ext cx="1625600" cy="1049337"/>
          </a:xfrm>
          <a:prstGeom prst="rect">
            <a:avLst/>
          </a:prstGeom>
          <a:solidFill>
            <a:schemeClr val="bg1"/>
          </a:solidFill>
          <a:ln w="3175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Task 1</a:t>
            </a:r>
          </a:p>
          <a:p>
            <a:pPr algn="ctr"/>
            <a:r>
              <a:rPr lang="en-US" sz="1400" dirty="0">
                <a:solidFill>
                  <a:schemeClr val="tx1"/>
                </a:solidFill>
              </a:rPr>
              <a:t>Opioid Medication Prescription Prediction</a:t>
            </a:r>
          </a:p>
        </p:txBody>
      </p:sp>
      <p:sp>
        <p:nvSpPr>
          <p:cNvPr id="45" name="Rectangle 44">
            <a:extLst>
              <a:ext uri="{FF2B5EF4-FFF2-40B4-BE49-F238E27FC236}">
                <a16:creationId xmlns:a16="http://schemas.microsoft.com/office/drawing/2014/main" id="{BD0D207C-B491-3E28-B21C-C59D3A3CDE5F}"/>
              </a:ext>
            </a:extLst>
          </p:cNvPr>
          <p:cNvSpPr/>
          <p:nvPr/>
        </p:nvSpPr>
        <p:spPr>
          <a:xfrm>
            <a:off x="9987662" y="3896061"/>
            <a:ext cx="1625600" cy="1049337"/>
          </a:xfrm>
          <a:prstGeom prst="rect">
            <a:avLst/>
          </a:prstGeom>
          <a:solidFill>
            <a:schemeClr val="bg1"/>
          </a:solidFill>
          <a:ln w="3175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Task 2</a:t>
            </a:r>
          </a:p>
          <a:p>
            <a:pPr algn="ctr"/>
            <a:r>
              <a:rPr lang="en-US" sz="1400" dirty="0">
                <a:solidFill>
                  <a:schemeClr val="tx1"/>
                </a:solidFill>
              </a:rPr>
              <a:t>Opioid Use Disorder Prediction</a:t>
            </a:r>
          </a:p>
        </p:txBody>
      </p:sp>
      <p:sp>
        <p:nvSpPr>
          <p:cNvPr id="47" name="TextBox 46">
            <a:extLst>
              <a:ext uri="{FF2B5EF4-FFF2-40B4-BE49-F238E27FC236}">
                <a16:creationId xmlns:a16="http://schemas.microsoft.com/office/drawing/2014/main" id="{A6B9A9DB-08F9-B342-8F32-AEF2155C2DA7}"/>
              </a:ext>
            </a:extLst>
          </p:cNvPr>
          <p:cNvSpPr txBox="1"/>
          <p:nvPr/>
        </p:nvSpPr>
        <p:spPr>
          <a:xfrm>
            <a:off x="386189" y="5494986"/>
            <a:ext cx="10515600" cy="923330"/>
          </a:xfrm>
          <a:prstGeom prst="rect">
            <a:avLst/>
          </a:prstGeom>
          <a:noFill/>
        </p:spPr>
        <p:txBody>
          <a:bodyPr wrap="square">
            <a:spAutoFit/>
          </a:bodyPr>
          <a:lstStyle/>
          <a:p>
            <a:pPr lvl="1"/>
            <a:r>
              <a:rPr lang="en-US" dirty="0"/>
              <a:t>Further Preprocessing:</a:t>
            </a:r>
          </a:p>
          <a:p>
            <a:pPr lvl="2"/>
            <a:r>
              <a:rPr lang="en-US" dirty="0"/>
              <a:t>Remove opioid medication mentions, or ICD-9 diagnoses codes used to automatically label data.</a:t>
            </a:r>
          </a:p>
          <a:p>
            <a:pPr lvl="2"/>
            <a:r>
              <a:rPr lang="en-US" dirty="0"/>
              <a:t>Remove or combine sparse demographic features to prevent overfitting.</a:t>
            </a:r>
          </a:p>
        </p:txBody>
      </p:sp>
      <p:sp>
        <p:nvSpPr>
          <p:cNvPr id="48" name="Slide Number Placeholder 47">
            <a:extLst>
              <a:ext uri="{FF2B5EF4-FFF2-40B4-BE49-F238E27FC236}">
                <a16:creationId xmlns:a16="http://schemas.microsoft.com/office/drawing/2014/main" id="{0B336EAA-71D9-0CC0-C1C6-75E52EA63BE1}"/>
              </a:ext>
            </a:extLst>
          </p:cNvPr>
          <p:cNvSpPr>
            <a:spLocks noGrp="1"/>
          </p:cNvSpPr>
          <p:nvPr>
            <p:ph type="sldNum" sz="quarter" idx="12"/>
          </p:nvPr>
        </p:nvSpPr>
        <p:spPr/>
        <p:txBody>
          <a:bodyPr/>
          <a:lstStyle/>
          <a:p>
            <a:fld id="{BDA8D12A-5188-A74B-8183-7E806E12A340}" type="slidenum">
              <a:rPr lang="en-US" smtClean="0"/>
              <a:t>22</a:t>
            </a:fld>
            <a:endParaRPr lang="en-US"/>
          </a:p>
        </p:txBody>
      </p:sp>
    </p:spTree>
    <p:extLst>
      <p:ext uri="{BB962C8B-B14F-4D97-AF65-F5344CB8AC3E}">
        <p14:creationId xmlns:p14="http://schemas.microsoft.com/office/powerpoint/2010/main" val="917624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47B6E-0BB4-34D3-D5CF-D01171976CA4}"/>
              </a:ext>
            </a:extLst>
          </p:cNvPr>
          <p:cNvSpPr>
            <a:spLocks noGrp="1"/>
          </p:cNvSpPr>
          <p:nvPr>
            <p:ph type="title"/>
          </p:nvPr>
        </p:nvSpPr>
        <p:spPr/>
        <p:txBody>
          <a:bodyPr/>
          <a:lstStyle/>
          <a:p>
            <a:r>
              <a:rPr lang="en-US" dirty="0"/>
              <a:t>Model Development: Example</a:t>
            </a:r>
          </a:p>
        </p:txBody>
      </p:sp>
      <p:pic>
        <p:nvPicPr>
          <p:cNvPr id="17" name="Picture 16">
            <a:extLst>
              <a:ext uri="{FF2B5EF4-FFF2-40B4-BE49-F238E27FC236}">
                <a16:creationId xmlns:a16="http://schemas.microsoft.com/office/drawing/2014/main" id="{21BD608A-DE84-7919-CCBF-49E9F9CB7916}"/>
              </a:ext>
            </a:extLst>
          </p:cNvPr>
          <p:cNvPicPr>
            <a:picLocks noChangeAspect="1"/>
          </p:cNvPicPr>
          <p:nvPr/>
        </p:nvPicPr>
        <p:blipFill>
          <a:blip r:embed="rId2"/>
          <a:stretch>
            <a:fillRect/>
          </a:stretch>
        </p:blipFill>
        <p:spPr>
          <a:xfrm>
            <a:off x="496911" y="1967336"/>
            <a:ext cx="7565264" cy="3497275"/>
          </a:xfrm>
          <a:prstGeom prst="rect">
            <a:avLst/>
          </a:prstGeom>
          <a:effectLst>
            <a:outerShdw blurRad="63500" sx="102000" sy="102000" algn="ctr" rotWithShape="0">
              <a:prstClr val="black">
                <a:alpha val="40000"/>
              </a:prstClr>
            </a:outerShdw>
          </a:effectLst>
        </p:spPr>
      </p:pic>
      <p:sp>
        <p:nvSpPr>
          <p:cNvPr id="55" name="TextBox 54">
            <a:extLst>
              <a:ext uri="{FF2B5EF4-FFF2-40B4-BE49-F238E27FC236}">
                <a16:creationId xmlns:a16="http://schemas.microsoft.com/office/drawing/2014/main" id="{81318B94-EF3E-8583-14BC-9D3D165FC971}"/>
              </a:ext>
            </a:extLst>
          </p:cNvPr>
          <p:cNvSpPr txBox="1"/>
          <p:nvPr/>
        </p:nvSpPr>
        <p:spPr>
          <a:xfrm>
            <a:off x="838200" y="6190593"/>
            <a:ext cx="7601607" cy="276999"/>
          </a:xfrm>
          <a:prstGeom prst="rect">
            <a:avLst/>
          </a:prstGeom>
          <a:noFill/>
        </p:spPr>
        <p:txBody>
          <a:bodyPr wrap="square" rtlCol="0">
            <a:spAutoFit/>
          </a:bodyPr>
          <a:lstStyle/>
          <a:p>
            <a:r>
              <a:rPr lang="en-US" sz="1200" i="1" dirty="0"/>
              <a:t>*This is a synthetic example created for illustrative purposes</a:t>
            </a:r>
          </a:p>
        </p:txBody>
      </p:sp>
      <p:sp>
        <p:nvSpPr>
          <p:cNvPr id="60" name="Slide Number Placeholder 59">
            <a:extLst>
              <a:ext uri="{FF2B5EF4-FFF2-40B4-BE49-F238E27FC236}">
                <a16:creationId xmlns:a16="http://schemas.microsoft.com/office/drawing/2014/main" id="{9BF34F06-9499-9984-C5A8-F74EB00D6163}"/>
              </a:ext>
            </a:extLst>
          </p:cNvPr>
          <p:cNvSpPr>
            <a:spLocks noGrp="1"/>
          </p:cNvSpPr>
          <p:nvPr>
            <p:ph type="sldNum" sz="quarter" idx="12"/>
          </p:nvPr>
        </p:nvSpPr>
        <p:spPr/>
        <p:txBody>
          <a:bodyPr/>
          <a:lstStyle/>
          <a:p>
            <a:fld id="{BDA8D12A-5188-A74B-8183-7E806E12A340}" type="slidenum">
              <a:rPr lang="en-US" smtClean="0"/>
              <a:t>23</a:t>
            </a:fld>
            <a:endParaRPr lang="en-US"/>
          </a:p>
        </p:txBody>
      </p:sp>
    </p:spTree>
    <p:extLst>
      <p:ext uri="{BB962C8B-B14F-4D97-AF65-F5344CB8AC3E}">
        <p14:creationId xmlns:p14="http://schemas.microsoft.com/office/powerpoint/2010/main" val="37254943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47B6E-0BB4-34D3-D5CF-D01171976CA4}"/>
              </a:ext>
            </a:extLst>
          </p:cNvPr>
          <p:cNvSpPr>
            <a:spLocks noGrp="1"/>
          </p:cNvSpPr>
          <p:nvPr>
            <p:ph type="title"/>
          </p:nvPr>
        </p:nvSpPr>
        <p:spPr/>
        <p:txBody>
          <a:bodyPr/>
          <a:lstStyle/>
          <a:p>
            <a:r>
              <a:rPr lang="en-US" dirty="0"/>
              <a:t>Model Development: Example</a:t>
            </a:r>
          </a:p>
        </p:txBody>
      </p:sp>
      <p:pic>
        <p:nvPicPr>
          <p:cNvPr id="17" name="Picture 16">
            <a:extLst>
              <a:ext uri="{FF2B5EF4-FFF2-40B4-BE49-F238E27FC236}">
                <a16:creationId xmlns:a16="http://schemas.microsoft.com/office/drawing/2014/main" id="{21BD608A-DE84-7919-CCBF-49E9F9CB7916}"/>
              </a:ext>
            </a:extLst>
          </p:cNvPr>
          <p:cNvPicPr>
            <a:picLocks noChangeAspect="1"/>
          </p:cNvPicPr>
          <p:nvPr/>
        </p:nvPicPr>
        <p:blipFill>
          <a:blip r:embed="rId2"/>
          <a:stretch>
            <a:fillRect/>
          </a:stretch>
        </p:blipFill>
        <p:spPr>
          <a:xfrm>
            <a:off x="496911" y="1967336"/>
            <a:ext cx="7565264" cy="3497275"/>
          </a:xfrm>
          <a:prstGeom prst="rect">
            <a:avLst/>
          </a:prstGeom>
          <a:effectLst>
            <a:outerShdw blurRad="63500" sx="102000" sy="102000" algn="ctr" rotWithShape="0">
              <a:prstClr val="black">
                <a:alpha val="40000"/>
              </a:prstClr>
            </a:outerShdw>
          </a:effectLst>
        </p:spPr>
      </p:pic>
      <p:grpSp>
        <p:nvGrpSpPr>
          <p:cNvPr id="18" name="Group 17">
            <a:extLst>
              <a:ext uri="{FF2B5EF4-FFF2-40B4-BE49-F238E27FC236}">
                <a16:creationId xmlns:a16="http://schemas.microsoft.com/office/drawing/2014/main" id="{014EF9BD-77F6-CABC-944C-A803245FE7C9}"/>
              </a:ext>
            </a:extLst>
          </p:cNvPr>
          <p:cNvGrpSpPr/>
          <p:nvPr/>
        </p:nvGrpSpPr>
        <p:grpSpPr>
          <a:xfrm>
            <a:off x="9152563" y="1392498"/>
            <a:ext cx="1951282" cy="596379"/>
            <a:chOff x="181176" y="2999437"/>
            <a:chExt cx="1951282" cy="596379"/>
          </a:xfrm>
          <a:effectLst>
            <a:outerShdw blurRad="63500" sx="102000" sy="102000" algn="ctr" rotWithShape="0">
              <a:prstClr val="black">
                <a:alpha val="40000"/>
              </a:prstClr>
            </a:outerShdw>
          </a:effectLst>
        </p:grpSpPr>
        <p:sp>
          <p:nvSpPr>
            <p:cNvPr id="19" name="Rounded Rectangle 18">
              <a:extLst>
                <a:ext uri="{FF2B5EF4-FFF2-40B4-BE49-F238E27FC236}">
                  <a16:creationId xmlns:a16="http://schemas.microsoft.com/office/drawing/2014/main" id="{6AD061DC-FADF-422E-1219-AC7DE8D5AEC2}"/>
                </a:ext>
              </a:extLst>
            </p:cNvPr>
            <p:cNvSpPr/>
            <p:nvPr/>
          </p:nvSpPr>
          <p:spPr>
            <a:xfrm>
              <a:off x="273309" y="3267345"/>
              <a:ext cx="1767016" cy="328471"/>
            </a:xfrm>
            <a:prstGeom prst="roundRect">
              <a:avLst/>
            </a:prstGeom>
            <a:blipFill>
              <a:blip r:embed="rId3"/>
              <a:tile tx="0" ty="0" sx="100000" sy="100000" flip="none" algn="tl"/>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Feed Forward Layer</a:t>
              </a:r>
            </a:p>
          </p:txBody>
        </p:sp>
        <p:sp>
          <p:nvSpPr>
            <p:cNvPr id="20" name="TextBox 19">
              <a:extLst>
                <a:ext uri="{FF2B5EF4-FFF2-40B4-BE49-F238E27FC236}">
                  <a16:creationId xmlns:a16="http://schemas.microsoft.com/office/drawing/2014/main" id="{3E7CFD7C-AAE5-29D5-6560-31D56DAE93E3}"/>
                </a:ext>
              </a:extLst>
            </p:cNvPr>
            <p:cNvSpPr txBox="1"/>
            <p:nvPr/>
          </p:nvSpPr>
          <p:spPr>
            <a:xfrm>
              <a:off x="181176" y="2999437"/>
              <a:ext cx="1951282" cy="230832"/>
            </a:xfrm>
            <a:prstGeom prst="rect">
              <a:avLst/>
            </a:prstGeom>
            <a:noFill/>
          </p:spPr>
          <p:txBody>
            <a:bodyPr wrap="square" rtlCol="0">
              <a:spAutoFit/>
            </a:bodyPr>
            <a:lstStyle/>
            <a:p>
              <a:r>
                <a:rPr lang="en-US" sz="900" b="1" dirty="0"/>
                <a:t>Structured Static Embedding Module</a:t>
              </a:r>
            </a:p>
          </p:txBody>
        </p:sp>
      </p:grpSp>
      <p:grpSp>
        <p:nvGrpSpPr>
          <p:cNvPr id="21" name="Group 20">
            <a:extLst>
              <a:ext uri="{FF2B5EF4-FFF2-40B4-BE49-F238E27FC236}">
                <a16:creationId xmlns:a16="http://schemas.microsoft.com/office/drawing/2014/main" id="{809E15AC-0689-C9BE-F8A4-60C367F34821}"/>
              </a:ext>
            </a:extLst>
          </p:cNvPr>
          <p:cNvGrpSpPr/>
          <p:nvPr/>
        </p:nvGrpSpPr>
        <p:grpSpPr>
          <a:xfrm>
            <a:off x="8948173" y="2617400"/>
            <a:ext cx="2405627" cy="811600"/>
            <a:chOff x="2612605" y="5121224"/>
            <a:chExt cx="2405627" cy="811600"/>
          </a:xfrm>
          <a:effectLst>
            <a:outerShdw blurRad="63500" sx="102000" sy="102000" algn="ctr" rotWithShape="0">
              <a:prstClr val="black">
                <a:alpha val="40000"/>
              </a:prstClr>
            </a:outerShdw>
          </a:effectLst>
        </p:grpSpPr>
        <p:sp>
          <p:nvSpPr>
            <p:cNvPr id="22" name="Rounded Rectangle 21">
              <a:extLst>
                <a:ext uri="{FF2B5EF4-FFF2-40B4-BE49-F238E27FC236}">
                  <a16:creationId xmlns:a16="http://schemas.microsoft.com/office/drawing/2014/main" id="{FE8EA295-247E-BB41-30C2-A571CD9F51ED}"/>
                </a:ext>
              </a:extLst>
            </p:cNvPr>
            <p:cNvSpPr/>
            <p:nvPr/>
          </p:nvSpPr>
          <p:spPr>
            <a:xfrm>
              <a:off x="2731385" y="5352056"/>
              <a:ext cx="2075935" cy="580768"/>
            </a:xfrm>
            <a:prstGeom prst="roundRect">
              <a:avLst/>
            </a:prstGeom>
            <a:pattFill prst="pct50">
              <a:fgClr>
                <a:srgbClr val="B3C5E6"/>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Event Embedding Matrix</a:t>
              </a:r>
            </a:p>
            <a:p>
              <a:r>
                <a:rPr lang="en-US" sz="1200" dirty="0">
                  <a:solidFill>
                    <a:schemeClr val="tx1"/>
                  </a:solidFill>
                </a:rPr>
                <a:t>Positional Embedding Matrix</a:t>
              </a:r>
            </a:p>
            <a:p>
              <a:r>
                <a:rPr lang="en-US" sz="1200" dirty="0">
                  <a:solidFill>
                    <a:schemeClr val="tx1"/>
                  </a:solidFill>
                </a:rPr>
                <a:t>Transformer Layer</a:t>
              </a:r>
            </a:p>
          </p:txBody>
        </p:sp>
        <p:sp>
          <p:nvSpPr>
            <p:cNvPr id="23" name="TextBox 22">
              <a:extLst>
                <a:ext uri="{FF2B5EF4-FFF2-40B4-BE49-F238E27FC236}">
                  <a16:creationId xmlns:a16="http://schemas.microsoft.com/office/drawing/2014/main" id="{F4B95643-93B1-CEE9-F8E7-9E933A87980B}"/>
                </a:ext>
              </a:extLst>
            </p:cNvPr>
            <p:cNvSpPr txBox="1"/>
            <p:nvPr/>
          </p:nvSpPr>
          <p:spPr>
            <a:xfrm>
              <a:off x="2612605" y="5121224"/>
              <a:ext cx="2405627" cy="230832"/>
            </a:xfrm>
            <a:prstGeom prst="rect">
              <a:avLst/>
            </a:prstGeom>
            <a:noFill/>
          </p:spPr>
          <p:txBody>
            <a:bodyPr wrap="square" rtlCol="0">
              <a:spAutoFit/>
            </a:bodyPr>
            <a:lstStyle/>
            <a:p>
              <a:r>
                <a:rPr lang="en-US" sz="900" b="1" dirty="0"/>
                <a:t>Structured Time Varying Embedding Module</a:t>
              </a:r>
            </a:p>
          </p:txBody>
        </p:sp>
      </p:grpSp>
      <p:grpSp>
        <p:nvGrpSpPr>
          <p:cNvPr id="24" name="Group 23">
            <a:extLst>
              <a:ext uri="{FF2B5EF4-FFF2-40B4-BE49-F238E27FC236}">
                <a16:creationId xmlns:a16="http://schemas.microsoft.com/office/drawing/2014/main" id="{861EB604-7E29-CC75-95AC-38D90614D007}"/>
              </a:ext>
            </a:extLst>
          </p:cNvPr>
          <p:cNvGrpSpPr/>
          <p:nvPr/>
        </p:nvGrpSpPr>
        <p:grpSpPr>
          <a:xfrm>
            <a:off x="8707248" y="4009769"/>
            <a:ext cx="2887476" cy="1556394"/>
            <a:chOff x="6207099" y="5121224"/>
            <a:chExt cx="2887476" cy="1556394"/>
          </a:xfrm>
          <a:effectLst>
            <a:outerShdw blurRad="63500" sx="102000" sy="102000" algn="ctr" rotWithShape="0">
              <a:prstClr val="black">
                <a:alpha val="40000"/>
              </a:prstClr>
            </a:outerShdw>
          </a:effectLst>
        </p:grpSpPr>
        <p:sp>
          <p:nvSpPr>
            <p:cNvPr id="25" name="Rounded Rectangle 24">
              <a:extLst>
                <a:ext uri="{FF2B5EF4-FFF2-40B4-BE49-F238E27FC236}">
                  <a16:creationId xmlns:a16="http://schemas.microsoft.com/office/drawing/2014/main" id="{5ECA3F33-6C8F-F3C2-784B-F41EF38F7B7B}"/>
                </a:ext>
              </a:extLst>
            </p:cNvPr>
            <p:cNvSpPr/>
            <p:nvPr/>
          </p:nvSpPr>
          <p:spPr>
            <a:xfrm>
              <a:off x="6207099" y="5352056"/>
              <a:ext cx="2887476" cy="1325562"/>
            </a:xfrm>
            <a:prstGeom prst="roundRect">
              <a:avLst/>
            </a:prstGeom>
            <a:pattFill prst="pct80">
              <a:fgClr>
                <a:srgbClr val="FFC000"/>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Hierarchical Attention Model</a:t>
              </a:r>
            </a:p>
            <a:p>
              <a:r>
                <a:rPr lang="en-US" sz="1200" dirty="0">
                  <a:solidFill>
                    <a:schemeClr val="tx1"/>
                  </a:solidFill>
                </a:rPr>
                <a:t>Clinical BERT</a:t>
              </a:r>
            </a:p>
            <a:p>
              <a:r>
                <a:rPr lang="en-US" sz="1200" dirty="0">
                  <a:solidFill>
                    <a:schemeClr val="tx1"/>
                  </a:solidFill>
                </a:rPr>
                <a:t>Splice Positional Embedding Matrix</a:t>
              </a:r>
            </a:p>
            <a:p>
              <a:r>
                <a:rPr lang="en-US" sz="1200" dirty="0">
                  <a:solidFill>
                    <a:schemeClr val="tx1"/>
                  </a:solidFill>
                </a:rPr>
                <a:t>Note Level Transformer Layer</a:t>
              </a:r>
            </a:p>
            <a:p>
              <a:r>
                <a:rPr lang="en-US" sz="1200" dirty="0">
                  <a:solidFill>
                    <a:schemeClr val="tx1"/>
                  </a:solidFill>
                </a:rPr>
                <a:t>Note Positional Embedding</a:t>
              </a:r>
            </a:p>
            <a:p>
              <a:r>
                <a:rPr lang="en-US" sz="1200" dirty="0">
                  <a:solidFill>
                    <a:schemeClr val="tx1"/>
                  </a:solidFill>
                </a:rPr>
                <a:t>Patient Level Transformer</a:t>
              </a:r>
            </a:p>
            <a:p>
              <a:r>
                <a:rPr lang="en-US" sz="1200" dirty="0">
                  <a:solidFill>
                    <a:schemeClr val="tx1"/>
                  </a:solidFill>
                </a:rPr>
                <a:t>Feed Forward Layer</a:t>
              </a:r>
            </a:p>
          </p:txBody>
        </p:sp>
        <p:sp>
          <p:nvSpPr>
            <p:cNvPr id="26" name="TextBox 25">
              <a:extLst>
                <a:ext uri="{FF2B5EF4-FFF2-40B4-BE49-F238E27FC236}">
                  <a16:creationId xmlns:a16="http://schemas.microsoft.com/office/drawing/2014/main" id="{6C296562-B681-8168-C9F7-B7290DC5EBA6}"/>
                </a:ext>
              </a:extLst>
            </p:cNvPr>
            <p:cNvSpPr txBox="1"/>
            <p:nvPr/>
          </p:nvSpPr>
          <p:spPr>
            <a:xfrm>
              <a:off x="6675196" y="5121224"/>
              <a:ext cx="1951282" cy="230832"/>
            </a:xfrm>
            <a:prstGeom prst="rect">
              <a:avLst/>
            </a:prstGeom>
            <a:noFill/>
          </p:spPr>
          <p:txBody>
            <a:bodyPr wrap="square" rtlCol="0">
              <a:spAutoFit/>
            </a:bodyPr>
            <a:lstStyle/>
            <a:p>
              <a:r>
                <a:rPr lang="en-US" sz="900" b="1" dirty="0"/>
                <a:t>Unstructured Embedding Module</a:t>
              </a:r>
            </a:p>
          </p:txBody>
        </p:sp>
      </p:grpSp>
      <p:cxnSp>
        <p:nvCxnSpPr>
          <p:cNvPr id="28" name="Straight Connector 27">
            <a:extLst>
              <a:ext uri="{FF2B5EF4-FFF2-40B4-BE49-F238E27FC236}">
                <a16:creationId xmlns:a16="http://schemas.microsoft.com/office/drawing/2014/main" id="{A01AE148-4A1C-E973-762E-66FA8ED271BF}"/>
              </a:ext>
            </a:extLst>
          </p:cNvPr>
          <p:cNvCxnSpPr/>
          <p:nvPr/>
        </p:nvCxnSpPr>
        <p:spPr>
          <a:xfrm flipV="1">
            <a:off x="1326524" y="1824641"/>
            <a:ext cx="0" cy="725401"/>
          </a:xfrm>
          <a:prstGeom prst="line">
            <a:avLst/>
          </a:prstGeom>
          <a:ln w="31750">
            <a:solidFill>
              <a:srgbClr val="E6CA8A"/>
            </a:solidFill>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BA580648-1B0B-7F92-DD14-D064E410F1CD}"/>
              </a:ext>
            </a:extLst>
          </p:cNvPr>
          <p:cNvCxnSpPr>
            <a:cxnSpLocks/>
            <a:endCxn id="19" idx="1"/>
          </p:cNvCxnSpPr>
          <p:nvPr/>
        </p:nvCxnSpPr>
        <p:spPr>
          <a:xfrm>
            <a:off x="1326524" y="1824642"/>
            <a:ext cx="7918172" cy="0"/>
          </a:xfrm>
          <a:prstGeom prst="straightConnector1">
            <a:avLst/>
          </a:prstGeom>
          <a:ln w="31750">
            <a:solidFill>
              <a:srgbClr val="E6CA8A"/>
            </a:solidFill>
            <a:tailEnd type="triangle"/>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A5C595C4-F268-D767-27C5-16660C31C2E0}"/>
              </a:ext>
            </a:extLst>
          </p:cNvPr>
          <p:cNvCxnSpPr/>
          <p:nvPr/>
        </p:nvCxnSpPr>
        <p:spPr>
          <a:xfrm flipV="1">
            <a:off x="3046467" y="1392498"/>
            <a:ext cx="0" cy="725401"/>
          </a:xfrm>
          <a:prstGeom prst="line">
            <a:avLst/>
          </a:prstGeom>
          <a:ln w="31750">
            <a:solidFill>
              <a:srgbClr val="ABC0E5"/>
            </a:solidFill>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4324ED87-7CD0-7FEF-09F5-3EA13986D434}"/>
              </a:ext>
            </a:extLst>
          </p:cNvPr>
          <p:cNvCxnSpPr>
            <a:cxnSpLocks/>
            <a:endCxn id="22" idx="1"/>
          </p:cNvCxnSpPr>
          <p:nvPr/>
        </p:nvCxnSpPr>
        <p:spPr>
          <a:xfrm>
            <a:off x="8542560" y="3138616"/>
            <a:ext cx="524393" cy="0"/>
          </a:xfrm>
          <a:prstGeom prst="straightConnector1">
            <a:avLst/>
          </a:prstGeom>
          <a:ln w="31750">
            <a:solidFill>
              <a:srgbClr val="ABC0E5"/>
            </a:solidFill>
            <a:tailEnd type="triangle"/>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0EC4E79B-2685-3E4D-B7D9-33369E1AAD4E}"/>
              </a:ext>
            </a:extLst>
          </p:cNvPr>
          <p:cNvCxnSpPr>
            <a:cxnSpLocks/>
          </p:cNvCxnSpPr>
          <p:nvPr/>
        </p:nvCxnSpPr>
        <p:spPr>
          <a:xfrm flipH="1" flipV="1">
            <a:off x="3046467" y="1392498"/>
            <a:ext cx="5496093" cy="8384"/>
          </a:xfrm>
          <a:prstGeom prst="line">
            <a:avLst/>
          </a:prstGeom>
          <a:ln w="31750">
            <a:solidFill>
              <a:srgbClr val="ABC0E5"/>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5780A89F-A1A1-8555-6953-3546815FBF6A}"/>
              </a:ext>
            </a:extLst>
          </p:cNvPr>
          <p:cNvCxnSpPr>
            <a:cxnSpLocks/>
          </p:cNvCxnSpPr>
          <p:nvPr/>
        </p:nvCxnSpPr>
        <p:spPr>
          <a:xfrm flipV="1">
            <a:off x="8542560" y="1392497"/>
            <a:ext cx="0" cy="1746119"/>
          </a:xfrm>
          <a:prstGeom prst="line">
            <a:avLst/>
          </a:prstGeom>
          <a:ln w="31750">
            <a:solidFill>
              <a:srgbClr val="ABC0E5"/>
            </a:solidFill>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1B61AF01-60F0-40CA-0B8A-A20596A43924}"/>
              </a:ext>
            </a:extLst>
          </p:cNvPr>
          <p:cNvCxnSpPr/>
          <p:nvPr/>
        </p:nvCxnSpPr>
        <p:spPr>
          <a:xfrm flipV="1">
            <a:off x="7212928" y="5203462"/>
            <a:ext cx="0" cy="725401"/>
          </a:xfrm>
          <a:prstGeom prst="line">
            <a:avLst/>
          </a:prstGeom>
          <a:ln w="31750">
            <a:solidFill>
              <a:srgbClr val="FFC000"/>
            </a:solidFill>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58237B5F-EA4A-0AFE-407C-4F87B3E22225}"/>
              </a:ext>
            </a:extLst>
          </p:cNvPr>
          <p:cNvCxnSpPr>
            <a:cxnSpLocks/>
          </p:cNvCxnSpPr>
          <p:nvPr/>
        </p:nvCxnSpPr>
        <p:spPr>
          <a:xfrm flipH="1">
            <a:off x="7212928" y="5928863"/>
            <a:ext cx="1187153" cy="0"/>
          </a:xfrm>
          <a:prstGeom prst="line">
            <a:avLst/>
          </a:prstGeom>
          <a:ln w="31750">
            <a:solidFill>
              <a:srgbClr val="FFC000"/>
            </a:solidFill>
          </a:ln>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81910FBA-9242-181D-898B-C0F446F51318}"/>
              </a:ext>
            </a:extLst>
          </p:cNvPr>
          <p:cNvCxnSpPr>
            <a:cxnSpLocks/>
          </p:cNvCxnSpPr>
          <p:nvPr/>
        </p:nvCxnSpPr>
        <p:spPr>
          <a:xfrm flipV="1">
            <a:off x="8403714" y="4903382"/>
            <a:ext cx="0" cy="1025481"/>
          </a:xfrm>
          <a:prstGeom prst="line">
            <a:avLst/>
          </a:prstGeom>
          <a:ln w="31750">
            <a:solidFill>
              <a:srgbClr val="FFC000"/>
            </a:solidFill>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047BEB38-BA04-4745-707D-F4BEF1D4BD78}"/>
              </a:ext>
            </a:extLst>
          </p:cNvPr>
          <p:cNvCxnSpPr>
            <a:cxnSpLocks/>
            <a:endCxn id="25" idx="1"/>
          </p:cNvCxnSpPr>
          <p:nvPr/>
        </p:nvCxnSpPr>
        <p:spPr>
          <a:xfrm>
            <a:off x="8400081" y="4903382"/>
            <a:ext cx="307167" cy="0"/>
          </a:xfrm>
          <a:prstGeom prst="straightConnector1">
            <a:avLst/>
          </a:prstGeom>
          <a:ln w="31750">
            <a:solidFill>
              <a:srgbClr val="FFC000"/>
            </a:solidFill>
            <a:tailEnd type="triangle"/>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54932E3E-0644-DEEC-141D-CEE555FF9051}"/>
              </a:ext>
            </a:extLst>
          </p:cNvPr>
          <p:cNvSpPr txBox="1"/>
          <p:nvPr/>
        </p:nvSpPr>
        <p:spPr>
          <a:xfrm>
            <a:off x="838200" y="6190593"/>
            <a:ext cx="7601607" cy="276999"/>
          </a:xfrm>
          <a:prstGeom prst="rect">
            <a:avLst/>
          </a:prstGeom>
          <a:noFill/>
        </p:spPr>
        <p:txBody>
          <a:bodyPr wrap="square" rtlCol="0">
            <a:spAutoFit/>
          </a:bodyPr>
          <a:lstStyle/>
          <a:p>
            <a:r>
              <a:rPr lang="en-US" sz="1200" i="1" dirty="0"/>
              <a:t>*This is a synthetic example created for illustrative purposes</a:t>
            </a:r>
          </a:p>
        </p:txBody>
      </p:sp>
      <p:sp>
        <p:nvSpPr>
          <p:cNvPr id="9" name="Slide Number Placeholder 8">
            <a:extLst>
              <a:ext uri="{FF2B5EF4-FFF2-40B4-BE49-F238E27FC236}">
                <a16:creationId xmlns:a16="http://schemas.microsoft.com/office/drawing/2014/main" id="{D35F9E20-722F-11B6-9FD2-AC424C33814F}"/>
              </a:ext>
            </a:extLst>
          </p:cNvPr>
          <p:cNvSpPr>
            <a:spLocks noGrp="1"/>
          </p:cNvSpPr>
          <p:nvPr>
            <p:ph type="sldNum" sz="quarter" idx="12"/>
          </p:nvPr>
        </p:nvSpPr>
        <p:spPr/>
        <p:txBody>
          <a:bodyPr/>
          <a:lstStyle/>
          <a:p>
            <a:fld id="{BDA8D12A-5188-A74B-8183-7E806E12A340}" type="slidenum">
              <a:rPr lang="en-US" smtClean="0"/>
              <a:t>24</a:t>
            </a:fld>
            <a:endParaRPr lang="en-US"/>
          </a:p>
        </p:txBody>
      </p:sp>
    </p:spTree>
    <p:extLst>
      <p:ext uri="{BB962C8B-B14F-4D97-AF65-F5344CB8AC3E}">
        <p14:creationId xmlns:p14="http://schemas.microsoft.com/office/powerpoint/2010/main" val="1668259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07280-658A-8B5E-B791-293B3BC02A30}"/>
              </a:ext>
            </a:extLst>
          </p:cNvPr>
          <p:cNvSpPr>
            <a:spLocks noGrp="1"/>
          </p:cNvSpPr>
          <p:nvPr>
            <p:ph type="title"/>
          </p:nvPr>
        </p:nvSpPr>
        <p:spPr/>
        <p:txBody>
          <a:bodyPr>
            <a:normAutofit/>
          </a:bodyPr>
          <a:lstStyle/>
          <a:p>
            <a:r>
              <a:rPr lang="en-US" dirty="0"/>
              <a:t>Results</a:t>
            </a:r>
          </a:p>
        </p:txBody>
      </p:sp>
      <p:graphicFrame>
        <p:nvGraphicFramePr>
          <p:cNvPr id="5" name="Table 4">
            <a:extLst>
              <a:ext uri="{FF2B5EF4-FFF2-40B4-BE49-F238E27FC236}">
                <a16:creationId xmlns:a16="http://schemas.microsoft.com/office/drawing/2014/main" id="{72CECD8A-5CC3-9C98-4D74-C6AB4B826117}"/>
              </a:ext>
            </a:extLst>
          </p:cNvPr>
          <p:cNvGraphicFramePr>
            <a:graphicFrameLocks noGrp="1"/>
          </p:cNvGraphicFramePr>
          <p:nvPr>
            <p:extLst>
              <p:ext uri="{D42A27DB-BD31-4B8C-83A1-F6EECF244321}">
                <p14:modId xmlns:p14="http://schemas.microsoft.com/office/powerpoint/2010/main" val="795243030"/>
              </p:ext>
            </p:extLst>
          </p:nvPr>
        </p:nvGraphicFramePr>
        <p:xfrm>
          <a:off x="428051" y="2401148"/>
          <a:ext cx="5667949" cy="1483360"/>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3166487">
                  <a:extLst>
                    <a:ext uri="{9D8B030D-6E8A-4147-A177-3AD203B41FA5}">
                      <a16:colId xmlns:a16="http://schemas.microsoft.com/office/drawing/2014/main" val="142582955"/>
                    </a:ext>
                  </a:extLst>
                </a:gridCol>
                <a:gridCol w="1198926">
                  <a:extLst>
                    <a:ext uri="{9D8B030D-6E8A-4147-A177-3AD203B41FA5}">
                      <a16:colId xmlns:a16="http://schemas.microsoft.com/office/drawing/2014/main" val="3457558671"/>
                    </a:ext>
                  </a:extLst>
                </a:gridCol>
                <a:gridCol w="1302536">
                  <a:extLst>
                    <a:ext uri="{9D8B030D-6E8A-4147-A177-3AD203B41FA5}">
                      <a16:colId xmlns:a16="http://schemas.microsoft.com/office/drawing/2014/main" val="3008516866"/>
                    </a:ext>
                  </a:extLst>
                </a:gridCol>
              </a:tblGrid>
              <a:tr h="370840">
                <a:tc>
                  <a:txBody>
                    <a:bodyPr/>
                    <a:lstStyle/>
                    <a:p>
                      <a:pPr algn="ctr"/>
                      <a:r>
                        <a:rPr lang="en-US" sz="1400" dirty="0">
                          <a:solidFill>
                            <a:schemeClr val="tx1"/>
                          </a:solidFill>
                        </a:rPr>
                        <a:t>Approach</a:t>
                      </a:r>
                    </a:p>
                  </a:txBody>
                  <a:tcPr>
                    <a:blipFill>
                      <a:blip r:embed="rId2"/>
                      <a:tile tx="0" ty="0" sx="100000" sy="100000" flip="none" algn="tl"/>
                    </a:blipFill>
                  </a:tcPr>
                </a:tc>
                <a:tc>
                  <a:txBody>
                    <a:bodyPr/>
                    <a:lstStyle/>
                    <a:p>
                      <a:pPr algn="ctr"/>
                      <a:r>
                        <a:rPr lang="en-US" sz="1400" dirty="0">
                          <a:solidFill>
                            <a:schemeClr val="tx1"/>
                          </a:solidFill>
                        </a:rPr>
                        <a:t>Test Accuracy</a:t>
                      </a:r>
                    </a:p>
                  </a:txBody>
                  <a:tcPr>
                    <a:blipFill>
                      <a:blip r:embed="rId2"/>
                      <a:tile tx="0" ty="0" sx="100000" sy="100000" flip="none" algn="tl"/>
                    </a:blipFill>
                  </a:tcPr>
                </a:tc>
                <a:tc>
                  <a:txBody>
                    <a:bodyPr/>
                    <a:lstStyle/>
                    <a:p>
                      <a:pPr algn="ctr"/>
                      <a:r>
                        <a:rPr lang="en-US" sz="1400" dirty="0">
                          <a:solidFill>
                            <a:schemeClr val="tx1"/>
                          </a:solidFill>
                        </a:rPr>
                        <a:t>AUC ROC</a:t>
                      </a:r>
                    </a:p>
                  </a:txBody>
                  <a:tcPr>
                    <a:blipFill>
                      <a:blip r:embed="rId2"/>
                      <a:tile tx="0" ty="0" sx="100000" sy="100000" flip="none" algn="tl"/>
                    </a:blipFill>
                  </a:tcPr>
                </a:tc>
                <a:extLst>
                  <a:ext uri="{0D108BD9-81ED-4DB2-BD59-A6C34878D82A}">
                    <a16:rowId xmlns:a16="http://schemas.microsoft.com/office/drawing/2014/main" val="1055285683"/>
                  </a:ext>
                </a:extLst>
              </a:tr>
              <a:tr h="370840">
                <a:tc>
                  <a:txBody>
                    <a:bodyPr/>
                    <a:lstStyle/>
                    <a:p>
                      <a:r>
                        <a:rPr lang="en-US" sz="1200" b="1" dirty="0"/>
                        <a:t>Random Baseline</a:t>
                      </a:r>
                    </a:p>
                  </a:txBody>
                  <a:tcPr>
                    <a:blipFill>
                      <a:blip r:embed="rId2"/>
                      <a:tile tx="0" ty="0" sx="100000" sy="100000" flip="none" algn="tl"/>
                    </a:blipFill>
                  </a:tcPr>
                </a:tc>
                <a:tc>
                  <a:txBody>
                    <a:bodyPr/>
                    <a:lstStyle/>
                    <a:p>
                      <a:pPr algn="ctr"/>
                      <a:r>
                        <a:rPr lang="en-US" sz="1400" dirty="0"/>
                        <a:t>0.5</a:t>
                      </a:r>
                    </a:p>
                  </a:txBody>
                  <a:tcPr>
                    <a:blipFill>
                      <a:blip r:embed="rId2"/>
                      <a:tile tx="0" ty="0" sx="100000" sy="100000" flip="none" algn="tl"/>
                    </a:blipFill>
                  </a:tcPr>
                </a:tc>
                <a:tc>
                  <a:txBody>
                    <a:bodyPr/>
                    <a:lstStyle/>
                    <a:p>
                      <a:pPr algn="ctr"/>
                      <a:r>
                        <a:rPr lang="en-US" sz="1400" dirty="0"/>
                        <a:t>0.5</a:t>
                      </a:r>
                    </a:p>
                  </a:txBody>
                  <a:tcPr>
                    <a:blipFill>
                      <a:blip r:embed="rId2"/>
                      <a:tile tx="0" ty="0" sx="100000" sy="100000" flip="none" algn="tl"/>
                    </a:blipFill>
                  </a:tcPr>
                </a:tc>
                <a:extLst>
                  <a:ext uri="{0D108BD9-81ED-4DB2-BD59-A6C34878D82A}">
                    <a16:rowId xmlns:a16="http://schemas.microsoft.com/office/drawing/2014/main" val="539845786"/>
                  </a:ext>
                </a:extLst>
              </a:tr>
              <a:tr h="370840">
                <a:tc>
                  <a:txBody>
                    <a:bodyPr/>
                    <a:lstStyle/>
                    <a:p>
                      <a:r>
                        <a:rPr lang="en-US" sz="1200" b="1" i="0" u="none" strike="noStrike" kern="1200" dirty="0" err="1">
                          <a:solidFill>
                            <a:schemeClr val="dk1"/>
                          </a:solidFill>
                          <a:effectLst/>
                          <a:latin typeface="+mn-lt"/>
                          <a:ea typeface="+mn-ea"/>
                          <a:cs typeface="+mn-cs"/>
                        </a:rPr>
                        <a:t>LogReg</a:t>
                      </a:r>
                      <a:r>
                        <a:rPr lang="en-US" sz="1200" b="1" i="0" u="none" strike="noStrike" kern="1200" dirty="0">
                          <a:solidFill>
                            <a:schemeClr val="dk1"/>
                          </a:solidFill>
                          <a:effectLst/>
                          <a:latin typeface="+mn-lt"/>
                          <a:ea typeface="+mn-ea"/>
                          <a:cs typeface="+mn-cs"/>
                        </a:rPr>
                        <a:t> </a:t>
                      </a:r>
                      <a:r>
                        <a:rPr lang="en-US" sz="1200" b="1" i="0" u="none" strike="noStrike" kern="1200" dirty="0" err="1">
                          <a:solidFill>
                            <a:schemeClr val="dk1"/>
                          </a:solidFill>
                          <a:effectLst/>
                          <a:latin typeface="+mn-lt"/>
                          <a:ea typeface="+mn-ea"/>
                          <a:cs typeface="+mn-cs"/>
                        </a:rPr>
                        <a:t>ngram</a:t>
                      </a:r>
                      <a:r>
                        <a:rPr lang="en-US" sz="1200" b="1" i="0" u="none" strike="noStrike" kern="1200" dirty="0">
                          <a:solidFill>
                            <a:schemeClr val="dk1"/>
                          </a:solidFill>
                          <a:effectLst/>
                          <a:latin typeface="+mn-lt"/>
                          <a:ea typeface="+mn-ea"/>
                          <a:cs typeface="+mn-cs"/>
                        </a:rPr>
                        <a:t> baseline</a:t>
                      </a:r>
                      <a:endParaRPr lang="en-US" sz="1200" b="1" dirty="0"/>
                    </a:p>
                  </a:txBody>
                  <a:tcPr>
                    <a:blipFill>
                      <a:blip r:embed="rId2"/>
                      <a:tile tx="0" ty="0" sx="100000" sy="100000" flip="none" algn="tl"/>
                    </a:blipFill>
                  </a:tcPr>
                </a:tc>
                <a:tc>
                  <a:txBody>
                    <a:bodyPr/>
                    <a:lstStyle/>
                    <a:p>
                      <a:pPr algn="ctr"/>
                      <a:r>
                        <a:rPr lang="en-US" sz="1400" dirty="0"/>
                        <a:t>0.88 </a:t>
                      </a:r>
                    </a:p>
                  </a:txBody>
                  <a:tcPr>
                    <a:blipFill>
                      <a:blip r:embed="rId2"/>
                      <a:tile tx="0" ty="0" sx="100000" sy="100000" flip="none" algn="tl"/>
                    </a:blipFill>
                  </a:tcPr>
                </a:tc>
                <a:tc>
                  <a:txBody>
                    <a:bodyPr/>
                    <a:lstStyle/>
                    <a:p>
                      <a:pPr algn="ctr"/>
                      <a:r>
                        <a:rPr lang="en-US" sz="1400" dirty="0"/>
                        <a:t>0.92</a:t>
                      </a:r>
                    </a:p>
                  </a:txBody>
                  <a:tcPr>
                    <a:blipFill>
                      <a:blip r:embed="rId2"/>
                      <a:tile tx="0" ty="0" sx="100000" sy="100000" flip="none" algn="tl"/>
                    </a:blipFill>
                  </a:tcPr>
                </a:tc>
                <a:extLst>
                  <a:ext uri="{0D108BD9-81ED-4DB2-BD59-A6C34878D82A}">
                    <a16:rowId xmlns:a16="http://schemas.microsoft.com/office/drawing/2014/main" val="2812822485"/>
                  </a:ext>
                </a:extLst>
              </a:tr>
              <a:tr h="370840">
                <a:tc>
                  <a:txBody>
                    <a:bodyPr/>
                    <a:lstStyle/>
                    <a:p>
                      <a:r>
                        <a:rPr lang="en-US" sz="1200" b="1" i="0" u="none" strike="noStrike" kern="1200" dirty="0">
                          <a:solidFill>
                            <a:schemeClr val="dk1"/>
                          </a:solidFill>
                          <a:effectLst/>
                          <a:latin typeface="+mn-lt"/>
                          <a:ea typeface="+mn-ea"/>
                          <a:cs typeface="+mn-cs"/>
                        </a:rPr>
                        <a:t>Our Approach</a:t>
                      </a:r>
                      <a:endParaRPr lang="en-US" sz="1200" b="1" dirty="0"/>
                    </a:p>
                  </a:txBody>
                  <a:tcPr>
                    <a:blipFill>
                      <a:blip r:embed="rId2"/>
                      <a:tile tx="0" ty="0" sx="100000" sy="100000" flip="none" algn="tl"/>
                    </a:blipFill>
                  </a:tcPr>
                </a:tc>
                <a:tc>
                  <a:txBody>
                    <a:bodyPr/>
                    <a:lstStyle/>
                    <a:p>
                      <a:pPr algn="ctr"/>
                      <a:r>
                        <a:rPr lang="en-US" sz="1400" dirty="0"/>
                        <a:t>0.89 ± 0.003</a:t>
                      </a:r>
                    </a:p>
                  </a:txBody>
                  <a:tcPr>
                    <a:blipFill>
                      <a:blip r:embed="rId2"/>
                      <a:tile tx="0" ty="0" sx="100000" sy="100000" flip="none" algn="tl"/>
                    </a:blipFill>
                  </a:tcPr>
                </a:tc>
                <a:tc>
                  <a:txBody>
                    <a:bodyPr/>
                    <a:lstStyle/>
                    <a:p>
                      <a:pPr algn="ctr"/>
                      <a:r>
                        <a:rPr lang="en-US" sz="1400" dirty="0"/>
                        <a:t>0.93 ± 0.002</a:t>
                      </a:r>
                    </a:p>
                  </a:txBody>
                  <a:tcPr>
                    <a:blipFill>
                      <a:blip r:embed="rId2"/>
                      <a:tile tx="0" ty="0" sx="100000" sy="100000" flip="none" algn="tl"/>
                    </a:blipFill>
                  </a:tcPr>
                </a:tc>
                <a:extLst>
                  <a:ext uri="{0D108BD9-81ED-4DB2-BD59-A6C34878D82A}">
                    <a16:rowId xmlns:a16="http://schemas.microsoft.com/office/drawing/2014/main" val="2763822889"/>
                  </a:ext>
                </a:extLst>
              </a:tr>
            </a:tbl>
          </a:graphicData>
        </a:graphic>
      </p:graphicFrame>
      <p:graphicFrame>
        <p:nvGraphicFramePr>
          <p:cNvPr id="6" name="Table 5">
            <a:extLst>
              <a:ext uri="{FF2B5EF4-FFF2-40B4-BE49-F238E27FC236}">
                <a16:creationId xmlns:a16="http://schemas.microsoft.com/office/drawing/2014/main" id="{DEB9618D-9C1C-46CF-6CEC-A9F22555E527}"/>
              </a:ext>
            </a:extLst>
          </p:cNvPr>
          <p:cNvGraphicFramePr>
            <a:graphicFrameLocks noGrp="1"/>
          </p:cNvGraphicFramePr>
          <p:nvPr>
            <p:extLst>
              <p:ext uri="{D42A27DB-BD31-4B8C-83A1-F6EECF244321}">
                <p14:modId xmlns:p14="http://schemas.microsoft.com/office/powerpoint/2010/main" val="1222996986"/>
              </p:ext>
            </p:extLst>
          </p:nvPr>
        </p:nvGraphicFramePr>
        <p:xfrm>
          <a:off x="428051" y="4634016"/>
          <a:ext cx="5667948" cy="1344862"/>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3179673">
                  <a:extLst>
                    <a:ext uri="{9D8B030D-6E8A-4147-A177-3AD203B41FA5}">
                      <a16:colId xmlns:a16="http://schemas.microsoft.com/office/drawing/2014/main" val="142582955"/>
                    </a:ext>
                  </a:extLst>
                </a:gridCol>
                <a:gridCol w="1184993">
                  <a:extLst>
                    <a:ext uri="{9D8B030D-6E8A-4147-A177-3AD203B41FA5}">
                      <a16:colId xmlns:a16="http://schemas.microsoft.com/office/drawing/2014/main" val="3457558671"/>
                    </a:ext>
                  </a:extLst>
                </a:gridCol>
                <a:gridCol w="1303282">
                  <a:extLst>
                    <a:ext uri="{9D8B030D-6E8A-4147-A177-3AD203B41FA5}">
                      <a16:colId xmlns:a16="http://schemas.microsoft.com/office/drawing/2014/main" val="3797327305"/>
                    </a:ext>
                  </a:extLst>
                </a:gridCol>
              </a:tblGrid>
              <a:tr h="295044">
                <a:tc>
                  <a:txBody>
                    <a:bodyPr/>
                    <a:lstStyle/>
                    <a:p>
                      <a:pPr algn="ctr"/>
                      <a:r>
                        <a:rPr lang="en-US" sz="1400" dirty="0">
                          <a:solidFill>
                            <a:schemeClr val="tx1"/>
                          </a:solidFill>
                        </a:rPr>
                        <a:t>Approach</a:t>
                      </a:r>
                    </a:p>
                  </a:txBody>
                  <a:tcPr>
                    <a:blipFill>
                      <a:blip r:embed="rId2"/>
                      <a:tile tx="0" ty="0" sx="100000" sy="100000" flip="none" algn="tl"/>
                    </a:blipFill>
                  </a:tcPr>
                </a:tc>
                <a:tc>
                  <a:txBody>
                    <a:bodyPr/>
                    <a:lstStyle/>
                    <a:p>
                      <a:pPr algn="ctr"/>
                      <a:r>
                        <a:rPr lang="en-US" sz="1400" dirty="0">
                          <a:solidFill>
                            <a:schemeClr val="tx1"/>
                          </a:solidFill>
                        </a:rPr>
                        <a:t>Test Accuracy</a:t>
                      </a:r>
                    </a:p>
                  </a:txBody>
                  <a:tcPr>
                    <a:blipFill>
                      <a:blip r:embed="rId2"/>
                      <a:tile tx="0" ty="0" sx="100000" sy="100000" flip="none" algn="tl"/>
                    </a:blipFill>
                  </a:tcPr>
                </a:tc>
                <a:tc>
                  <a:txBody>
                    <a:bodyPr/>
                    <a:lstStyle/>
                    <a:p>
                      <a:pPr algn="ctr"/>
                      <a:r>
                        <a:rPr lang="en-US" sz="1400" dirty="0">
                          <a:solidFill>
                            <a:schemeClr val="tx1"/>
                          </a:solidFill>
                        </a:rPr>
                        <a:t>AUC ROC</a:t>
                      </a:r>
                    </a:p>
                  </a:txBody>
                  <a:tcPr>
                    <a:blipFill>
                      <a:blip r:embed="rId2"/>
                      <a:tile tx="0" ty="0" sx="100000" sy="100000" flip="none" algn="tl"/>
                    </a:blipFill>
                  </a:tcPr>
                </a:tc>
                <a:extLst>
                  <a:ext uri="{0D108BD9-81ED-4DB2-BD59-A6C34878D82A}">
                    <a16:rowId xmlns:a16="http://schemas.microsoft.com/office/drawing/2014/main" val="1055285683"/>
                  </a:ext>
                </a:extLst>
              </a:tr>
              <a:tr h="295044">
                <a:tc>
                  <a:txBody>
                    <a:bodyPr/>
                    <a:lstStyle/>
                    <a:p>
                      <a:r>
                        <a:rPr lang="en-US" sz="1200" b="1" dirty="0"/>
                        <a:t>Random Baseline</a:t>
                      </a:r>
                    </a:p>
                  </a:txBody>
                  <a:tcPr>
                    <a:blipFill>
                      <a:blip r:embed="rId2"/>
                      <a:tile tx="0" ty="0" sx="100000" sy="100000" flip="none" algn="tl"/>
                    </a:blipFill>
                  </a:tcPr>
                </a:tc>
                <a:tc>
                  <a:txBody>
                    <a:bodyPr/>
                    <a:lstStyle/>
                    <a:p>
                      <a:pPr algn="ctr"/>
                      <a:r>
                        <a:rPr lang="en-US" sz="1400" dirty="0"/>
                        <a:t>0.5</a:t>
                      </a:r>
                    </a:p>
                  </a:txBody>
                  <a:tcPr>
                    <a:blipFill>
                      <a:blip r:embed="rId2"/>
                      <a:tile tx="0" ty="0" sx="100000" sy="100000" flip="none" algn="tl"/>
                    </a:blipFill>
                  </a:tcPr>
                </a:tc>
                <a:tc>
                  <a:txBody>
                    <a:bodyPr/>
                    <a:lstStyle/>
                    <a:p>
                      <a:pPr algn="ctr"/>
                      <a:r>
                        <a:rPr lang="en-US" sz="1400" dirty="0"/>
                        <a:t>0.5</a:t>
                      </a:r>
                    </a:p>
                  </a:txBody>
                  <a:tcPr>
                    <a:blipFill>
                      <a:blip r:embed="rId2"/>
                      <a:tile tx="0" ty="0" sx="100000" sy="100000" flip="none" algn="tl"/>
                    </a:blipFill>
                  </a:tcPr>
                </a:tc>
                <a:extLst>
                  <a:ext uri="{0D108BD9-81ED-4DB2-BD59-A6C34878D82A}">
                    <a16:rowId xmlns:a16="http://schemas.microsoft.com/office/drawing/2014/main" val="539845786"/>
                  </a:ext>
                </a:extLst>
              </a:tr>
              <a:tr h="323010">
                <a:tc>
                  <a:txBody>
                    <a:bodyPr/>
                    <a:lstStyle/>
                    <a:p>
                      <a:r>
                        <a:rPr lang="en-US" sz="1200" b="1" i="0" u="none" strike="noStrike" kern="1200" dirty="0" err="1">
                          <a:solidFill>
                            <a:schemeClr val="dk1"/>
                          </a:solidFill>
                          <a:effectLst/>
                          <a:latin typeface="+mn-lt"/>
                          <a:ea typeface="+mn-ea"/>
                          <a:cs typeface="+mn-cs"/>
                        </a:rPr>
                        <a:t>LogReg</a:t>
                      </a:r>
                      <a:r>
                        <a:rPr lang="en-US" sz="1200" b="1" i="0" u="none" strike="noStrike" kern="1200" dirty="0">
                          <a:solidFill>
                            <a:schemeClr val="dk1"/>
                          </a:solidFill>
                          <a:effectLst/>
                          <a:latin typeface="+mn-lt"/>
                          <a:ea typeface="+mn-ea"/>
                          <a:cs typeface="+mn-cs"/>
                        </a:rPr>
                        <a:t> </a:t>
                      </a:r>
                      <a:r>
                        <a:rPr lang="en-US" sz="1200" b="1" i="0" u="none" strike="noStrike" kern="1200" dirty="0" err="1">
                          <a:solidFill>
                            <a:schemeClr val="dk1"/>
                          </a:solidFill>
                          <a:effectLst/>
                          <a:latin typeface="+mn-lt"/>
                          <a:ea typeface="+mn-ea"/>
                          <a:cs typeface="+mn-cs"/>
                        </a:rPr>
                        <a:t>ngram</a:t>
                      </a:r>
                      <a:r>
                        <a:rPr lang="en-US" sz="1200" b="1" i="0" u="none" strike="noStrike" kern="1200" dirty="0">
                          <a:solidFill>
                            <a:schemeClr val="dk1"/>
                          </a:solidFill>
                          <a:effectLst/>
                          <a:latin typeface="+mn-lt"/>
                          <a:ea typeface="+mn-ea"/>
                          <a:cs typeface="+mn-cs"/>
                        </a:rPr>
                        <a:t> baseline</a:t>
                      </a:r>
                      <a:endParaRPr lang="en-US" sz="1200" b="1" dirty="0"/>
                    </a:p>
                  </a:txBody>
                  <a:tcPr>
                    <a:blipFill>
                      <a:blip r:embed="rId2"/>
                      <a:tile tx="0" ty="0" sx="100000" sy="100000" flip="none" algn="tl"/>
                    </a:blipFill>
                  </a:tcPr>
                </a:tc>
                <a:tc>
                  <a:txBody>
                    <a:bodyPr/>
                    <a:lstStyle/>
                    <a:p>
                      <a:pPr algn="ctr"/>
                      <a:r>
                        <a:rPr lang="en-US" sz="1400" dirty="0"/>
                        <a:t>0.82</a:t>
                      </a:r>
                    </a:p>
                  </a:txBody>
                  <a:tcPr>
                    <a:blipFill>
                      <a:blip r:embed="rId2"/>
                      <a:tile tx="0" ty="0" sx="100000" sy="100000" flip="none" algn="tl"/>
                    </a:blipFill>
                  </a:tcPr>
                </a:tc>
                <a:tc>
                  <a:txBody>
                    <a:bodyPr/>
                    <a:lstStyle/>
                    <a:p>
                      <a:pPr algn="ctr"/>
                      <a:r>
                        <a:rPr lang="en-US" sz="1400" dirty="0"/>
                        <a:t>0.84</a:t>
                      </a:r>
                    </a:p>
                  </a:txBody>
                  <a:tcPr>
                    <a:blipFill>
                      <a:blip r:embed="rId2"/>
                      <a:tile tx="0" ty="0" sx="100000" sy="100000" flip="none" algn="tl"/>
                    </a:blipFill>
                  </a:tcPr>
                </a:tc>
                <a:extLst>
                  <a:ext uri="{0D108BD9-81ED-4DB2-BD59-A6C34878D82A}">
                    <a16:rowId xmlns:a16="http://schemas.microsoft.com/office/drawing/2014/main" val="2812822485"/>
                  </a:ext>
                </a:extLst>
              </a:tr>
              <a:tr h="412252">
                <a:tc>
                  <a:txBody>
                    <a:bodyPr/>
                    <a:lstStyle/>
                    <a:p>
                      <a:r>
                        <a:rPr lang="en-US" sz="1200" b="1" i="0" u="none" strike="noStrike" kern="1200" dirty="0">
                          <a:solidFill>
                            <a:schemeClr val="dk1"/>
                          </a:solidFill>
                          <a:effectLst/>
                          <a:latin typeface="+mn-lt"/>
                          <a:ea typeface="+mn-ea"/>
                          <a:cs typeface="+mn-cs"/>
                        </a:rPr>
                        <a:t>Our Approach</a:t>
                      </a:r>
                      <a:endParaRPr lang="en-US" sz="1200" b="1" dirty="0"/>
                    </a:p>
                  </a:txBody>
                  <a:tcPr>
                    <a:blipFill>
                      <a:blip r:embed="rId2"/>
                      <a:tile tx="0" ty="0" sx="100000" sy="100000" flip="none" algn="tl"/>
                    </a:blipFill>
                  </a:tcPr>
                </a:tc>
                <a:tc>
                  <a:txBody>
                    <a:bodyPr/>
                    <a:lstStyle/>
                    <a:p>
                      <a:pPr algn="ctr"/>
                      <a:r>
                        <a:rPr lang="en-US" sz="1400" dirty="0"/>
                        <a:t>0.83 ± 0.035</a:t>
                      </a:r>
                    </a:p>
                  </a:txBody>
                  <a:tcPr>
                    <a:blipFill>
                      <a:blip r:embed="rId2"/>
                      <a:tile tx="0" ty="0" sx="100000" sy="100000" flip="none" algn="tl"/>
                    </a:blipFill>
                  </a:tcPr>
                </a:tc>
                <a:tc>
                  <a:txBody>
                    <a:bodyPr/>
                    <a:lstStyle/>
                    <a:p>
                      <a:pPr algn="ctr"/>
                      <a:r>
                        <a:rPr lang="en-US" sz="1400" dirty="0"/>
                        <a:t>0.94 ± 0.008</a:t>
                      </a:r>
                    </a:p>
                  </a:txBody>
                  <a:tcPr>
                    <a:blipFill>
                      <a:blip r:embed="rId2"/>
                      <a:tile tx="0" ty="0" sx="100000" sy="100000" flip="none" algn="tl"/>
                    </a:blipFill>
                  </a:tcPr>
                </a:tc>
                <a:extLst>
                  <a:ext uri="{0D108BD9-81ED-4DB2-BD59-A6C34878D82A}">
                    <a16:rowId xmlns:a16="http://schemas.microsoft.com/office/drawing/2014/main" val="2763822889"/>
                  </a:ext>
                </a:extLst>
              </a:tr>
            </a:tbl>
          </a:graphicData>
        </a:graphic>
      </p:graphicFrame>
      <p:sp>
        <p:nvSpPr>
          <p:cNvPr id="7" name="TextBox 6">
            <a:extLst>
              <a:ext uri="{FF2B5EF4-FFF2-40B4-BE49-F238E27FC236}">
                <a16:creationId xmlns:a16="http://schemas.microsoft.com/office/drawing/2014/main" id="{46ECFFE7-D8F7-D2CF-8833-2AB47D357EF7}"/>
              </a:ext>
            </a:extLst>
          </p:cNvPr>
          <p:cNvSpPr txBox="1"/>
          <p:nvPr/>
        </p:nvSpPr>
        <p:spPr>
          <a:xfrm>
            <a:off x="1194214" y="1845863"/>
            <a:ext cx="3855805" cy="400110"/>
          </a:xfrm>
          <a:prstGeom prst="rect">
            <a:avLst/>
          </a:prstGeom>
          <a:noFill/>
        </p:spPr>
        <p:txBody>
          <a:bodyPr wrap="square" rtlCol="0">
            <a:spAutoFit/>
          </a:bodyPr>
          <a:lstStyle/>
          <a:p>
            <a:r>
              <a:rPr lang="en-US" sz="2000" b="1" dirty="0"/>
              <a:t>Opioid Prescription Prediction</a:t>
            </a:r>
          </a:p>
        </p:txBody>
      </p:sp>
      <p:sp>
        <p:nvSpPr>
          <p:cNvPr id="8" name="TextBox 7">
            <a:extLst>
              <a:ext uri="{FF2B5EF4-FFF2-40B4-BE49-F238E27FC236}">
                <a16:creationId xmlns:a16="http://schemas.microsoft.com/office/drawing/2014/main" id="{5870F3A1-9DDA-3C85-67C3-AA7AD9AC0737}"/>
              </a:ext>
            </a:extLst>
          </p:cNvPr>
          <p:cNvSpPr txBox="1"/>
          <p:nvPr/>
        </p:nvSpPr>
        <p:spPr>
          <a:xfrm>
            <a:off x="1194214" y="4132867"/>
            <a:ext cx="3855805" cy="400110"/>
          </a:xfrm>
          <a:prstGeom prst="rect">
            <a:avLst/>
          </a:prstGeom>
          <a:noFill/>
        </p:spPr>
        <p:txBody>
          <a:bodyPr wrap="square" rtlCol="0">
            <a:spAutoFit/>
          </a:bodyPr>
          <a:lstStyle/>
          <a:p>
            <a:r>
              <a:rPr lang="en-US" sz="2000" b="1" dirty="0"/>
              <a:t>Opioid Use Disorder Prediction</a:t>
            </a:r>
          </a:p>
        </p:txBody>
      </p:sp>
      <p:sp>
        <p:nvSpPr>
          <p:cNvPr id="3" name="Rounded Rectangle 2">
            <a:extLst>
              <a:ext uri="{FF2B5EF4-FFF2-40B4-BE49-F238E27FC236}">
                <a16:creationId xmlns:a16="http://schemas.microsoft.com/office/drawing/2014/main" id="{E811CB40-B692-25E1-FB22-0F7ED876D98D}"/>
              </a:ext>
            </a:extLst>
          </p:cNvPr>
          <p:cNvSpPr/>
          <p:nvPr/>
        </p:nvSpPr>
        <p:spPr>
          <a:xfrm>
            <a:off x="6372248" y="2868145"/>
            <a:ext cx="5667949" cy="2742878"/>
          </a:xfrm>
          <a:prstGeom prst="roundRect">
            <a:avLst/>
          </a:prstGeom>
          <a:solidFill>
            <a:schemeClr val="accent2"/>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ROC</a:t>
            </a:r>
            <a:r>
              <a:rPr lang="en-US" dirty="0"/>
              <a:t>: Plot between True Positive Rate and False Positive Rate </a:t>
            </a:r>
            <a:endParaRPr lang="en-US" b="1" dirty="0"/>
          </a:p>
          <a:p>
            <a:endParaRPr lang="en-US" b="1" dirty="0"/>
          </a:p>
          <a:p>
            <a:r>
              <a:rPr lang="en-US" b="1" dirty="0"/>
              <a:t>AUC ROC: </a:t>
            </a:r>
            <a:r>
              <a:rPr lang="en-US" dirty="0"/>
              <a:t>“Area Under the Curve” of the “Receiving Operating Curve”</a:t>
            </a:r>
          </a:p>
          <a:p>
            <a:pPr marL="285750" indent="-285750">
              <a:buFont typeface="Arial" panose="020B0604020202020204" pitchFamily="34" charset="0"/>
              <a:buChar char="•"/>
            </a:pPr>
            <a:r>
              <a:rPr lang="en-US" dirty="0"/>
              <a:t>High score suggests model can different well between different classes across different classification thresholds</a:t>
            </a:r>
          </a:p>
        </p:txBody>
      </p:sp>
      <p:sp>
        <p:nvSpPr>
          <p:cNvPr id="9" name="Rounded Rectangle 8">
            <a:extLst>
              <a:ext uri="{FF2B5EF4-FFF2-40B4-BE49-F238E27FC236}">
                <a16:creationId xmlns:a16="http://schemas.microsoft.com/office/drawing/2014/main" id="{CC8658F5-FFCF-DF18-20A1-A836AD7C47BB}"/>
              </a:ext>
            </a:extLst>
          </p:cNvPr>
          <p:cNvSpPr/>
          <p:nvPr/>
        </p:nvSpPr>
        <p:spPr>
          <a:xfrm>
            <a:off x="428051" y="3523257"/>
            <a:ext cx="5667948" cy="361251"/>
          </a:xfrm>
          <a:prstGeom prst="roundRect">
            <a:avLst/>
          </a:prstGeom>
          <a:noFill/>
          <a:ln w="317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C5005E35-868D-81C0-7798-0F75ECB4A741}"/>
              </a:ext>
            </a:extLst>
          </p:cNvPr>
          <p:cNvSpPr/>
          <p:nvPr/>
        </p:nvSpPr>
        <p:spPr>
          <a:xfrm>
            <a:off x="428051" y="5577407"/>
            <a:ext cx="5667948" cy="379673"/>
          </a:xfrm>
          <a:prstGeom prst="roundRect">
            <a:avLst/>
          </a:prstGeom>
          <a:noFill/>
          <a:ln w="317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14">
            <a:extLst>
              <a:ext uri="{FF2B5EF4-FFF2-40B4-BE49-F238E27FC236}">
                <a16:creationId xmlns:a16="http://schemas.microsoft.com/office/drawing/2014/main" id="{38A67D85-1E3D-024C-D2A8-4D5B91748879}"/>
              </a:ext>
            </a:extLst>
          </p:cNvPr>
          <p:cNvSpPr>
            <a:spLocks noGrp="1"/>
          </p:cNvSpPr>
          <p:nvPr>
            <p:ph type="sldNum" sz="quarter" idx="12"/>
          </p:nvPr>
        </p:nvSpPr>
        <p:spPr/>
        <p:txBody>
          <a:bodyPr/>
          <a:lstStyle/>
          <a:p>
            <a:fld id="{BDA8D12A-5188-A74B-8183-7E806E12A340}" type="slidenum">
              <a:rPr lang="en-US" smtClean="0"/>
              <a:t>25</a:t>
            </a:fld>
            <a:endParaRPr lang="en-US"/>
          </a:p>
        </p:txBody>
      </p:sp>
    </p:spTree>
    <p:extLst>
      <p:ext uri="{BB962C8B-B14F-4D97-AF65-F5344CB8AC3E}">
        <p14:creationId xmlns:p14="http://schemas.microsoft.com/office/powerpoint/2010/main" val="33859975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4A3CE-860C-353D-A1B4-17BDB9AF619A}"/>
              </a:ext>
            </a:extLst>
          </p:cNvPr>
          <p:cNvSpPr>
            <a:spLocks noGrp="1"/>
          </p:cNvSpPr>
          <p:nvPr>
            <p:ph type="title"/>
          </p:nvPr>
        </p:nvSpPr>
        <p:spPr/>
        <p:txBody>
          <a:bodyPr>
            <a:normAutofit/>
          </a:bodyPr>
          <a:lstStyle/>
          <a:p>
            <a:r>
              <a:rPr lang="en-US" dirty="0"/>
              <a:t>Predictive Features for OUD</a:t>
            </a:r>
          </a:p>
        </p:txBody>
      </p:sp>
      <p:graphicFrame>
        <p:nvGraphicFramePr>
          <p:cNvPr id="4" name="Table 3">
            <a:extLst>
              <a:ext uri="{FF2B5EF4-FFF2-40B4-BE49-F238E27FC236}">
                <a16:creationId xmlns:a16="http://schemas.microsoft.com/office/drawing/2014/main" id="{009336B7-BAE7-1E3B-DB98-6F2098CEC9ED}"/>
              </a:ext>
            </a:extLst>
          </p:cNvPr>
          <p:cNvGraphicFramePr>
            <a:graphicFrameLocks noGrp="1"/>
          </p:cNvGraphicFramePr>
          <p:nvPr>
            <p:extLst>
              <p:ext uri="{D42A27DB-BD31-4B8C-83A1-F6EECF244321}">
                <p14:modId xmlns:p14="http://schemas.microsoft.com/office/powerpoint/2010/main" val="678297291"/>
              </p:ext>
            </p:extLst>
          </p:nvPr>
        </p:nvGraphicFramePr>
        <p:xfrm>
          <a:off x="1378262" y="2117562"/>
          <a:ext cx="9849372" cy="3252728"/>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3283124">
                  <a:extLst>
                    <a:ext uri="{9D8B030D-6E8A-4147-A177-3AD203B41FA5}">
                      <a16:colId xmlns:a16="http://schemas.microsoft.com/office/drawing/2014/main" val="4661332"/>
                    </a:ext>
                  </a:extLst>
                </a:gridCol>
                <a:gridCol w="3283124">
                  <a:extLst>
                    <a:ext uri="{9D8B030D-6E8A-4147-A177-3AD203B41FA5}">
                      <a16:colId xmlns:a16="http://schemas.microsoft.com/office/drawing/2014/main" val="3682323977"/>
                    </a:ext>
                  </a:extLst>
                </a:gridCol>
                <a:gridCol w="3283124">
                  <a:extLst>
                    <a:ext uri="{9D8B030D-6E8A-4147-A177-3AD203B41FA5}">
                      <a16:colId xmlns:a16="http://schemas.microsoft.com/office/drawing/2014/main" val="2179298926"/>
                    </a:ext>
                  </a:extLst>
                </a:gridCol>
              </a:tblGrid>
              <a:tr h="406591">
                <a:tc>
                  <a:txBody>
                    <a:bodyPr/>
                    <a:lstStyle/>
                    <a:p>
                      <a:r>
                        <a:rPr lang="en-US" dirty="0"/>
                        <a:t>Structured Static Data</a:t>
                      </a:r>
                    </a:p>
                  </a:txBody>
                  <a:tcPr/>
                </a:tc>
                <a:tc>
                  <a:txBody>
                    <a:bodyPr/>
                    <a:lstStyle/>
                    <a:p>
                      <a:r>
                        <a:rPr lang="en-US" dirty="0"/>
                        <a:t>Structured Time Varying Data</a:t>
                      </a:r>
                    </a:p>
                  </a:txBody>
                  <a:tcPr/>
                </a:tc>
                <a:tc>
                  <a:txBody>
                    <a:bodyPr/>
                    <a:lstStyle/>
                    <a:p>
                      <a:r>
                        <a:rPr lang="en-US" dirty="0"/>
                        <a:t>Clinical Notes</a:t>
                      </a:r>
                    </a:p>
                  </a:txBody>
                  <a:tcPr/>
                </a:tc>
                <a:extLst>
                  <a:ext uri="{0D108BD9-81ED-4DB2-BD59-A6C34878D82A}">
                    <a16:rowId xmlns:a16="http://schemas.microsoft.com/office/drawing/2014/main" val="3578592255"/>
                  </a:ext>
                </a:extLst>
              </a:tr>
              <a:tr h="406591">
                <a:tc>
                  <a:txBody>
                    <a:bodyPr/>
                    <a:lstStyle/>
                    <a:p>
                      <a:r>
                        <a:rPr lang="en-US" sz="1800" b="0" i="0" u="none" strike="noStrike" kern="1200" dirty="0">
                          <a:solidFill>
                            <a:schemeClr val="dk1"/>
                          </a:solidFill>
                          <a:effectLst/>
                          <a:latin typeface="+mn-lt"/>
                          <a:ea typeface="+mn-ea"/>
                          <a:cs typeface="+mn-cs"/>
                        </a:rPr>
                        <a:t>Age_25-35</a:t>
                      </a:r>
                      <a:endParaRPr lang="en-US" dirty="0"/>
                    </a:p>
                  </a:txBody>
                  <a:tcPr/>
                </a:tc>
                <a:tc>
                  <a:txBody>
                    <a:bodyPr/>
                    <a:lstStyle/>
                    <a:p>
                      <a:r>
                        <a:rPr lang="en-US" sz="1800" b="0" i="0" u="none" strike="noStrike" kern="1200" dirty="0">
                          <a:solidFill>
                            <a:schemeClr val="dk1"/>
                          </a:solidFill>
                          <a:effectLst/>
                          <a:latin typeface="+mn-lt"/>
                          <a:ea typeface="+mn-ea"/>
                          <a:cs typeface="+mn-cs"/>
                        </a:rPr>
                        <a:t>Cryoprecipitate</a:t>
                      </a:r>
                      <a:endParaRPr lang="en-US" dirty="0"/>
                    </a:p>
                  </a:txBody>
                  <a:tcPr/>
                </a:tc>
                <a:tc>
                  <a:txBody>
                    <a:bodyPr/>
                    <a:lstStyle/>
                    <a:p>
                      <a:r>
                        <a:rPr lang="en-US" sz="1800" b="0" i="0" u="none" strike="noStrike" kern="1200" dirty="0">
                          <a:solidFill>
                            <a:schemeClr val="dk1"/>
                          </a:solidFill>
                          <a:effectLst/>
                          <a:latin typeface="+mn-lt"/>
                          <a:ea typeface="+mn-ea"/>
                          <a:cs typeface="+mn-cs"/>
                        </a:rPr>
                        <a:t>methadone</a:t>
                      </a:r>
                      <a:endParaRPr lang="en-US" dirty="0"/>
                    </a:p>
                  </a:txBody>
                  <a:tcPr/>
                </a:tc>
                <a:extLst>
                  <a:ext uri="{0D108BD9-81ED-4DB2-BD59-A6C34878D82A}">
                    <a16:rowId xmlns:a16="http://schemas.microsoft.com/office/drawing/2014/main" val="793471853"/>
                  </a:ext>
                </a:extLst>
              </a:tr>
              <a:tr h="406591">
                <a:tc>
                  <a:txBody>
                    <a:bodyPr/>
                    <a:lstStyle/>
                    <a:p>
                      <a:r>
                        <a:rPr lang="en-US" sz="1800" b="0" i="0" u="none" strike="noStrike" kern="1200" dirty="0">
                          <a:solidFill>
                            <a:schemeClr val="dk1"/>
                          </a:solidFill>
                          <a:effectLst/>
                          <a:latin typeface="+mn-lt"/>
                          <a:ea typeface="+mn-ea"/>
                          <a:cs typeface="+mn-cs"/>
                        </a:rPr>
                        <a:t>Age_18-25</a:t>
                      </a:r>
                      <a:endParaRPr lang="en-US" dirty="0"/>
                    </a:p>
                  </a:txBody>
                  <a:tcPr/>
                </a:tc>
                <a:tc>
                  <a:txBody>
                    <a:bodyPr/>
                    <a:lstStyle/>
                    <a:p>
                      <a:r>
                        <a:rPr lang="en-US" sz="1800" b="0" i="0" u="none" strike="noStrike" kern="1200" dirty="0">
                          <a:solidFill>
                            <a:schemeClr val="dk1"/>
                          </a:solidFill>
                          <a:effectLst/>
                          <a:latin typeface="+mn-lt"/>
                          <a:ea typeface="+mn-ea"/>
                          <a:cs typeface="+mn-cs"/>
                        </a:rPr>
                        <a:t>Naloxone</a:t>
                      </a:r>
                      <a:endParaRPr lang="en-US" dirty="0"/>
                    </a:p>
                  </a:txBody>
                  <a:tcPr/>
                </a:tc>
                <a:tc>
                  <a:txBody>
                    <a:bodyPr/>
                    <a:lstStyle/>
                    <a:p>
                      <a:r>
                        <a:rPr lang="en-US" sz="1800" b="0" i="0" u="none" strike="noStrike" kern="1200" dirty="0">
                          <a:solidFill>
                            <a:schemeClr val="dk1"/>
                          </a:solidFill>
                          <a:effectLst/>
                          <a:latin typeface="+mn-lt"/>
                          <a:ea typeface="+mn-ea"/>
                          <a:cs typeface="+mn-cs"/>
                        </a:rPr>
                        <a:t>abuse</a:t>
                      </a:r>
                      <a:endParaRPr lang="en-US" dirty="0"/>
                    </a:p>
                  </a:txBody>
                  <a:tcPr/>
                </a:tc>
                <a:extLst>
                  <a:ext uri="{0D108BD9-81ED-4DB2-BD59-A6C34878D82A}">
                    <a16:rowId xmlns:a16="http://schemas.microsoft.com/office/drawing/2014/main" val="2696827527"/>
                  </a:ext>
                </a:extLst>
              </a:tr>
              <a:tr h="406591">
                <a:tc>
                  <a:txBody>
                    <a:bodyPr/>
                    <a:lstStyle/>
                    <a:p>
                      <a:r>
                        <a:rPr lang="en-US" sz="1800" b="0" i="0" u="none" strike="noStrike" kern="1200" dirty="0">
                          <a:solidFill>
                            <a:schemeClr val="dk1"/>
                          </a:solidFill>
                          <a:effectLst/>
                          <a:latin typeface="+mn-lt"/>
                          <a:ea typeface="+mn-ea"/>
                          <a:cs typeface="+mn-cs"/>
                        </a:rPr>
                        <a:t>Age_35-50</a:t>
                      </a:r>
                      <a:endParaRPr lang="en-US" dirty="0"/>
                    </a:p>
                  </a:txBody>
                  <a:tcPr/>
                </a:tc>
                <a:tc>
                  <a:txBody>
                    <a:bodyPr/>
                    <a:lstStyle/>
                    <a:p>
                      <a:r>
                        <a:rPr lang="en-US" sz="1800" b="0" i="0" u="none" strike="noStrike" kern="1200" dirty="0">
                          <a:solidFill>
                            <a:schemeClr val="dk1"/>
                          </a:solidFill>
                          <a:effectLst/>
                          <a:latin typeface="+mn-lt"/>
                          <a:ea typeface="+mn-ea"/>
                          <a:cs typeface="+mn-cs"/>
                        </a:rPr>
                        <a:t>Acetaminophen-IV</a:t>
                      </a:r>
                      <a:endParaRPr lang="en-US" dirty="0"/>
                    </a:p>
                  </a:txBody>
                  <a:tcPr/>
                </a:tc>
                <a:tc>
                  <a:txBody>
                    <a:bodyPr/>
                    <a:lstStyle/>
                    <a:p>
                      <a:r>
                        <a:rPr lang="en-US" sz="1800" b="0" i="0" u="none" strike="noStrike" kern="1200" dirty="0">
                          <a:solidFill>
                            <a:schemeClr val="dk1"/>
                          </a:solidFill>
                          <a:effectLst/>
                          <a:latin typeface="+mn-lt"/>
                          <a:ea typeface="+mn-ea"/>
                          <a:cs typeface="+mn-cs"/>
                        </a:rPr>
                        <a:t>pain</a:t>
                      </a:r>
                      <a:endParaRPr lang="en-US" dirty="0"/>
                    </a:p>
                  </a:txBody>
                  <a:tcPr/>
                </a:tc>
                <a:extLst>
                  <a:ext uri="{0D108BD9-81ED-4DB2-BD59-A6C34878D82A}">
                    <a16:rowId xmlns:a16="http://schemas.microsoft.com/office/drawing/2014/main" val="617064188"/>
                  </a:ext>
                </a:extLst>
              </a:tr>
              <a:tr h="406591">
                <a:tc>
                  <a:txBody>
                    <a:bodyPr/>
                    <a:lstStyle/>
                    <a:p>
                      <a:r>
                        <a:rPr lang="en-US" sz="1800" b="0" i="0" u="none" strike="noStrike" kern="1200" dirty="0">
                          <a:solidFill>
                            <a:schemeClr val="dk1"/>
                          </a:solidFill>
                          <a:effectLst/>
                          <a:latin typeface="+mn-lt"/>
                          <a:ea typeface="+mn-ea"/>
                          <a:cs typeface="+mn-cs"/>
                        </a:rPr>
                        <a:t>ADMISSION_TYPE_EMERGENCY</a:t>
                      </a:r>
                      <a:endParaRPr lang="en-US" dirty="0"/>
                    </a:p>
                  </a:txBody>
                  <a:tcPr/>
                </a:tc>
                <a:tc>
                  <a:txBody>
                    <a:bodyPr/>
                    <a:lstStyle/>
                    <a:p>
                      <a:r>
                        <a:rPr lang="en-US" sz="1800" b="0" i="0" u="none" strike="noStrike" kern="1200" dirty="0">
                          <a:solidFill>
                            <a:schemeClr val="dk1"/>
                          </a:solidFill>
                          <a:effectLst/>
                          <a:latin typeface="+mn-lt"/>
                          <a:ea typeface="+mn-ea"/>
                          <a:cs typeface="+mn-cs"/>
                        </a:rPr>
                        <a:t>Epinephrine</a:t>
                      </a:r>
                      <a:endParaRPr lang="en-US" dirty="0"/>
                    </a:p>
                  </a:txBody>
                  <a:tcPr/>
                </a:tc>
                <a:tc>
                  <a:txBody>
                    <a:bodyPr/>
                    <a:lstStyle/>
                    <a:p>
                      <a:r>
                        <a:rPr lang="en-US" sz="1800" b="0" i="0" u="none" strike="noStrike" kern="1200" dirty="0">
                          <a:solidFill>
                            <a:schemeClr val="dk1"/>
                          </a:solidFill>
                          <a:effectLst/>
                          <a:latin typeface="+mn-lt"/>
                          <a:ea typeface="+mn-ea"/>
                          <a:cs typeface="+mn-cs"/>
                        </a:rPr>
                        <a:t>artifact</a:t>
                      </a:r>
                      <a:endParaRPr lang="en-US" dirty="0"/>
                    </a:p>
                  </a:txBody>
                  <a:tcPr/>
                </a:tc>
                <a:extLst>
                  <a:ext uri="{0D108BD9-81ED-4DB2-BD59-A6C34878D82A}">
                    <a16:rowId xmlns:a16="http://schemas.microsoft.com/office/drawing/2014/main" val="4227294002"/>
                  </a:ext>
                </a:extLst>
              </a:tr>
              <a:tr h="406591">
                <a:tc>
                  <a:txBody>
                    <a:bodyPr/>
                    <a:lstStyle/>
                    <a:p>
                      <a:r>
                        <a:rPr lang="en-US" sz="1800" b="0" i="0" u="none" strike="noStrike" kern="1200" dirty="0" err="1">
                          <a:solidFill>
                            <a:schemeClr val="dk1"/>
                          </a:solidFill>
                          <a:effectLst/>
                          <a:latin typeface="+mn-lt"/>
                          <a:ea typeface="+mn-ea"/>
                          <a:cs typeface="+mn-cs"/>
                        </a:rPr>
                        <a:t>INSURANCE_Medicaid</a:t>
                      </a:r>
                      <a:endParaRPr lang="en-US" dirty="0"/>
                    </a:p>
                  </a:txBody>
                  <a:tcPr/>
                </a:tc>
                <a:tc>
                  <a:txBody>
                    <a:bodyPr/>
                    <a:lstStyle/>
                    <a:p>
                      <a:r>
                        <a:rPr lang="en-US" sz="1800" b="0" i="0" u="none" strike="noStrike" kern="1200" dirty="0">
                          <a:solidFill>
                            <a:schemeClr val="dk1"/>
                          </a:solidFill>
                          <a:effectLst/>
                          <a:latin typeface="+mn-lt"/>
                          <a:ea typeface="+mn-ea"/>
                          <a:cs typeface="+mn-cs"/>
                        </a:rPr>
                        <a:t>Narcan</a:t>
                      </a:r>
                      <a:endParaRPr lang="en-US" dirty="0"/>
                    </a:p>
                  </a:txBody>
                  <a:tcPr/>
                </a:tc>
                <a:tc>
                  <a:txBody>
                    <a:bodyPr/>
                    <a:lstStyle/>
                    <a:p>
                      <a:r>
                        <a:rPr lang="en-US" sz="1800" b="0" i="0" u="none" strike="noStrike" kern="1200" dirty="0">
                          <a:solidFill>
                            <a:schemeClr val="dk1"/>
                          </a:solidFill>
                          <a:effectLst/>
                          <a:latin typeface="+mn-lt"/>
                          <a:ea typeface="+mn-ea"/>
                          <a:cs typeface="+mn-cs"/>
                        </a:rPr>
                        <a:t>heroin</a:t>
                      </a:r>
                      <a:endParaRPr lang="en-US" dirty="0"/>
                    </a:p>
                  </a:txBody>
                  <a:tcPr/>
                </a:tc>
                <a:extLst>
                  <a:ext uri="{0D108BD9-81ED-4DB2-BD59-A6C34878D82A}">
                    <a16:rowId xmlns:a16="http://schemas.microsoft.com/office/drawing/2014/main" val="1835911500"/>
                  </a:ext>
                </a:extLst>
              </a:tr>
              <a:tr h="406591">
                <a:tc>
                  <a:txBody>
                    <a:bodyPr/>
                    <a:lstStyle/>
                    <a:p>
                      <a:r>
                        <a:rPr lang="en-US" sz="1800" b="0" i="0" u="none" strike="noStrike" kern="1200" dirty="0">
                          <a:solidFill>
                            <a:schemeClr val="dk1"/>
                          </a:solidFill>
                          <a:effectLst/>
                          <a:latin typeface="+mn-lt"/>
                          <a:ea typeface="+mn-ea"/>
                          <a:cs typeface="+mn-cs"/>
                        </a:rPr>
                        <a:t>GENDER_M</a:t>
                      </a:r>
                      <a:endParaRPr lang="en-US" dirty="0"/>
                    </a:p>
                  </a:txBody>
                  <a:tcPr/>
                </a:tc>
                <a:tc>
                  <a:txBody>
                    <a:bodyPr/>
                    <a:lstStyle/>
                    <a:p>
                      <a:r>
                        <a:rPr lang="en-US" sz="1800" b="0" i="0" u="none" strike="noStrike" kern="1200" dirty="0">
                          <a:solidFill>
                            <a:schemeClr val="dk1"/>
                          </a:solidFill>
                          <a:effectLst/>
                          <a:latin typeface="+mn-lt"/>
                          <a:ea typeface="+mn-ea"/>
                          <a:cs typeface="+mn-cs"/>
                        </a:rPr>
                        <a:t>Invasive Ventilation</a:t>
                      </a:r>
                      <a:endParaRPr lang="en-US" dirty="0"/>
                    </a:p>
                  </a:txBody>
                  <a:tcPr/>
                </a:tc>
                <a:tc>
                  <a:txBody>
                    <a:bodyPr/>
                    <a:lstStyle/>
                    <a:p>
                      <a:r>
                        <a:rPr lang="en-US" sz="1800" b="0" i="0" u="none" strike="noStrike" kern="1200" dirty="0">
                          <a:solidFill>
                            <a:schemeClr val="dk1"/>
                          </a:solidFill>
                          <a:effectLst/>
                          <a:latin typeface="+mn-lt"/>
                          <a:ea typeface="+mn-ea"/>
                          <a:cs typeface="+mn-cs"/>
                        </a:rPr>
                        <a:t>rhythm normal</a:t>
                      </a:r>
                      <a:endParaRPr lang="en-US" dirty="0"/>
                    </a:p>
                  </a:txBody>
                  <a:tcPr/>
                </a:tc>
                <a:extLst>
                  <a:ext uri="{0D108BD9-81ED-4DB2-BD59-A6C34878D82A}">
                    <a16:rowId xmlns:a16="http://schemas.microsoft.com/office/drawing/2014/main" val="1016343366"/>
                  </a:ext>
                </a:extLst>
              </a:tr>
              <a:tr h="406591">
                <a:tc>
                  <a:txBody>
                    <a:bodyPr/>
                    <a:lstStyle/>
                    <a:p>
                      <a:r>
                        <a:rPr lang="en-US" sz="1800" b="0" i="0" u="none" strike="noStrike" kern="1200" dirty="0">
                          <a:solidFill>
                            <a:schemeClr val="dk1"/>
                          </a:solidFill>
                          <a:effectLst/>
                          <a:latin typeface="+mn-lt"/>
                          <a:ea typeface="+mn-ea"/>
                          <a:cs typeface="+mn-cs"/>
                        </a:rPr>
                        <a:t>ADMISSION_TYPE_URGENT</a:t>
                      </a:r>
                      <a:endParaRPr lang="en-US" dirty="0"/>
                    </a:p>
                  </a:txBody>
                  <a:tcPr/>
                </a:tc>
                <a:tc>
                  <a:txBody>
                    <a:bodyPr/>
                    <a:lstStyle/>
                    <a:p>
                      <a:r>
                        <a:rPr lang="en-US" sz="1800" b="0" i="0" u="none" strike="noStrike" kern="1200" dirty="0" err="1">
                          <a:solidFill>
                            <a:schemeClr val="dk1"/>
                          </a:solidFill>
                          <a:effectLst/>
                          <a:latin typeface="+mn-lt"/>
                          <a:ea typeface="+mn-ea"/>
                          <a:cs typeface="+mn-cs"/>
                        </a:rPr>
                        <a:t>Sandostatin</a:t>
                      </a:r>
                      <a:endParaRPr lang="en-US" dirty="0"/>
                    </a:p>
                  </a:txBody>
                  <a:tcPr/>
                </a:tc>
                <a:tc>
                  <a:txBody>
                    <a:bodyPr/>
                    <a:lstStyle/>
                    <a:p>
                      <a:r>
                        <a:rPr lang="en-US" sz="1800" b="0" i="0" u="none" strike="noStrike" kern="1200" dirty="0">
                          <a:solidFill>
                            <a:schemeClr val="dk1"/>
                          </a:solidFill>
                          <a:effectLst/>
                          <a:latin typeface="+mn-lt"/>
                          <a:ea typeface="+mn-ea"/>
                          <a:cs typeface="+mn-cs"/>
                        </a:rPr>
                        <a:t>overdose</a:t>
                      </a:r>
                      <a:endParaRPr lang="en-US" dirty="0"/>
                    </a:p>
                  </a:txBody>
                  <a:tcPr/>
                </a:tc>
                <a:extLst>
                  <a:ext uri="{0D108BD9-81ED-4DB2-BD59-A6C34878D82A}">
                    <a16:rowId xmlns:a16="http://schemas.microsoft.com/office/drawing/2014/main" val="2780696963"/>
                  </a:ext>
                </a:extLst>
              </a:tr>
            </a:tbl>
          </a:graphicData>
        </a:graphic>
      </p:graphicFrame>
      <p:sp>
        <p:nvSpPr>
          <p:cNvPr id="5" name="TextBox 4">
            <a:extLst>
              <a:ext uri="{FF2B5EF4-FFF2-40B4-BE49-F238E27FC236}">
                <a16:creationId xmlns:a16="http://schemas.microsoft.com/office/drawing/2014/main" id="{E9B6B448-9385-4172-D9D0-CCCEEE5616DD}"/>
              </a:ext>
            </a:extLst>
          </p:cNvPr>
          <p:cNvSpPr txBox="1"/>
          <p:nvPr/>
        </p:nvSpPr>
        <p:spPr>
          <a:xfrm>
            <a:off x="1053884" y="1661064"/>
            <a:ext cx="8896027" cy="370587"/>
          </a:xfrm>
          <a:prstGeom prst="rect">
            <a:avLst/>
          </a:prstGeom>
          <a:noFill/>
        </p:spPr>
        <p:txBody>
          <a:bodyPr wrap="square" rtlCol="0">
            <a:spAutoFit/>
          </a:bodyPr>
          <a:lstStyle/>
          <a:p>
            <a:r>
              <a:rPr lang="en-US" dirty="0"/>
              <a:t>Used a Global Surrogate LogReg Model to explore most predictive features for OUD</a:t>
            </a:r>
          </a:p>
        </p:txBody>
      </p:sp>
      <p:sp>
        <p:nvSpPr>
          <p:cNvPr id="9" name="Rounded Rectangle 8">
            <a:extLst>
              <a:ext uri="{FF2B5EF4-FFF2-40B4-BE49-F238E27FC236}">
                <a16:creationId xmlns:a16="http://schemas.microsoft.com/office/drawing/2014/main" id="{5A6047A1-12B2-72EB-E531-820E5FB6BEB5}"/>
              </a:ext>
            </a:extLst>
          </p:cNvPr>
          <p:cNvSpPr/>
          <p:nvPr/>
        </p:nvSpPr>
        <p:spPr>
          <a:xfrm>
            <a:off x="7938563" y="4974757"/>
            <a:ext cx="3271230" cy="407337"/>
          </a:xfrm>
          <a:prstGeom prst="round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38431E8E-6399-586D-AC20-41A3DAD4A4A7}"/>
              </a:ext>
            </a:extLst>
          </p:cNvPr>
          <p:cNvSpPr/>
          <p:nvPr/>
        </p:nvSpPr>
        <p:spPr>
          <a:xfrm>
            <a:off x="369757" y="5416483"/>
            <a:ext cx="11452485" cy="468033"/>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According to the literature, age and gender are the most consistent demographic variables in predicting opioid abuse</a:t>
            </a:r>
          </a:p>
        </p:txBody>
      </p:sp>
      <p:sp>
        <p:nvSpPr>
          <p:cNvPr id="10" name="Rounded Rectangle 9">
            <a:extLst>
              <a:ext uri="{FF2B5EF4-FFF2-40B4-BE49-F238E27FC236}">
                <a16:creationId xmlns:a16="http://schemas.microsoft.com/office/drawing/2014/main" id="{2B02E430-C014-F38A-3F7E-4D1CB565D5A3}"/>
              </a:ext>
            </a:extLst>
          </p:cNvPr>
          <p:cNvSpPr/>
          <p:nvPr/>
        </p:nvSpPr>
        <p:spPr>
          <a:xfrm>
            <a:off x="369756" y="5797164"/>
            <a:ext cx="11452485" cy="468033"/>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Similarly, Naloxone, Acetaminophen, Epinephrine, Methadone and Heroin are highly predictive of opioid use disorder</a:t>
            </a:r>
          </a:p>
        </p:txBody>
      </p:sp>
      <p:sp>
        <p:nvSpPr>
          <p:cNvPr id="11" name="Rounded Rectangle 10">
            <a:extLst>
              <a:ext uri="{FF2B5EF4-FFF2-40B4-BE49-F238E27FC236}">
                <a16:creationId xmlns:a16="http://schemas.microsoft.com/office/drawing/2014/main" id="{79466927-0C7B-AFF7-0BD1-C72923E3132B}"/>
              </a:ext>
            </a:extLst>
          </p:cNvPr>
          <p:cNvSpPr/>
          <p:nvPr/>
        </p:nvSpPr>
        <p:spPr>
          <a:xfrm>
            <a:off x="7938563" y="2910691"/>
            <a:ext cx="3271230" cy="407337"/>
          </a:xfrm>
          <a:prstGeom prst="round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087E632A-1216-BBA6-E530-AD4CD5FF2B13}"/>
              </a:ext>
            </a:extLst>
          </p:cNvPr>
          <p:cNvSpPr/>
          <p:nvPr/>
        </p:nvSpPr>
        <p:spPr>
          <a:xfrm>
            <a:off x="7947483" y="3327590"/>
            <a:ext cx="3271230" cy="407337"/>
          </a:xfrm>
          <a:prstGeom prst="round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060B65CA-0AE6-7EBC-88C4-58C1160C7C15}"/>
              </a:ext>
            </a:extLst>
          </p:cNvPr>
          <p:cNvSpPr/>
          <p:nvPr/>
        </p:nvSpPr>
        <p:spPr>
          <a:xfrm>
            <a:off x="369756" y="6177845"/>
            <a:ext cx="11452485" cy="468033"/>
          </a:xfrm>
          <a:prstGeom prst="round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Patients who have a history of substance abuse or who deal with chronic pain have a higher likelihood to develop OUD</a:t>
            </a:r>
          </a:p>
        </p:txBody>
      </p:sp>
      <p:sp>
        <p:nvSpPr>
          <p:cNvPr id="7" name="Rounded Rectangle 6">
            <a:extLst>
              <a:ext uri="{FF2B5EF4-FFF2-40B4-BE49-F238E27FC236}">
                <a16:creationId xmlns:a16="http://schemas.microsoft.com/office/drawing/2014/main" id="{34EBBCE4-9074-D90B-E575-FD2D863910F7}"/>
              </a:ext>
            </a:extLst>
          </p:cNvPr>
          <p:cNvSpPr/>
          <p:nvPr/>
        </p:nvSpPr>
        <p:spPr>
          <a:xfrm>
            <a:off x="1378262" y="2519025"/>
            <a:ext cx="3271230" cy="407337"/>
          </a:xfrm>
          <a:prstGeom prst="round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EBB6A68F-952D-359F-D64F-3C60A79F28FE}"/>
              </a:ext>
            </a:extLst>
          </p:cNvPr>
          <p:cNvSpPr/>
          <p:nvPr/>
        </p:nvSpPr>
        <p:spPr>
          <a:xfrm>
            <a:off x="1378262" y="2930411"/>
            <a:ext cx="3271230" cy="407337"/>
          </a:xfrm>
          <a:prstGeom prst="round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72B2F29A-F7F7-9CA2-C646-F82E0FE38AD7}"/>
              </a:ext>
            </a:extLst>
          </p:cNvPr>
          <p:cNvSpPr/>
          <p:nvPr/>
        </p:nvSpPr>
        <p:spPr>
          <a:xfrm>
            <a:off x="1378262" y="3327590"/>
            <a:ext cx="3271230" cy="407337"/>
          </a:xfrm>
          <a:prstGeom prst="round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C6704745-4B2E-5E75-121A-74BEC8F15A12}"/>
              </a:ext>
            </a:extLst>
          </p:cNvPr>
          <p:cNvSpPr/>
          <p:nvPr/>
        </p:nvSpPr>
        <p:spPr>
          <a:xfrm>
            <a:off x="1378262" y="4540008"/>
            <a:ext cx="3271230" cy="407337"/>
          </a:xfrm>
          <a:prstGeom prst="round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0CAF6872-D0A8-3F50-2859-DE41B582988D}"/>
              </a:ext>
            </a:extLst>
          </p:cNvPr>
          <p:cNvSpPr/>
          <p:nvPr/>
        </p:nvSpPr>
        <p:spPr>
          <a:xfrm>
            <a:off x="4667333" y="2910692"/>
            <a:ext cx="3271230" cy="407337"/>
          </a:xfrm>
          <a:prstGeom prst="round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98CA1A2D-F9EE-D8A0-37EF-399BD6024227}"/>
              </a:ext>
            </a:extLst>
          </p:cNvPr>
          <p:cNvSpPr/>
          <p:nvPr/>
        </p:nvSpPr>
        <p:spPr>
          <a:xfrm>
            <a:off x="4667333" y="3316729"/>
            <a:ext cx="3271230" cy="407337"/>
          </a:xfrm>
          <a:prstGeom prst="round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658526A4-3178-FA0E-4549-CA843113D45A}"/>
              </a:ext>
            </a:extLst>
          </p:cNvPr>
          <p:cNvSpPr/>
          <p:nvPr/>
        </p:nvSpPr>
        <p:spPr>
          <a:xfrm>
            <a:off x="4667333" y="3719332"/>
            <a:ext cx="3271230" cy="407337"/>
          </a:xfrm>
          <a:prstGeom prst="round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a:extLst>
              <a:ext uri="{FF2B5EF4-FFF2-40B4-BE49-F238E27FC236}">
                <a16:creationId xmlns:a16="http://schemas.microsoft.com/office/drawing/2014/main" id="{8AA22185-4560-413E-C5FE-08A110ADF697}"/>
              </a:ext>
            </a:extLst>
          </p:cNvPr>
          <p:cNvSpPr/>
          <p:nvPr/>
        </p:nvSpPr>
        <p:spPr>
          <a:xfrm>
            <a:off x="4649492" y="4121935"/>
            <a:ext cx="3271230" cy="407337"/>
          </a:xfrm>
          <a:prstGeom prst="round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a:extLst>
              <a:ext uri="{FF2B5EF4-FFF2-40B4-BE49-F238E27FC236}">
                <a16:creationId xmlns:a16="http://schemas.microsoft.com/office/drawing/2014/main" id="{02B9B9BF-A639-64AE-8111-9AC4F942CDF1}"/>
              </a:ext>
            </a:extLst>
          </p:cNvPr>
          <p:cNvSpPr/>
          <p:nvPr/>
        </p:nvSpPr>
        <p:spPr>
          <a:xfrm>
            <a:off x="7938563" y="2506372"/>
            <a:ext cx="3271230" cy="407337"/>
          </a:xfrm>
          <a:prstGeom prst="round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a:extLst>
              <a:ext uri="{FF2B5EF4-FFF2-40B4-BE49-F238E27FC236}">
                <a16:creationId xmlns:a16="http://schemas.microsoft.com/office/drawing/2014/main" id="{11273A8F-98BE-0873-562D-0C2437F2BD5D}"/>
              </a:ext>
            </a:extLst>
          </p:cNvPr>
          <p:cNvSpPr/>
          <p:nvPr/>
        </p:nvSpPr>
        <p:spPr>
          <a:xfrm>
            <a:off x="7920722" y="4138429"/>
            <a:ext cx="3271230" cy="407337"/>
          </a:xfrm>
          <a:prstGeom prst="round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Slide Number Placeholder 25">
            <a:extLst>
              <a:ext uri="{FF2B5EF4-FFF2-40B4-BE49-F238E27FC236}">
                <a16:creationId xmlns:a16="http://schemas.microsoft.com/office/drawing/2014/main" id="{B41154D5-A632-130B-E3B8-E91B2162004B}"/>
              </a:ext>
            </a:extLst>
          </p:cNvPr>
          <p:cNvSpPr>
            <a:spLocks noGrp="1"/>
          </p:cNvSpPr>
          <p:nvPr>
            <p:ph type="sldNum" sz="quarter" idx="12"/>
          </p:nvPr>
        </p:nvSpPr>
        <p:spPr/>
        <p:txBody>
          <a:bodyPr/>
          <a:lstStyle/>
          <a:p>
            <a:fld id="{BDA8D12A-5188-A74B-8183-7E806E12A340}" type="slidenum">
              <a:rPr lang="en-US" smtClean="0"/>
              <a:t>26</a:t>
            </a:fld>
            <a:endParaRPr lang="en-US"/>
          </a:p>
        </p:txBody>
      </p:sp>
    </p:spTree>
    <p:extLst>
      <p:ext uri="{BB962C8B-B14F-4D97-AF65-F5344CB8AC3E}">
        <p14:creationId xmlns:p14="http://schemas.microsoft.com/office/powerpoint/2010/main" val="24122959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EFA95-428E-990E-A001-C3580E878E42}"/>
              </a:ext>
            </a:extLst>
          </p:cNvPr>
          <p:cNvSpPr>
            <a:spLocks noGrp="1"/>
          </p:cNvSpPr>
          <p:nvPr>
            <p:ph type="title"/>
          </p:nvPr>
        </p:nvSpPr>
        <p:spPr/>
        <p:txBody>
          <a:bodyPr>
            <a:normAutofit/>
          </a:bodyPr>
          <a:lstStyle/>
          <a:p>
            <a:r>
              <a:rPr lang="en-US" dirty="0"/>
              <a:t>Conclusion</a:t>
            </a:r>
          </a:p>
        </p:txBody>
      </p:sp>
      <p:sp>
        <p:nvSpPr>
          <p:cNvPr id="3" name="Content Placeholder 2">
            <a:extLst>
              <a:ext uri="{FF2B5EF4-FFF2-40B4-BE49-F238E27FC236}">
                <a16:creationId xmlns:a16="http://schemas.microsoft.com/office/drawing/2014/main" id="{60E796B1-1396-A01C-9EB2-4B37DD9432C9}"/>
              </a:ext>
            </a:extLst>
          </p:cNvPr>
          <p:cNvSpPr>
            <a:spLocks noGrp="1"/>
          </p:cNvSpPr>
          <p:nvPr>
            <p:ph idx="1"/>
          </p:nvPr>
        </p:nvSpPr>
        <p:spPr/>
        <p:txBody>
          <a:bodyPr>
            <a:normAutofit/>
          </a:bodyPr>
          <a:lstStyle/>
          <a:p>
            <a:r>
              <a:rPr lang="en-US" dirty="0"/>
              <a:t>Contributions of our approach:</a:t>
            </a:r>
          </a:p>
          <a:p>
            <a:pPr lvl="1"/>
            <a:r>
              <a:rPr lang="en-US" dirty="0"/>
              <a:t>A Deep Learning model that analyzes EHR data containing structured and unstructured data</a:t>
            </a:r>
          </a:p>
          <a:p>
            <a:pPr lvl="2"/>
            <a:endParaRPr lang="en-US" dirty="0"/>
          </a:p>
          <a:p>
            <a:pPr lvl="1"/>
            <a:r>
              <a:rPr lang="en-US" dirty="0"/>
              <a:t>A Hierarchical Transformer Model + </a:t>
            </a:r>
            <a:r>
              <a:rPr lang="en-US" dirty="0" err="1"/>
              <a:t>ClinicalBERT</a:t>
            </a:r>
            <a:r>
              <a:rPr lang="en-US" dirty="0"/>
              <a:t> that can analyze multiple long clinical notes. </a:t>
            </a:r>
          </a:p>
          <a:p>
            <a:pPr lvl="2"/>
            <a:r>
              <a:rPr lang="en-US" dirty="0"/>
              <a:t>Previous approaches in clinical literature: </a:t>
            </a:r>
            <a:r>
              <a:rPr lang="en-US" dirty="0" err="1"/>
              <a:t>ngram</a:t>
            </a:r>
            <a:r>
              <a:rPr lang="en-US" dirty="0"/>
              <a:t> models, word embedding models (</a:t>
            </a:r>
            <a:r>
              <a:rPr lang="en-US" dirty="0" err="1"/>
              <a:t>GloVe</a:t>
            </a:r>
            <a:r>
              <a:rPr lang="en-US" dirty="0"/>
              <a:t>, word2vec) with LSTMs, CNNs</a:t>
            </a:r>
          </a:p>
          <a:p>
            <a:r>
              <a:rPr lang="en-US" dirty="0"/>
              <a:t>Limitations:</a:t>
            </a:r>
          </a:p>
          <a:p>
            <a:pPr lvl="1"/>
            <a:r>
              <a:rPr lang="en-US" dirty="0"/>
              <a:t>Black box model </a:t>
            </a:r>
            <a:r>
              <a:rPr lang="en-US" dirty="0">
                <a:sym typeface="Wingdings" pitchFamily="2" charset="2"/>
              </a:rPr>
              <a:t> Global surrogate models may not reflect the true decision-making process</a:t>
            </a:r>
            <a:endParaRPr lang="en-US" dirty="0"/>
          </a:p>
          <a:p>
            <a:endParaRPr lang="en-US" dirty="0"/>
          </a:p>
        </p:txBody>
      </p:sp>
      <p:sp>
        <p:nvSpPr>
          <p:cNvPr id="9" name="Slide Number Placeholder 8">
            <a:extLst>
              <a:ext uri="{FF2B5EF4-FFF2-40B4-BE49-F238E27FC236}">
                <a16:creationId xmlns:a16="http://schemas.microsoft.com/office/drawing/2014/main" id="{513A528B-D999-C837-F02A-571438DAD870}"/>
              </a:ext>
            </a:extLst>
          </p:cNvPr>
          <p:cNvSpPr>
            <a:spLocks noGrp="1"/>
          </p:cNvSpPr>
          <p:nvPr>
            <p:ph type="sldNum" sz="quarter" idx="12"/>
          </p:nvPr>
        </p:nvSpPr>
        <p:spPr/>
        <p:txBody>
          <a:bodyPr/>
          <a:lstStyle/>
          <a:p>
            <a:fld id="{BDA8D12A-5188-A74B-8183-7E806E12A340}" type="slidenum">
              <a:rPr lang="en-US" smtClean="0"/>
              <a:t>27</a:t>
            </a:fld>
            <a:endParaRPr lang="en-US"/>
          </a:p>
        </p:txBody>
      </p:sp>
    </p:spTree>
    <p:extLst>
      <p:ext uri="{BB962C8B-B14F-4D97-AF65-F5344CB8AC3E}">
        <p14:creationId xmlns:p14="http://schemas.microsoft.com/office/powerpoint/2010/main" val="22038598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22DD3-2803-D169-2F56-9E62C16C1620}"/>
              </a:ext>
            </a:extLst>
          </p:cNvPr>
          <p:cNvSpPr>
            <a:spLocks noGrp="1"/>
          </p:cNvSpPr>
          <p:nvPr>
            <p:ph type="title"/>
          </p:nvPr>
        </p:nvSpPr>
        <p:spPr>
          <a:xfrm>
            <a:off x="838200" y="2766218"/>
            <a:ext cx="10515600" cy="1325563"/>
          </a:xfrm>
        </p:spPr>
        <p:txBody>
          <a:bodyPr>
            <a:normAutofit/>
          </a:bodyPr>
          <a:lstStyle/>
          <a:p>
            <a:pPr algn="ctr"/>
            <a:r>
              <a:rPr lang="en-US" dirty="0"/>
              <a:t>Explainable Predictions using Concept Bottlenecks</a:t>
            </a:r>
          </a:p>
        </p:txBody>
      </p:sp>
      <p:sp>
        <p:nvSpPr>
          <p:cNvPr id="4" name="TextBox 3">
            <a:extLst>
              <a:ext uri="{FF2B5EF4-FFF2-40B4-BE49-F238E27FC236}">
                <a16:creationId xmlns:a16="http://schemas.microsoft.com/office/drawing/2014/main" id="{2E20F20E-E110-5E80-C834-EF0FD2EA80BB}"/>
              </a:ext>
            </a:extLst>
          </p:cNvPr>
          <p:cNvSpPr txBox="1"/>
          <p:nvPr/>
        </p:nvSpPr>
        <p:spPr>
          <a:xfrm>
            <a:off x="4102971" y="4584570"/>
            <a:ext cx="7656135" cy="523220"/>
          </a:xfrm>
          <a:prstGeom prst="rect">
            <a:avLst/>
          </a:prstGeom>
          <a:noFill/>
        </p:spPr>
        <p:txBody>
          <a:bodyPr wrap="none" rtlCol="0">
            <a:spAutoFit/>
          </a:bodyPr>
          <a:lstStyle/>
          <a:p>
            <a:r>
              <a:rPr lang="en-US" sz="2800" dirty="0"/>
              <a:t>Submitted to Bioinformatics (November 15</a:t>
            </a:r>
            <a:r>
              <a:rPr lang="en-US" sz="2800" baseline="30000" dirty="0"/>
              <a:t>th</a:t>
            </a:r>
            <a:r>
              <a:rPr lang="en-US" sz="2800" dirty="0"/>
              <a:t>, 2024)</a:t>
            </a:r>
          </a:p>
        </p:txBody>
      </p:sp>
      <p:sp>
        <p:nvSpPr>
          <p:cNvPr id="9" name="Slide Number Placeholder 8">
            <a:extLst>
              <a:ext uri="{FF2B5EF4-FFF2-40B4-BE49-F238E27FC236}">
                <a16:creationId xmlns:a16="http://schemas.microsoft.com/office/drawing/2014/main" id="{B97B982C-DB9D-6507-7B88-FBE85C716529}"/>
              </a:ext>
            </a:extLst>
          </p:cNvPr>
          <p:cNvSpPr>
            <a:spLocks noGrp="1"/>
          </p:cNvSpPr>
          <p:nvPr>
            <p:ph type="sldNum" sz="quarter" idx="12"/>
          </p:nvPr>
        </p:nvSpPr>
        <p:spPr/>
        <p:txBody>
          <a:bodyPr/>
          <a:lstStyle/>
          <a:p>
            <a:fld id="{BDA8D12A-5188-A74B-8183-7E806E12A340}" type="slidenum">
              <a:rPr lang="en-US" smtClean="0"/>
              <a:t>28</a:t>
            </a:fld>
            <a:endParaRPr lang="en-US"/>
          </a:p>
        </p:txBody>
      </p:sp>
    </p:spTree>
    <p:extLst>
      <p:ext uri="{BB962C8B-B14F-4D97-AF65-F5344CB8AC3E}">
        <p14:creationId xmlns:p14="http://schemas.microsoft.com/office/powerpoint/2010/main" val="38919021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4E5D5-F6BA-E2F4-22D6-A8925D6EC126}"/>
              </a:ext>
            </a:extLst>
          </p:cNvPr>
          <p:cNvSpPr>
            <a:spLocks noGrp="1"/>
          </p:cNvSpPr>
          <p:nvPr>
            <p:ph type="title"/>
          </p:nvPr>
        </p:nvSpPr>
        <p:spPr/>
        <p:txBody>
          <a:bodyPr>
            <a:normAutofit/>
          </a:bodyPr>
          <a:lstStyle/>
          <a:p>
            <a:r>
              <a:rPr lang="en-US" sz="3800" dirty="0"/>
              <a:t>Explainable Predictions using Concept Bottlenecks</a:t>
            </a:r>
          </a:p>
        </p:txBody>
      </p:sp>
      <p:sp>
        <p:nvSpPr>
          <p:cNvPr id="3" name="Content Placeholder 2">
            <a:extLst>
              <a:ext uri="{FF2B5EF4-FFF2-40B4-BE49-F238E27FC236}">
                <a16:creationId xmlns:a16="http://schemas.microsoft.com/office/drawing/2014/main" id="{C8B1D469-97D2-21B1-0BA0-E73FE052C72B}"/>
              </a:ext>
            </a:extLst>
          </p:cNvPr>
          <p:cNvSpPr>
            <a:spLocks noGrp="1"/>
          </p:cNvSpPr>
          <p:nvPr>
            <p:ph idx="1"/>
          </p:nvPr>
        </p:nvSpPr>
        <p:spPr/>
        <p:txBody>
          <a:bodyPr/>
          <a:lstStyle/>
          <a:p>
            <a:r>
              <a:rPr lang="en-US" dirty="0"/>
              <a:t>Why is </a:t>
            </a:r>
            <a:r>
              <a:rPr lang="en-US" dirty="0" err="1"/>
              <a:t>explainability</a:t>
            </a:r>
            <a:r>
              <a:rPr lang="en-US" dirty="0"/>
              <a:t> important for clinical NLP and AI?</a:t>
            </a:r>
          </a:p>
          <a:p>
            <a:pPr lvl="1"/>
            <a:r>
              <a:rPr lang="en-US" dirty="0"/>
              <a:t>Promotes trust and adoption by healthcare professionals</a:t>
            </a:r>
          </a:p>
          <a:p>
            <a:pPr lvl="1"/>
            <a:r>
              <a:rPr lang="en-US" dirty="0"/>
              <a:t>Improve patient safety and mitigates risk</a:t>
            </a:r>
          </a:p>
          <a:p>
            <a:endParaRPr lang="en-US" dirty="0"/>
          </a:p>
          <a:p>
            <a:r>
              <a:rPr lang="en-US" dirty="0"/>
              <a:t>Potential model improvements:</a:t>
            </a:r>
          </a:p>
          <a:p>
            <a:pPr lvl="1"/>
            <a:r>
              <a:rPr lang="en-US" dirty="0"/>
              <a:t>Reduce spurious feature correlations with the predicted output</a:t>
            </a:r>
          </a:p>
          <a:p>
            <a:pPr lvl="1"/>
            <a:r>
              <a:rPr lang="en-US" dirty="0"/>
              <a:t>Can help push model towards correct chain of reasoning</a:t>
            </a:r>
          </a:p>
          <a:p>
            <a:pPr lvl="1"/>
            <a:r>
              <a:rPr lang="en-US" dirty="0"/>
              <a:t>Reduce gender/racial bias (Not addressed in this thesis but still important)</a:t>
            </a:r>
          </a:p>
        </p:txBody>
      </p:sp>
      <p:sp>
        <p:nvSpPr>
          <p:cNvPr id="9" name="Slide Number Placeholder 8">
            <a:extLst>
              <a:ext uri="{FF2B5EF4-FFF2-40B4-BE49-F238E27FC236}">
                <a16:creationId xmlns:a16="http://schemas.microsoft.com/office/drawing/2014/main" id="{F7BF3EFB-D35E-DF7A-5EF5-5E7B6EC8A796}"/>
              </a:ext>
            </a:extLst>
          </p:cNvPr>
          <p:cNvSpPr>
            <a:spLocks noGrp="1"/>
          </p:cNvSpPr>
          <p:nvPr>
            <p:ph type="sldNum" sz="quarter" idx="12"/>
          </p:nvPr>
        </p:nvSpPr>
        <p:spPr/>
        <p:txBody>
          <a:bodyPr/>
          <a:lstStyle/>
          <a:p>
            <a:fld id="{BDA8D12A-5188-A74B-8183-7E806E12A340}" type="slidenum">
              <a:rPr lang="en-US" smtClean="0"/>
              <a:t>29</a:t>
            </a:fld>
            <a:endParaRPr lang="en-US"/>
          </a:p>
        </p:txBody>
      </p:sp>
    </p:spTree>
    <p:extLst>
      <p:ext uri="{BB962C8B-B14F-4D97-AF65-F5344CB8AC3E}">
        <p14:creationId xmlns:p14="http://schemas.microsoft.com/office/powerpoint/2010/main" val="20141736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6EB92-7C4B-CFB0-AF54-2D0FF2FCD354}"/>
              </a:ext>
            </a:extLst>
          </p:cNvPr>
          <p:cNvSpPr>
            <a:spLocks noGrp="1"/>
          </p:cNvSpPr>
          <p:nvPr>
            <p:ph type="title"/>
          </p:nvPr>
        </p:nvSpPr>
        <p:spPr/>
        <p:txBody>
          <a:bodyPr>
            <a:normAutofit/>
          </a:bodyPr>
          <a:lstStyle/>
          <a:p>
            <a:r>
              <a:rPr lang="en-US" sz="4000" dirty="0"/>
              <a:t>Previous Approaches for Explainable Predictions</a:t>
            </a:r>
          </a:p>
        </p:txBody>
      </p:sp>
      <p:sp>
        <p:nvSpPr>
          <p:cNvPr id="3" name="Content Placeholder 2">
            <a:extLst>
              <a:ext uri="{FF2B5EF4-FFF2-40B4-BE49-F238E27FC236}">
                <a16:creationId xmlns:a16="http://schemas.microsoft.com/office/drawing/2014/main" id="{EAB85C3C-696A-B6C4-2ADB-F68C611AA9C5}"/>
              </a:ext>
            </a:extLst>
          </p:cNvPr>
          <p:cNvSpPr>
            <a:spLocks noGrp="1"/>
          </p:cNvSpPr>
          <p:nvPr>
            <p:ph idx="1"/>
          </p:nvPr>
        </p:nvSpPr>
        <p:spPr/>
        <p:txBody>
          <a:bodyPr>
            <a:normAutofit fontScale="85000" lnSpcReduction="10000"/>
          </a:bodyPr>
          <a:lstStyle/>
          <a:p>
            <a:r>
              <a:rPr lang="en-US" b="1" dirty="0"/>
              <a:t>Feature Based Approaches</a:t>
            </a:r>
            <a:r>
              <a:rPr lang="en-US" dirty="0"/>
              <a:t>: Interpreting outputs based on related input features </a:t>
            </a:r>
          </a:p>
          <a:p>
            <a:pPr lvl="1"/>
            <a:r>
              <a:rPr lang="en-US" dirty="0"/>
              <a:t>Rationale Extraction: short phrases from the input text (</a:t>
            </a:r>
            <a:r>
              <a:rPr lang="en-US" i="1" dirty="0"/>
              <a:t>Lei et al., 2018</a:t>
            </a:r>
            <a:r>
              <a:rPr lang="en-US" dirty="0"/>
              <a:t>)  </a:t>
            </a:r>
          </a:p>
          <a:p>
            <a:pPr lvl="1"/>
            <a:r>
              <a:rPr lang="en-US" dirty="0">
                <a:solidFill>
                  <a:schemeClr val="bg1"/>
                </a:solidFill>
              </a:rPr>
              <a:t>Input Perturbation: Performance change based on swapping/deleting input tokens (</a:t>
            </a:r>
            <a:r>
              <a:rPr lang="en-US" i="1" dirty="0">
                <a:solidFill>
                  <a:schemeClr val="bg1"/>
                </a:solidFill>
              </a:rPr>
              <a:t>Ribeiro et al., 2020; Goodfellow et al., 2014</a:t>
            </a:r>
            <a:r>
              <a:rPr lang="en-US" dirty="0">
                <a:solidFill>
                  <a:schemeClr val="bg1"/>
                </a:solidFill>
              </a:rPr>
              <a:t>)</a:t>
            </a:r>
          </a:p>
          <a:p>
            <a:pPr lvl="1"/>
            <a:r>
              <a:rPr lang="en-US" dirty="0">
                <a:solidFill>
                  <a:schemeClr val="bg1"/>
                </a:solidFill>
              </a:rPr>
              <a:t>Attention Weights (</a:t>
            </a:r>
            <a:r>
              <a:rPr lang="en-US" i="1" dirty="0">
                <a:solidFill>
                  <a:schemeClr val="bg1"/>
                </a:solidFill>
              </a:rPr>
              <a:t>Luong et al., 2015</a:t>
            </a:r>
            <a:r>
              <a:rPr lang="en-US" dirty="0">
                <a:solidFill>
                  <a:schemeClr val="bg1"/>
                </a:solidFill>
              </a:rPr>
              <a:t>)</a:t>
            </a:r>
          </a:p>
          <a:p>
            <a:pPr lvl="1"/>
            <a:endParaRPr lang="en-US" dirty="0"/>
          </a:p>
          <a:p>
            <a:r>
              <a:rPr lang="en-US" b="1" dirty="0">
                <a:solidFill>
                  <a:schemeClr val="bg1"/>
                </a:solidFill>
              </a:rPr>
              <a:t>Natural Language Explanation</a:t>
            </a:r>
            <a:r>
              <a:rPr lang="en-US" dirty="0">
                <a:solidFill>
                  <a:schemeClr val="bg1"/>
                </a:solidFill>
              </a:rPr>
              <a:t>: Models generate explanations for a given prediction</a:t>
            </a:r>
          </a:p>
          <a:p>
            <a:endParaRPr lang="en-US" dirty="0">
              <a:solidFill>
                <a:schemeClr val="bg1"/>
              </a:solidFill>
            </a:endParaRPr>
          </a:p>
          <a:p>
            <a:r>
              <a:rPr lang="en-US" b="1" dirty="0">
                <a:solidFill>
                  <a:schemeClr val="bg1"/>
                </a:solidFill>
              </a:rPr>
              <a:t>Probing Hidden States</a:t>
            </a:r>
            <a:r>
              <a:rPr lang="en-US" dirty="0">
                <a:solidFill>
                  <a:schemeClr val="bg1"/>
                </a:solidFill>
              </a:rPr>
              <a:t>: Model’s internal states are examined for certain inputs</a:t>
            </a:r>
          </a:p>
          <a:p>
            <a:pPr lvl="1"/>
            <a:r>
              <a:rPr lang="en-US" dirty="0">
                <a:solidFill>
                  <a:schemeClr val="bg1"/>
                </a:solidFill>
              </a:rPr>
              <a:t>Embedding Probes: What information can be found from distributional word embeddings?</a:t>
            </a:r>
          </a:p>
          <a:p>
            <a:pPr lvl="1"/>
            <a:r>
              <a:rPr lang="en-US" dirty="0">
                <a:solidFill>
                  <a:schemeClr val="bg1"/>
                </a:solidFill>
              </a:rPr>
              <a:t>Model Probes: For example, lower layers of language models contain syntactic information while higher layers contain complex semantic information</a:t>
            </a:r>
          </a:p>
        </p:txBody>
      </p:sp>
      <p:pic>
        <p:nvPicPr>
          <p:cNvPr id="4" name="Picture 3">
            <a:extLst>
              <a:ext uri="{FF2B5EF4-FFF2-40B4-BE49-F238E27FC236}">
                <a16:creationId xmlns:a16="http://schemas.microsoft.com/office/drawing/2014/main" id="{94C8C674-17B3-28C1-7231-33AC5150C6A0}"/>
              </a:ext>
            </a:extLst>
          </p:cNvPr>
          <p:cNvPicPr>
            <a:picLocks noChangeAspect="1"/>
          </p:cNvPicPr>
          <p:nvPr/>
        </p:nvPicPr>
        <p:blipFill>
          <a:blip r:embed="rId2"/>
          <a:stretch>
            <a:fillRect/>
          </a:stretch>
        </p:blipFill>
        <p:spPr>
          <a:xfrm>
            <a:off x="1873250" y="2809745"/>
            <a:ext cx="5975350" cy="3683130"/>
          </a:xfrm>
          <a:prstGeom prst="rect">
            <a:avLst/>
          </a:prstGeom>
        </p:spPr>
      </p:pic>
      <p:sp>
        <p:nvSpPr>
          <p:cNvPr id="5" name="TextBox 4">
            <a:extLst>
              <a:ext uri="{FF2B5EF4-FFF2-40B4-BE49-F238E27FC236}">
                <a16:creationId xmlns:a16="http://schemas.microsoft.com/office/drawing/2014/main" id="{DA096CBB-8164-F08D-2BD7-7056F840775E}"/>
              </a:ext>
            </a:extLst>
          </p:cNvPr>
          <p:cNvSpPr txBox="1"/>
          <p:nvPr/>
        </p:nvSpPr>
        <p:spPr>
          <a:xfrm>
            <a:off x="7867442" y="4004979"/>
            <a:ext cx="4324558" cy="461665"/>
          </a:xfrm>
          <a:prstGeom prst="rect">
            <a:avLst/>
          </a:prstGeom>
          <a:noFill/>
        </p:spPr>
        <p:txBody>
          <a:bodyPr wrap="square" rtlCol="0">
            <a:spAutoFit/>
          </a:bodyPr>
          <a:lstStyle/>
          <a:p>
            <a:r>
              <a:rPr lang="en-US" sz="1200" b="1" i="1" dirty="0"/>
              <a:t>*Image credit</a:t>
            </a:r>
            <a:r>
              <a:rPr lang="en-US" sz="1200" i="1" dirty="0"/>
              <a:t>: </a:t>
            </a:r>
            <a:r>
              <a:rPr lang="en-US" sz="1200" b="0" i="1" u="none" strike="noStrike" dirty="0">
                <a:effectLst/>
              </a:rPr>
              <a:t>Lei, Tao, Regina </a:t>
            </a:r>
            <a:r>
              <a:rPr lang="en-US" sz="1200" b="0" i="1" u="none" strike="noStrike" dirty="0" err="1">
                <a:effectLst/>
              </a:rPr>
              <a:t>Barzilay</a:t>
            </a:r>
            <a:r>
              <a:rPr lang="en-US" sz="1200" b="0" i="1" u="none" strike="noStrike" dirty="0">
                <a:effectLst/>
              </a:rPr>
              <a:t>, and </a:t>
            </a:r>
            <a:r>
              <a:rPr lang="en-US" sz="1200" b="0" i="1" u="none" strike="noStrike" dirty="0" err="1">
                <a:effectLst/>
              </a:rPr>
              <a:t>Tommi</a:t>
            </a:r>
            <a:r>
              <a:rPr lang="en-US" sz="1200" b="0" i="1" u="none" strike="noStrike" dirty="0">
                <a:effectLst/>
              </a:rPr>
              <a:t> </a:t>
            </a:r>
            <a:r>
              <a:rPr lang="en-US" sz="1200" b="0" i="1" u="none" strike="noStrike" dirty="0" err="1">
                <a:effectLst/>
              </a:rPr>
              <a:t>Jaakkola</a:t>
            </a:r>
            <a:r>
              <a:rPr lang="en-US" sz="1200" b="0" i="1" u="none" strike="noStrike" dirty="0">
                <a:effectLst/>
              </a:rPr>
              <a:t>. "Rationalizing neural predictions.”,  EMNLP (2016)</a:t>
            </a:r>
            <a:endParaRPr lang="en-US" sz="1200" i="1" dirty="0"/>
          </a:p>
        </p:txBody>
      </p:sp>
      <p:sp>
        <p:nvSpPr>
          <p:cNvPr id="10" name="Slide Number Placeholder 9">
            <a:extLst>
              <a:ext uri="{FF2B5EF4-FFF2-40B4-BE49-F238E27FC236}">
                <a16:creationId xmlns:a16="http://schemas.microsoft.com/office/drawing/2014/main" id="{B9037133-DF98-9255-24A6-50BF4BB878A0}"/>
              </a:ext>
            </a:extLst>
          </p:cNvPr>
          <p:cNvSpPr>
            <a:spLocks noGrp="1"/>
          </p:cNvSpPr>
          <p:nvPr>
            <p:ph type="sldNum" sz="quarter" idx="12"/>
          </p:nvPr>
        </p:nvSpPr>
        <p:spPr/>
        <p:txBody>
          <a:bodyPr/>
          <a:lstStyle/>
          <a:p>
            <a:fld id="{BDA8D12A-5188-A74B-8183-7E806E12A340}" type="slidenum">
              <a:rPr lang="en-US" smtClean="0"/>
              <a:t>30</a:t>
            </a:fld>
            <a:endParaRPr lang="en-US"/>
          </a:p>
        </p:txBody>
      </p:sp>
    </p:spTree>
    <p:extLst>
      <p:ext uri="{BB962C8B-B14F-4D97-AF65-F5344CB8AC3E}">
        <p14:creationId xmlns:p14="http://schemas.microsoft.com/office/powerpoint/2010/main" val="38125964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6EB92-7C4B-CFB0-AF54-2D0FF2FCD354}"/>
              </a:ext>
            </a:extLst>
          </p:cNvPr>
          <p:cNvSpPr>
            <a:spLocks noGrp="1"/>
          </p:cNvSpPr>
          <p:nvPr>
            <p:ph type="title"/>
          </p:nvPr>
        </p:nvSpPr>
        <p:spPr/>
        <p:txBody>
          <a:bodyPr>
            <a:normAutofit/>
          </a:bodyPr>
          <a:lstStyle/>
          <a:p>
            <a:r>
              <a:rPr lang="en-US" sz="4000" dirty="0"/>
              <a:t>Previous Approaches for Explainable Predictions</a:t>
            </a:r>
          </a:p>
        </p:txBody>
      </p:sp>
      <p:sp>
        <p:nvSpPr>
          <p:cNvPr id="3" name="Content Placeholder 2">
            <a:extLst>
              <a:ext uri="{FF2B5EF4-FFF2-40B4-BE49-F238E27FC236}">
                <a16:creationId xmlns:a16="http://schemas.microsoft.com/office/drawing/2014/main" id="{EAB85C3C-696A-B6C4-2ADB-F68C611AA9C5}"/>
              </a:ext>
            </a:extLst>
          </p:cNvPr>
          <p:cNvSpPr>
            <a:spLocks noGrp="1"/>
          </p:cNvSpPr>
          <p:nvPr>
            <p:ph idx="1"/>
          </p:nvPr>
        </p:nvSpPr>
        <p:spPr/>
        <p:txBody>
          <a:bodyPr>
            <a:normAutofit fontScale="85000" lnSpcReduction="10000"/>
          </a:bodyPr>
          <a:lstStyle/>
          <a:p>
            <a:r>
              <a:rPr lang="en-US" b="1" dirty="0"/>
              <a:t>Feature Based Approaches</a:t>
            </a:r>
            <a:r>
              <a:rPr lang="en-US" dirty="0"/>
              <a:t>: Interpreting outputs based on related input features </a:t>
            </a:r>
          </a:p>
          <a:p>
            <a:pPr lvl="1"/>
            <a:r>
              <a:rPr lang="en-US" dirty="0"/>
              <a:t>Rationale Extraction: short phrases from the input text (</a:t>
            </a:r>
            <a:r>
              <a:rPr lang="en-US" i="1" dirty="0"/>
              <a:t>Lei et al., 2018</a:t>
            </a:r>
            <a:r>
              <a:rPr lang="en-US" dirty="0"/>
              <a:t>)  </a:t>
            </a:r>
          </a:p>
          <a:p>
            <a:pPr lvl="1"/>
            <a:r>
              <a:rPr lang="en-US" dirty="0"/>
              <a:t>Input Perturbation: Understand predictions based on modifying parts of the input (</a:t>
            </a:r>
            <a:r>
              <a:rPr lang="en-US" i="1" dirty="0"/>
              <a:t>Ribeiro et al., 2020</a:t>
            </a:r>
            <a:r>
              <a:rPr lang="en-US" dirty="0"/>
              <a:t>)</a:t>
            </a:r>
          </a:p>
          <a:p>
            <a:pPr lvl="1"/>
            <a:r>
              <a:rPr lang="en-US" dirty="0">
                <a:solidFill>
                  <a:schemeClr val="bg1"/>
                </a:solidFill>
              </a:rPr>
              <a:t>Attention Weights (</a:t>
            </a:r>
            <a:r>
              <a:rPr lang="en-US" i="1" dirty="0">
                <a:solidFill>
                  <a:schemeClr val="bg1"/>
                </a:solidFill>
              </a:rPr>
              <a:t>Luong et al., 2015</a:t>
            </a:r>
            <a:r>
              <a:rPr lang="en-US" dirty="0">
                <a:solidFill>
                  <a:schemeClr val="bg1"/>
                </a:solidFill>
              </a:rPr>
              <a:t>)</a:t>
            </a:r>
          </a:p>
          <a:p>
            <a:pPr lvl="1"/>
            <a:endParaRPr lang="en-US" dirty="0">
              <a:solidFill>
                <a:schemeClr val="bg1"/>
              </a:solidFill>
            </a:endParaRPr>
          </a:p>
          <a:p>
            <a:r>
              <a:rPr lang="en-US" b="1" dirty="0">
                <a:solidFill>
                  <a:schemeClr val="bg1"/>
                </a:solidFill>
              </a:rPr>
              <a:t>Natural Language Explanation</a:t>
            </a:r>
            <a:r>
              <a:rPr lang="en-US" dirty="0">
                <a:solidFill>
                  <a:schemeClr val="bg1"/>
                </a:solidFill>
              </a:rPr>
              <a:t>: Models generate explanations for a given prediction</a:t>
            </a:r>
          </a:p>
          <a:p>
            <a:endParaRPr lang="en-US" dirty="0">
              <a:solidFill>
                <a:schemeClr val="bg1"/>
              </a:solidFill>
            </a:endParaRPr>
          </a:p>
          <a:p>
            <a:r>
              <a:rPr lang="en-US" b="1" dirty="0">
                <a:solidFill>
                  <a:schemeClr val="bg1"/>
                </a:solidFill>
              </a:rPr>
              <a:t>Probing Hidden States</a:t>
            </a:r>
            <a:r>
              <a:rPr lang="en-US" dirty="0">
                <a:solidFill>
                  <a:schemeClr val="bg1"/>
                </a:solidFill>
              </a:rPr>
              <a:t>: Model’s internal states are examined for certain inputs</a:t>
            </a:r>
          </a:p>
          <a:p>
            <a:pPr lvl="1"/>
            <a:r>
              <a:rPr lang="en-US" dirty="0">
                <a:solidFill>
                  <a:schemeClr val="bg1"/>
                </a:solidFill>
              </a:rPr>
              <a:t>Embedding Probes: What information can be found from distributional word embeddings?</a:t>
            </a:r>
          </a:p>
          <a:p>
            <a:pPr lvl="1"/>
            <a:r>
              <a:rPr lang="en-US" dirty="0">
                <a:solidFill>
                  <a:schemeClr val="bg1"/>
                </a:solidFill>
              </a:rPr>
              <a:t>Model Probes: For example, lower layers of language models contain syntactic information while higher layers contain complex semantic information</a:t>
            </a:r>
          </a:p>
        </p:txBody>
      </p:sp>
      <p:pic>
        <p:nvPicPr>
          <p:cNvPr id="5" name="Picture 4">
            <a:extLst>
              <a:ext uri="{FF2B5EF4-FFF2-40B4-BE49-F238E27FC236}">
                <a16:creationId xmlns:a16="http://schemas.microsoft.com/office/drawing/2014/main" id="{26D937FF-2765-1D7F-2FA0-9CC761728CB9}"/>
              </a:ext>
            </a:extLst>
          </p:cNvPr>
          <p:cNvPicPr>
            <a:picLocks noChangeAspect="1"/>
          </p:cNvPicPr>
          <p:nvPr/>
        </p:nvPicPr>
        <p:blipFill>
          <a:blip r:embed="rId2"/>
          <a:stretch>
            <a:fillRect/>
          </a:stretch>
        </p:blipFill>
        <p:spPr>
          <a:xfrm>
            <a:off x="1397000" y="3182896"/>
            <a:ext cx="8597900" cy="2820399"/>
          </a:xfrm>
          <a:prstGeom prst="rect">
            <a:avLst/>
          </a:prstGeom>
          <a:effectLst>
            <a:outerShdw blurRad="63500" sx="102000" sy="102000" algn="ctr" rotWithShape="0">
              <a:prstClr val="black">
                <a:alpha val="40000"/>
              </a:prstClr>
            </a:outerShdw>
          </a:effectLst>
        </p:spPr>
      </p:pic>
      <p:sp>
        <p:nvSpPr>
          <p:cNvPr id="6" name="TextBox 5">
            <a:extLst>
              <a:ext uri="{FF2B5EF4-FFF2-40B4-BE49-F238E27FC236}">
                <a16:creationId xmlns:a16="http://schemas.microsoft.com/office/drawing/2014/main" id="{07D7C6F9-C3FD-39EA-84F1-D82999763995}"/>
              </a:ext>
            </a:extLst>
          </p:cNvPr>
          <p:cNvSpPr txBox="1"/>
          <p:nvPr/>
        </p:nvSpPr>
        <p:spPr>
          <a:xfrm>
            <a:off x="2025442" y="6169709"/>
            <a:ext cx="8731458" cy="461665"/>
          </a:xfrm>
          <a:prstGeom prst="rect">
            <a:avLst/>
          </a:prstGeom>
          <a:noFill/>
        </p:spPr>
        <p:txBody>
          <a:bodyPr wrap="square" rtlCol="0">
            <a:spAutoFit/>
          </a:bodyPr>
          <a:lstStyle/>
          <a:p>
            <a:r>
              <a:rPr lang="en-US" sz="1200" b="1" i="1" dirty="0"/>
              <a:t>*Image credit</a:t>
            </a:r>
            <a:r>
              <a:rPr lang="en-US" sz="1200" i="1" dirty="0"/>
              <a:t>: </a:t>
            </a:r>
            <a:r>
              <a:rPr lang="en-US" sz="1200" b="0" i="0" u="none" strike="noStrike" dirty="0">
                <a:solidFill>
                  <a:srgbClr val="222222"/>
                </a:solidFill>
                <a:effectLst/>
              </a:rPr>
              <a:t>Ribeiro, Marco Tulio, Sameer Singh, and Carlos </a:t>
            </a:r>
            <a:r>
              <a:rPr lang="en-US" sz="1200" b="0" i="0" u="none" strike="noStrike" dirty="0" err="1">
                <a:solidFill>
                  <a:srgbClr val="222222"/>
                </a:solidFill>
                <a:effectLst/>
              </a:rPr>
              <a:t>Guestrin</a:t>
            </a:r>
            <a:r>
              <a:rPr lang="en-US" sz="1200" b="0" i="0" u="none" strike="noStrike" dirty="0">
                <a:solidFill>
                  <a:srgbClr val="222222"/>
                </a:solidFill>
                <a:effectLst/>
              </a:rPr>
              <a:t>. "" Why should </a:t>
            </a:r>
            <a:r>
              <a:rPr lang="en-US" sz="1200" b="0" i="0" u="none" strike="noStrike" dirty="0" err="1">
                <a:solidFill>
                  <a:srgbClr val="222222"/>
                </a:solidFill>
                <a:effectLst/>
              </a:rPr>
              <a:t>i</a:t>
            </a:r>
            <a:r>
              <a:rPr lang="en-US" sz="1200" b="0" i="0" u="none" strike="noStrike" dirty="0">
                <a:solidFill>
                  <a:srgbClr val="222222"/>
                </a:solidFill>
                <a:effectLst/>
              </a:rPr>
              <a:t> trust you?" Explaining the predictions of any classifier." </a:t>
            </a:r>
            <a:r>
              <a:rPr lang="en-US" sz="1200" b="0" i="1" u="none" strike="noStrike" dirty="0">
                <a:solidFill>
                  <a:srgbClr val="222222"/>
                </a:solidFill>
                <a:effectLst/>
              </a:rPr>
              <a:t>Proceedings of the 22nd ACM SIGKDD international conference on knowledge discovery and data mining</a:t>
            </a:r>
            <a:r>
              <a:rPr lang="en-US" sz="1200" b="0" i="0" u="none" strike="noStrike" dirty="0">
                <a:solidFill>
                  <a:srgbClr val="222222"/>
                </a:solidFill>
                <a:effectLst/>
              </a:rPr>
              <a:t>. 2016.</a:t>
            </a:r>
            <a:endParaRPr lang="en-US" sz="1200" i="1" dirty="0"/>
          </a:p>
        </p:txBody>
      </p:sp>
      <p:sp>
        <p:nvSpPr>
          <p:cNvPr id="11" name="Slide Number Placeholder 10">
            <a:extLst>
              <a:ext uri="{FF2B5EF4-FFF2-40B4-BE49-F238E27FC236}">
                <a16:creationId xmlns:a16="http://schemas.microsoft.com/office/drawing/2014/main" id="{D8A260F7-8989-63C4-5C59-D781184E0F61}"/>
              </a:ext>
            </a:extLst>
          </p:cNvPr>
          <p:cNvSpPr>
            <a:spLocks noGrp="1"/>
          </p:cNvSpPr>
          <p:nvPr>
            <p:ph type="sldNum" sz="quarter" idx="12"/>
          </p:nvPr>
        </p:nvSpPr>
        <p:spPr/>
        <p:txBody>
          <a:bodyPr/>
          <a:lstStyle/>
          <a:p>
            <a:fld id="{BDA8D12A-5188-A74B-8183-7E806E12A340}" type="slidenum">
              <a:rPr lang="en-US" smtClean="0"/>
              <a:t>31</a:t>
            </a:fld>
            <a:endParaRPr lang="en-US"/>
          </a:p>
        </p:txBody>
      </p:sp>
    </p:spTree>
    <p:extLst>
      <p:ext uri="{BB962C8B-B14F-4D97-AF65-F5344CB8AC3E}">
        <p14:creationId xmlns:p14="http://schemas.microsoft.com/office/powerpoint/2010/main" val="21483997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6EB92-7C4B-CFB0-AF54-2D0FF2FCD354}"/>
              </a:ext>
            </a:extLst>
          </p:cNvPr>
          <p:cNvSpPr>
            <a:spLocks noGrp="1"/>
          </p:cNvSpPr>
          <p:nvPr>
            <p:ph type="title"/>
          </p:nvPr>
        </p:nvSpPr>
        <p:spPr/>
        <p:txBody>
          <a:bodyPr>
            <a:normAutofit/>
          </a:bodyPr>
          <a:lstStyle/>
          <a:p>
            <a:r>
              <a:rPr lang="en-US" sz="4000" dirty="0"/>
              <a:t>Previous Approaches for Explainable Predictions</a:t>
            </a:r>
          </a:p>
        </p:txBody>
      </p:sp>
      <p:sp>
        <p:nvSpPr>
          <p:cNvPr id="3" name="Content Placeholder 2">
            <a:extLst>
              <a:ext uri="{FF2B5EF4-FFF2-40B4-BE49-F238E27FC236}">
                <a16:creationId xmlns:a16="http://schemas.microsoft.com/office/drawing/2014/main" id="{EAB85C3C-696A-B6C4-2ADB-F68C611AA9C5}"/>
              </a:ext>
            </a:extLst>
          </p:cNvPr>
          <p:cNvSpPr>
            <a:spLocks noGrp="1"/>
          </p:cNvSpPr>
          <p:nvPr>
            <p:ph idx="1"/>
          </p:nvPr>
        </p:nvSpPr>
        <p:spPr/>
        <p:txBody>
          <a:bodyPr>
            <a:normAutofit/>
          </a:bodyPr>
          <a:lstStyle/>
          <a:p>
            <a:r>
              <a:rPr lang="en-US" b="1" dirty="0"/>
              <a:t>Natural Language Explanation</a:t>
            </a:r>
            <a:r>
              <a:rPr lang="en-US" dirty="0"/>
              <a:t>: Models generate explanations for a given prediction (</a:t>
            </a:r>
            <a:r>
              <a:rPr lang="en-US" dirty="0" err="1"/>
              <a:t>Camburu</a:t>
            </a:r>
            <a:r>
              <a:rPr lang="en-US" dirty="0"/>
              <a:t> et al., 2018)</a:t>
            </a:r>
          </a:p>
          <a:p>
            <a:endParaRPr lang="en-US" dirty="0"/>
          </a:p>
        </p:txBody>
      </p:sp>
      <p:pic>
        <p:nvPicPr>
          <p:cNvPr id="4" name="Picture 3">
            <a:extLst>
              <a:ext uri="{FF2B5EF4-FFF2-40B4-BE49-F238E27FC236}">
                <a16:creationId xmlns:a16="http://schemas.microsoft.com/office/drawing/2014/main" id="{325A9F89-5E43-0313-816B-817FEE545D70}"/>
              </a:ext>
            </a:extLst>
          </p:cNvPr>
          <p:cNvPicPr>
            <a:picLocks noChangeAspect="1"/>
          </p:cNvPicPr>
          <p:nvPr/>
        </p:nvPicPr>
        <p:blipFill>
          <a:blip r:embed="rId2"/>
          <a:stretch>
            <a:fillRect/>
          </a:stretch>
        </p:blipFill>
        <p:spPr>
          <a:xfrm>
            <a:off x="1460500" y="3220290"/>
            <a:ext cx="8664256" cy="1288210"/>
          </a:xfrm>
          <a:prstGeom prst="rect">
            <a:avLst/>
          </a:prstGeom>
          <a:effectLst>
            <a:outerShdw blurRad="63500" sx="102000" sy="102000" algn="ctr" rotWithShape="0">
              <a:prstClr val="black">
                <a:alpha val="40000"/>
              </a:prstClr>
            </a:outerShdw>
          </a:effectLst>
        </p:spPr>
      </p:pic>
      <p:sp>
        <p:nvSpPr>
          <p:cNvPr id="5" name="TextBox 4">
            <a:extLst>
              <a:ext uri="{FF2B5EF4-FFF2-40B4-BE49-F238E27FC236}">
                <a16:creationId xmlns:a16="http://schemas.microsoft.com/office/drawing/2014/main" id="{E460043F-0F69-47EF-13E3-49B67D1C6CAA}"/>
              </a:ext>
            </a:extLst>
          </p:cNvPr>
          <p:cNvSpPr txBox="1"/>
          <p:nvPr/>
        </p:nvSpPr>
        <p:spPr>
          <a:xfrm>
            <a:off x="7565712" y="5256834"/>
            <a:ext cx="4346887" cy="646331"/>
          </a:xfrm>
          <a:prstGeom prst="rect">
            <a:avLst/>
          </a:prstGeom>
          <a:noFill/>
        </p:spPr>
        <p:txBody>
          <a:bodyPr wrap="square" rtlCol="0">
            <a:spAutoFit/>
          </a:bodyPr>
          <a:lstStyle/>
          <a:p>
            <a:r>
              <a:rPr lang="en-US" sz="1200" b="1" i="1" dirty="0"/>
              <a:t>*Image credit</a:t>
            </a:r>
            <a:r>
              <a:rPr lang="en-US" sz="1200" i="1" dirty="0"/>
              <a:t>: </a:t>
            </a:r>
            <a:r>
              <a:rPr lang="en-US" sz="1200" b="0" i="0" u="none" strike="noStrike" dirty="0" err="1">
                <a:solidFill>
                  <a:srgbClr val="222222"/>
                </a:solidFill>
                <a:effectLst/>
              </a:rPr>
              <a:t>Camburu</a:t>
            </a:r>
            <a:r>
              <a:rPr lang="en-US" sz="1200" b="0" i="0" u="none" strike="noStrike" dirty="0">
                <a:solidFill>
                  <a:srgbClr val="222222"/>
                </a:solidFill>
                <a:effectLst/>
              </a:rPr>
              <a:t>, </a:t>
            </a:r>
            <a:r>
              <a:rPr lang="en-US" sz="1200" b="0" i="0" u="none" strike="noStrike" dirty="0" err="1">
                <a:solidFill>
                  <a:srgbClr val="222222"/>
                </a:solidFill>
                <a:effectLst/>
              </a:rPr>
              <a:t>Oana</a:t>
            </a:r>
            <a:r>
              <a:rPr lang="en-US" sz="1200" b="0" i="0" u="none" strike="noStrike" dirty="0">
                <a:solidFill>
                  <a:srgbClr val="222222"/>
                </a:solidFill>
                <a:effectLst/>
              </a:rPr>
              <a:t>-Maria, et al. "e-</a:t>
            </a:r>
            <a:r>
              <a:rPr lang="en-US" sz="1200" b="0" i="0" u="none" strike="noStrike" dirty="0" err="1">
                <a:solidFill>
                  <a:srgbClr val="222222"/>
                </a:solidFill>
                <a:effectLst/>
              </a:rPr>
              <a:t>snli</a:t>
            </a:r>
            <a:r>
              <a:rPr lang="en-US" sz="1200" b="0" i="0" u="none" strike="noStrike" dirty="0">
                <a:solidFill>
                  <a:srgbClr val="222222"/>
                </a:solidFill>
                <a:effectLst/>
              </a:rPr>
              <a:t>: Natural language inference with natural language explanations." </a:t>
            </a:r>
            <a:r>
              <a:rPr lang="en-US" sz="1200" b="0" i="1" u="none" strike="noStrike" dirty="0">
                <a:solidFill>
                  <a:srgbClr val="222222"/>
                </a:solidFill>
                <a:effectLst/>
              </a:rPr>
              <a:t>Advances in Neural Information Processing Systems</a:t>
            </a:r>
            <a:r>
              <a:rPr lang="en-US" sz="1200" b="0" i="0" u="none" strike="noStrike" dirty="0">
                <a:solidFill>
                  <a:srgbClr val="222222"/>
                </a:solidFill>
                <a:effectLst/>
              </a:rPr>
              <a:t> 31 (2018).</a:t>
            </a:r>
            <a:endParaRPr lang="en-US" sz="1200" i="1" dirty="0"/>
          </a:p>
        </p:txBody>
      </p:sp>
      <p:sp>
        <p:nvSpPr>
          <p:cNvPr id="10" name="Slide Number Placeholder 9">
            <a:extLst>
              <a:ext uri="{FF2B5EF4-FFF2-40B4-BE49-F238E27FC236}">
                <a16:creationId xmlns:a16="http://schemas.microsoft.com/office/drawing/2014/main" id="{B38147A0-A4BE-737F-CF0C-A3B221C9F703}"/>
              </a:ext>
            </a:extLst>
          </p:cNvPr>
          <p:cNvSpPr>
            <a:spLocks noGrp="1"/>
          </p:cNvSpPr>
          <p:nvPr>
            <p:ph type="sldNum" sz="quarter" idx="12"/>
          </p:nvPr>
        </p:nvSpPr>
        <p:spPr/>
        <p:txBody>
          <a:bodyPr/>
          <a:lstStyle/>
          <a:p>
            <a:fld id="{BDA8D12A-5188-A74B-8183-7E806E12A340}" type="slidenum">
              <a:rPr lang="en-US" smtClean="0"/>
              <a:t>32</a:t>
            </a:fld>
            <a:endParaRPr lang="en-US"/>
          </a:p>
        </p:txBody>
      </p:sp>
    </p:spTree>
    <p:extLst>
      <p:ext uri="{BB962C8B-B14F-4D97-AF65-F5344CB8AC3E}">
        <p14:creationId xmlns:p14="http://schemas.microsoft.com/office/powerpoint/2010/main" val="22413482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6EB92-7C4B-CFB0-AF54-2D0FF2FCD354}"/>
              </a:ext>
            </a:extLst>
          </p:cNvPr>
          <p:cNvSpPr>
            <a:spLocks noGrp="1"/>
          </p:cNvSpPr>
          <p:nvPr>
            <p:ph type="title"/>
          </p:nvPr>
        </p:nvSpPr>
        <p:spPr/>
        <p:txBody>
          <a:bodyPr>
            <a:normAutofit/>
          </a:bodyPr>
          <a:lstStyle/>
          <a:p>
            <a:r>
              <a:rPr lang="en-US" sz="4000" dirty="0"/>
              <a:t>Previous Approaches for Explainable Predictions</a:t>
            </a:r>
          </a:p>
        </p:txBody>
      </p:sp>
      <p:sp>
        <p:nvSpPr>
          <p:cNvPr id="3" name="Content Placeholder 2">
            <a:extLst>
              <a:ext uri="{FF2B5EF4-FFF2-40B4-BE49-F238E27FC236}">
                <a16:creationId xmlns:a16="http://schemas.microsoft.com/office/drawing/2014/main" id="{EAB85C3C-696A-B6C4-2ADB-F68C611AA9C5}"/>
              </a:ext>
            </a:extLst>
          </p:cNvPr>
          <p:cNvSpPr>
            <a:spLocks noGrp="1"/>
          </p:cNvSpPr>
          <p:nvPr>
            <p:ph idx="1"/>
          </p:nvPr>
        </p:nvSpPr>
        <p:spPr/>
        <p:txBody>
          <a:bodyPr>
            <a:normAutofit/>
          </a:bodyPr>
          <a:lstStyle/>
          <a:p>
            <a:r>
              <a:rPr lang="en-US" b="1" dirty="0"/>
              <a:t>Natural Language Explanation</a:t>
            </a:r>
            <a:r>
              <a:rPr lang="en-US" dirty="0"/>
              <a:t>: Models generate explanations for a given prediction (</a:t>
            </a:r>
            <a:r>
              <a:rPr lang="en-US" dirty="0" err="1"/>
              <a:t>Camburu</a:t>
            </a:r>
            <a:r>
              <a:rPr lang="en-US" dirty="0"/>
              <a:t> et al., 2018)</a:t>
            </a:r>
          </a:p>
          <a:p>
            <a:r>
              <a:rPr lang="en-US" b="1" dirty="0"/>
              <a:t>Probing Hidden States</a:t>
            </a:r>
            <a:r>
              <a:rPr lang="en-US" dirty="0"/>
              <a:t>: Small classifiers trained on hidden representations for a certain linguistic task (</a:t>
            </a:r>
            <a:r>
              <a:rPr lang="en-US" i="1" dirty="0"/>
              <a:t>Hewitt and Manning, 2019</a:t>
            </a:r>
            <a:r>
              <a:rPr lang="en-US" dirty="0"/>
              <a:t>)</a:t>
            </a:r>
          </a:p>
          <a:p>
            <a:endParaRPr lang="en-US" dirty="0"/>
          </a:p>
          <a:p>
            <a:endParaRPr lang="en-US" dirty="0"/>
          </a:p>
        </p:txBody>
      </p:sp>
      <p:pic>
        <p:nvPicPr>
          <p:cNvPr id="6" name="Picture 5">
            <a:extLst>
              <a:ext uri="{FF2B5EF4-FFF2-40B4-BE49-F238E27FC236}">
                <a16:creationId xmlns:a16="http://schemas.microsoft.com/office/drawing/2014/main" id="{81C1FBF7-0ABC-37F3-6A36-D9348F14D747}"/>
              </a:ext>
            </a:extLst>
          </p:cNvPr>
          <p:cNvPicPr>
            <a:picLocks noChangeAspect="1"/>
          </p:cNvPicPr>
          <p:nvPr/>
        </p:nvPicPr>
        <p:blipFill>
          <a:blip r:embed="rId2"/>
          <a:stretch>
            <a:fillRect/>
          </a:stretch>
        </p:blipFill>
        <p:spPr>
          <a:xfrm>
            <a:off x="1117600" y="4309585"/>
            <a:ext cx="9956800" cy="997716"/>
          </a:xfrm>
          <a:prstGeom prst="rect">
            <a:avLst/>
          </a:prstGeom>
          <a:effectLst>
            <a:outerShdw blurRad="63500" sx="102000" sy="102000" algn="ctr" rotWithShape="0">
              <a:prstClr val="black">
                <a:alpha val="40000"/>
              </a:prstClr>
            </a:outerShdw>
          </a:effectLst>
        </p:spPr>
      </p:pic>
      <p:sp>
        <p:nvSpPr>
          <p:cNvPr id="7" name="TextBox 6">
            <a:extLst>
              <a:ext uri="{FF2B5EF4-FFF2-40B4-BE49-F238E27FC236}">
                <a16:creationId xmlns:a16="http://schemas.microsoft.com/office/drawing/2014/main" id="{7AE3DBB3-0161-8A78-93AB-822314A26A19}"/>
              </a:ext>
            </a:extLst>
          </p:cNvPr>
          <p:cNvSpPr txBox="1"/>
          <p:nvPr/>
        </p:nvSpPr>
        <p:spPr>
          <a:xfrm>
            <a:off x="6473512" y="5665569"/>
            <a:ext cx="5388288" cy="830997"/>
          </a:xfrm>
          <a:prstGeom prst="rect">
            <a:avLst/>
          </a:prstGeom>
          <a:noFill/>
        </p:spPr>
        <p:txBody>
          <a:bodyPr wrap="square" rtlCol="0">
            <a:spAutoFit/>
          </a:bodyPr>
          <a:lstStyle/>
          <a:p>
            <a:r>
              <a:rPr lang="en-US" sz="1200" b="1" i="1" dirty="0"/>
              <a:t>*Image credit</a:t>
            </a:r>
            <a:r>
              <a:rPr lang="en-US" sz="1200" i="1" dirty="0"/>
              <a:t>: </a:t>
            </a:r>
            <a:r>
              <a:rPr lang="en-US" sz="1200" b="0" i="0" u="none" strike="noStrike" dirty="0">
                <a:solidFill>
                  <a:srgbClr val="222222"/>
                </a:solidFill>
                <a:effectLst/>
              </a:rPr>
              <a:t>Hewitt, John, and Christopher D. Manning. "A structural probe for finding syntax in word representations." </a:t>
            </a:r>
            <a:r>
              <a:rPr lang="en-US" sz="1200" b="0" i="1" u="none" strike="noStrike" dirty="0">
                <a:solidFill>
                  <a:srgbClr val="222222"/>
                </a:solidFill>
                <a:effectLst/>
              </a:rPr>
              <a:t>Proceedings of the 2019 Conference of the North American Chapter of the Association for Computational Linguistics: Human Language Technologies, Volume 1 (Long and Short Papers)</a:t>
            </a:r>
            <a:r>
              <a:rPr lang="en-US" sz="1200" b="0" i="0" u="none" strike="noStrike" dirty="0">
                <a:solidFill>
                  <a:srgbClr val="222222"/>
                </a:solidFill>
                <a:effectLst/>
              </a:rPr>
              <a:t>. 2019.</a:t>
            </a:r>
            <a:endParaRPr lang="en-US" sz="1200" i="1" dirty="0"/>
          </a:p>
        </p:txBody>
      </p:sp>
      <p:sp>
        <p:nvSpPr>
          <p:cNvPr id="12" name="Slide Number Placeholder 11">
            <a:extLst>
              <a:ext uri="{FF2B5EF4-FFF2-40B4-BE49-F238E27FC236}">
                <a16:creationId xmlns:a16="http://schemas.microsoft.com/office/drawing/2014/main" id="{313CC88A-CD9C-8C87-D0AD-A64E884FF269}"/>
              </a:ext>
            </a:extLst>
          </p:cNvPr>
          <p:cNvSpPr>
            <a:spLocks noGrp="1"/>
          </p:cNvSpPr>
          <p:nvPr>
            <p:ph type="sldNum" sz="quarter" idx="12"/>
          </p:nvPr>
        </p:nvSpPr>
        <p:spPr/>
        <p:txBody>
          <a:bodyPr/>
          <a:lstStyle/>
          <a:p>
            <a:fld id="{BDA8D12A-5188-A74B-8183-7E806E12A340}" type="slidenum">
              <a:rPr lang="en-US" smtClean="0"/>
              <a:t>33</a:t>
            </a:fld>
            <a:endParaRPr lang="en-US"/>
          </a:p>
        </p:txBody>
      </p:sp>
    </p:spTree>
    <p:extLst>
      <p:ext uri="{BB962C8B-B14F-4D97-AF65-F5344CB8AC3E}">
        <p14:creationId xmlns:p14="http://schemas.microsoft.com/office/powerpoint/2010/main" val="21514372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634DA-2E94-86FE-B20E-D889959097F4}"/>
              </a:ext>
            </a:extLst>
          </p:cNvPr>
          <p:cNvSpPr>
            <a:spLocks noGrp="1"/>
          </p:cNvSpPr>
          <p:nvPr>
            <p:ph type="title"/>
          </p:nvPr>
        </p:nvSpPr>
        <p:spPr/>
        <p:txBody>
          <a:bodyPr>
            <a:normAutofit/>
          </a:bodyPr>
          <a:lstStyle/>
          <a:p>
            <a:r>
              <a:rPr lang="en-US" sz="3800" dirty="0"/>
              <a:t>Explainable Predictions using Concept Bottlenecks</a:t>
            </a:r>
          </a:p>
        </p:txBody>
      </p:sp>
      <p:pic>
        <p:nvPicPr>
          <p:cNvPr id="5" name="Picture 4">
            <a:extLst>
              <a:ext uri="{FF2B5EF4-FFF2-40B4-BE49-F238E27FC236}">
                <a16:creationId xmlns:a16="http://schemas.microsoft.com/office/drawing/2014/main" id="{5B2B2E4B-08A3-EDF3-6811-D82E298FB4BA}"/>
              </a:ext>
            </a:extLst>
          </p:cNvPr>
          <p:cNvPicPr>
            <a:picLocks noChangeAspect="1"/>
          </p:cNvPicPr>
          <p:nvPr/>
        </p:nvPicPr>
        <p:blipFill>
          <a:blip r:embed="rId2"/>
          <a:stretch>
            <a:fillRect/>
          </a:stretch>
        </p:blipFill>
        <p:spPr>
          <a:xfrm>
            <a:off x="1247377" y="1690688"/>
            <a:ext cx="4528956" cy="4651777"/>
          </a:xfrm>
          <a:prstGeom prst="rect">
            <a:avLst/>
          </a:prstGeom>
          <a:effectLst>
            <a:outerShdw blurRad="63500" sx="102000" sy="102000" algn="ctr" rotWithShape="0">
              <a:prstClr val="black">
                <a:alpha val="40000"/>
              </a:prstClr>
            </a:outerShdw>
          </a:effectLst>
        </p:spPr>
      </p:pic>
      <p:sp>
        <p:nvSpPr>
          <p:cNvPr id="3" name="TextBox 2">
            <a:extLst>
              <a:ext uri="{FF2B5EF4-FFF2-40B4-BE49-F238E27FC236}">
                <a16:creationId xmlns:a16="http://schemas.microsoft.com/office/drawing/2014/main" id="{B4DBCD57-4D5D-29B6-9CC9-6F475416EC74}"/>
              </a:ext>
            </a:extLst>
          </p:cNvPr>
          <p:cNvSpPr txBox="1"/>
          <p:nvPr/>
        </p:nvSpPr>
        <p:spPr>
          <a:xfrm>
            <a:off x="6552238" y="5962658"/>
            <a:ext cx="3187700" cy="646331"/>
          </a:xfrm>
          <a:prstGeom prst="rect">
            <a:avLst/>
          </a:prstGeom>
          <a:noFill/>
        </p:spPr>
        <p:txBody>
          <a:bodyPr wrap="square" rtlCol="0">
            <a:spAutoFit/>
          </a:bodyPr>
          <a:lstStyle/>
          <a:p>
            <a:r>
              <a:rPr lang="en-US" sz="1200" i="1" dirty="0"/>
              <a:t>*</a:t>
            </a:r>
            <a:r>
              <a:rPr lang="en-US" sz="1200" b="1" i="1" dirty="0"/>
              <a:t>Image credit</a:t>
            </a:r>
            <a:r>
              <a:rPr lang="en-US" sz="1200" i="1" dirty="0"/>
              <a:t>: </a:t>
            </a:r>
            <a:r>
              <a:rPr lang="en-US" sz="1200" i="1" u="none" strike="noStrike" dirty="0">
                <a:effectLst/>
              </a:rPr>
              <a:t>Koh, Pang Wei, et al. "Concept bottleneck models." International conference on machine learning. PMLR, 2020</a:t>
            </a:r>
            <a:r>
              <a:rPr lang="en-US" sz="1200" b="0" i="1" u="none" strike="noStrike" dirty="0">
                <a:effectLst/>
              </a:rPr>
              <a:t>.</a:t>
            </a:r>
            <a:endParaRPr lang="en-US" sz="1200" i="1" dirty="0"/>
          </a:p>
        </p:txBody>
      </p:sp>
      <p:sp>
        <p:nvSpPr>
          <p:cNvPr id="7" name="TextBox 6">
            <a:extLst>
              <a:ext uri="{FF2B5EF4-FFF2-40B4-BE49-F238E27FC236}">
                <a16:creationId xmlns:a16="http://schemas.microsoft.com/office/drawing/2014/main" id="{44251D2F-F471-7A43-42C7-C091DC2494E6}"/>
              </a:ext>
            </a:extLst>
          </p:cNvPr>
          <p:cNvSpPr txBox="1"/>
          <p:nvPr/>
        </p:nvSpPr>
        <p:spPr>
          <a:xfrm>
            <a:off x="6662057" y="1864860"/>
            <a:ext cx="4963886" cy="1077218"/>
          </a:xfrm>
          <a:prstGeom prst="rect">
            <a:avLst/>
          </a:prstGeom>
          <a:noFill/>
        </p:spPr>
        <p:txBody>
          <a:bodyPr wrap="square" rtlCol="0">
            <a:spAutoFit/>
          </a:bodyPr>
          <a:lstStyle/>
          <a:p>
            <a:r>
              <a:rPr lang="en-US" sz="1600" dirty="0"/>
              <a:t>Yang et al., 2023 </a:t>
            </a:r>
            <a:r>
              <a:rPr lang="en-US" sz="1600" dirty="0">
                <a:sym typeface="Wingdings" pitchFamily="2" charset="2"/>
              </a:rPr>
              <a:t> </a:t>
            </a:r>
            <a:r>
              <a:rPr lang="en-US" sz="1600" b="1" dirty="0">
                <a:sym typeface="Wingdings" pitchFamily="2" charset="2"/>
              </a:rPr>
              <a:t>La</a:t>
            </a:r>
            <a:r>
              <a:rPr lang="en-US" sz="1600" dirty="0">
                <a:sym typeface="Wingdings" pitchFamily="2" charset="2"/>
              </a:rPr>
              <a:t>nguage Guided </a:t>
            </a:r>
            <a:r>
              <a:rPr lang="en-US" sz="1600" b="1" dirty="0">
                <a:sym typeface="Wingdings" pitchFamily="2" charset="2"/>
              </a:rPr>
              <a:t>Bo</a:t>
            </a:r>
            <a:r>
              <a:rPr lang="en-US" sz="1600" dirty="0">
                <a:sym typeface="Wingdings" pitchFamily="2" charset="2"/>
              </a:rPr>
              <a:t>ttlenecks (LABO)</a:t>
            </a:r>
          </a:p>
          <a:p>
            <a:pPr marL="742950" lvl="1" indent="-285750">
              <a:buFont typeface="Arial" panose="020B0604020202020204" pitchFamily="34" charset="0"/>
              <a:buChar char="•"/>
            </a:pPr>
            <a:r>
              <a:rPr lang="en-US" sz="1600" dirty="0">
                <a:sym typeface="Wingdings" pitchFamily="2" charset="2"/>
              </a:rPr>
              <a:t>GPT-3  find bottleneck concepts</a:t>
            </a:r>
          </a:p>
          <a:p>
            <a:pPr marL="742950" lvl="1" indent="-285750">
              <a:buFont typeface="Arial" panose="020B0604020202020204" pitchFamily="34" charset="0"/>
              <a:buChar char="•"/>
            </a:pPr>
            <a:r>
              <a:rPr lang="en-US" sz="1600" dirty="0">
                <a:sym typeface="Wingdings" pitchFamily="2" charset="2"/>
              </a:rPr>
              <a:t>CLIP  Aligned concepts to images </a:t>
            </a:r>
          </a:p>
          <a:p>
            <a:pPr marL="742950" lvl="1" indent="-285750">
              <a:buFont typeface="Arial" panose="020B0604020202020204" pitchFamily="34" charset="0"/>
              <a:buChar char="•"/>
            </a:pPr>
            <a:r>
              <a:rPr lang="en-US" sz="1600" dirty="0">
                <a:sym typeface="Wingdings" pitchFamily="2" charset="2"/>
              </a:rPr>
              <a:t>Linear model  Image classification</a:t>
            </a:r>
            <a:endParaRPr lang="en-US" sz="1600" dirty="0"/>
          </a:p>
        </p:txBody>
      </p:sp>
      <p:sp>
        <p:nvSpPr>
          <p:cNvPr id="8" name="TextBox 7">
            <a:extLst>
              <a:ext uri="{FF2B5EF4-FFF2-40B4-BE49-F238E27FC236}">
                <a16:creationId xmlns:a16="http://schemas.microsoft.com/office/drawing/2014/main" id="{8D016673-7C39-2BD6-1F6F-9E2DFE53E55F}"/>
              </a:ext>
            </a:extLst>
          </p:cNvPr>
          <p:cNvSpPr txBox="1"/>
          <p:nvPr/>
        </p:nvSpPr>
        <p:spPr>
          <a:xfrm>
            <a:off x="7144176" y="3697569"/>
            <a:ext cx="3999648" cy="1200329"/>
          </a:xfrm>
          <a:prstGeom prst="rect">
            <a:avLst/>
          </a:prstGeom>
          <a:noFill/>
        </p:spPr>
        <p:txBody>
          <a:bodyPr wrap="square">
            <a:spAutoFit/>
          </a:bodyPr>
          <a:lstStyle/>
          <a:p>
            <a:r>
              <a:rPr lang="en-US" dirty="0"/>
              <a:t>In this section of my dissertation, I will focus on using Concept Bottleneck models to build robust, explainable clinical diagnosis models.</a:t>
            </a:r>
          </a:p>
        </p:txBody>
      </p:sp>
      <p:sp>
        <p:nvSpPr>
          <p:cNvPr id="9" name="Slide Number Placeholder 8">
            <a:extLst>
              <a:ext uri="{FF2B5EF4-FFF2-40B4-BE49-F238E27FC236}">
                <a16:creationId xmlns:a16="http://schemas.microsoft.com/office/drawing/2014/main" id="{E9BB9E66-7D40-E4BA-12B6-CF41639D37C7}"/>
              </a:ext>
            </a:extLst>
          </p:cNvPr>
          <p:cNvSpPr>
            <a:spLocks noGrp="1"/>
          </p:cNvSpPr>
          <p:nvPr>
            <p:ph type="sldNum" sz="quarter" idx="12"/>
          </p:nvPr>
        </p:nvSpPr>
        <p:spPr/>
        <p:txBody>
          <a:bodyPr/>
          <a:lstStyle/>
          <a:p>
            <a:fld id="{BDA8D12A-5188-A74B-8183-7E806E12A340}" type="slidenum">
              <a:rPr lang="en-US" smtClean="0"/>
              <a:t>34</a:t>
            </a:fld>
            <a:endParaRPr lang="en-US"/>
          </a:p>
        </p:txBody>
      </p:sp>
    </p:spTree>
    <p:extLst>
      <p:ext uri="{BB962C8B-B14F-4D97-AF65-F5344CB8AC3E}">
        <p14:creationId xmlns:p14="http://schemas.microsoft.com/office/powerpoint/2010/main" val="27246986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021DA-9AA1-B48F-C809-690C59DCA8B3}"/>
              </a:ext>
            </a:extLst>
          </p:cNvPr>
          <p:cNvSpPr>
            <a:spLocks noGrp="1"/>
          </p:cNvSpPr>
          <p:nvPr>
            <p:ph type="title"/>
          </p:nvPr>
        </p:nvSpPr>
        <p:spPr/>
        <p:txBody>
          <a:bodyPr>
            <a:normAutofit/>
          </a:bodyPr>
          <a:lstStyle/>
          <a:p>
            <a:r>
              <a:rPr lang="en-US" sz="3800" dirty="0"/>
              <a:t>Dementia Dataset </a:t>
            </a:r>
          </a:p>
        </p:txBody>
      </p:sp>
      <p:pic>
        <p:nvPicPr>
          <p:cNvPr id="4" name="Picture 3">
            <a:extLst>
              <a:ext uri="{FF2B5EF4-FFF2-40B4-BE49-F238E27FC236}">
                <a16:creationId xmlns:a16="http://schemas.microsoft.com/office/drawing/2014/main" id="{3E8AC4C4-EA98-5F05-57DB-496E07AF48C6}"/>
              </a:ext>
            </a:extLst>
          </p:cNvPr>
          <p:cNvPicPr>
            <a:picLocks noChangeAspect="1"/>
          </p:cNvPicPr>
          <p:nvPr/>
        </p:nvPicPr>
        <p:blipFill>
          <a:blip r:embed="rId2"/>
          <a:stretch>
            <a:fillRect/>
          </a:stretch>
        </p:blipFill>
        <p:spPr>
          <a:xfrm>
            <a:off x="1680057" y="2675572"/>
            <a:ext cx="8466384" cy="2001145"/>
          </a:xfrm>
          <a:prstGeom prst="rect">
            <a:avLst/>
          </a:prstGeom>
          <a:effectLst>
            <a:outerShdw blurRad="63500" sx="102000" sy="102000" algn="ctr" rotWithShape="0">
              <a:prstClr val="black">
                <a:alpha val="40000"/>
              </a:prstClr>
            </a:outerShdw>
          </a:effectLst>
        </p:spPr>
      </p:pic>
      <p:sp>
        <p:nvSpPr>
          <p:cNvPr id="5" name="TextBox 4">
            <a:extLst>
              <a:ext uri="{FF2B5EF4-FFF2-40B4-BE49-F238E27FC236}">
                <a16:creationId xmlns:a16="http://schemas.microsoft.com/office/drawing/2014/main" id="{1881746E-EF3E-15FD-7128-10D0CFDB76C4}"/>
              </a:ext>
            </a:extLst>
          </p:cNvPr>
          <p:cNvSpPr txBox="1"/>
          <p:nvPr/>
        </p:nvSpPr>
        <p:spPr>
          <a:xfrm>
            <a:off x="838200" y="4934757"/>
            <a:ext cx="10515600" cy="1323439"/>
          </a:xfrm>
          <a:prstGeom prst="rect">
            <a:avLst/>
          </a:prstGeom>
          <a:noFill/>
        </p:spPr>
        <p:txBody>
          <a:bodyPr wrap="square" rtlCol="0">
            <a:spAutoFit/>
          </a:bodyPr>
          <a:lstStyle/>
          <a:p>
            <a:pPr marL="285750" indent="-285750">
              <a:buFont typeface="Arial" panose="020B0604020202020204" pitchFamily="34" charset="0"/>
              <a:buChar char="•"/>
            </a:pPr>
            <a:r>
              <a:rPr lang="en-US" sz="2000" dirty="0"/>
              <a:t>For each patient admission, we only select the discharge summary note.</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Additionally, we remove phrases such as “dementia”, “</a:t>
            </a:r>
            <a:r>
              <a:rPr lang="en-US" sz="2000" dirty="0" err="1"/>
              <a:t>alzheimer’s</a:t>
            </a:r>
            <a:r>
              <a:rPr lang="en-US" sz="2000" dirty="0"/>
              <a:t>”, “vascular dementia” and other variants from the notes to prevent information leakage.</a:t>
            </a:r>
          </a:p>
        </p:txBody>
      </p:sp>
      <p:sp>
        <p:nvSpPr>
          <p:cNvPr id="7" name="TextBox 6">
            <a:extLst>
              <a:ext uri="{FF2B5EF4-FFF2-40B4-BE49-F238E27FC236}">
                <a16:creationId xmlns:a16="http://schemas.microsoft.com/office/drawing/2014/main" id="{8A69DD59-F52A-F356-0214-F3326396F5D2}"/>
              </a:ext>
            </a:extLst>
          </p:cNvPr>
          <p:cNvSpPr txBox="1"/>
          <p:nvPr/>
        </p:nvSpPr>
        <p:spPr>
          <a:xfrm>
            <a:off x="838200" y="1983075"/>
            <a:ext cx="10150098" cy="400110"/>
          </a:xfrm>
          <a:prstGeom prst="rect">
            <a:avLst/>
          </a:prstGeom>
          <a:noFill/>
        </p:spPr>
        <p:txBody>
          <a:bodyPr wrap="square">
            <a:spAutoFit/>
          </a:bodyPr>
          <a:lstStyle/>
          <a:p>
            <a:r>
              <a:rPr lang="en-US" sz="2000" dirty="0"/>
              <a:t>Multi-Classification Task: Dementia diagnosis based on patient notes in their EHRs</a:t>
            </a:r>
          </a:p>
        </p:txBody>
      </p:sp>
      <p:sp>
        <p:nvSpPr>
          <p:cNvPr id="13" name="Slide Number Placeholder 12">
            <a:extLst>
              <a:ext uri="{FF2B5EF4-FFF2-40B4-BE49-F238E27FC236}">
                <a16:creationId xmlns:a16="http://schemas.microsoft.com/office/drawing/2014/main" id="{E559BAFD-4060-E51D-E473-A8218AF8E9F0}"/>
              </a:ext>
            </a:extLst>
          </p:cNvPr>
          <p:cNvSpPr>
            <a:spLocks noGrp="1"/>
          </p:cNvSpPr>
          <p:nvPr>
            <p:ph type="sldNum" sz="quarter" idx="12"/>
          </p:nvPr>
        </p:nvSpPr>
        <p:spPr/>
        <p:txBody>
          <a:bodyPr/>
          <a:lstStyle/>
          <a:p>
            <a:fld id="{BDA8D12A-5188-A74B-8183-7E806E12A340}" type="slidenum">
              <a:rPr lang="en-US" smtClean="0"/>
              <a:t>35</a:t>
            </a:fld>
            <a:endParaRPr lang="en-US"/>
          </a:p>
        </p:txBody>
      </p:sp>
    </p:spTree>
    <p:extLst>
      <p:ext uri="{BB962C8B-B14F-4D97-AF65-F5344CB8AC3E}">
        <p14:creationId xmlns:p14="http://schemas.microsoft.com/office/powerpoint/2010/main" val="12814001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6ADA6-B2AA-AFAF-AEE1-882E877190FA}"/>
              </a:ext>
            </a:extLst>
          </p:cNvPr>
          <p:cNvSpPr>
            <a:spLocks noGrp="1"/>
          </p:cNvSpPr>
          <p:nvPr>
            <p:ph type="title"/>
          </p:nvPr>
        </p:nvSpPr>
        <p:spPr/>
        <p:txBody>
          <a:bodyPr>
            <a:normAutofit/>
          </a:bodyPr>
          <a:lstStyle/>
          <a:p>
            <a:r>
              <a:rPr lang="en-US" sz="3200" dirty="0"/>
              <a:t>How does GPT-4 Perform on Patient Dementia Diagnosis?</a:t>
            </a:r>
          </a:p>
        </p:txBody>
      </p:sp>
      <p:sp>
        <p:nvSpPr>
          <p:cNvPr id="4" name="Rounded Rectangle 3">
            <a:extLst>
              <a:ext uri="{FF2B5EF4-FFF2-40B4-BE49-F238E27FC236}">
                <a16:creationId xmlns:a16="http://schemas.microsoft.com/office/drawing/2014/main" id="{20337734-D56F-3E5D-0B1C-22804D61A7CD}"/>
              </a:ext>
            </a:extLst>
          </p:cNvPr>
          <p:cNvSpPr/>
          <p:nvPr/>
        </p:nvSpPr>
        <p:spPr>
          <a:xfrm>
            <a:off x="533400" y="2590800"/>
            <a:ext cx="5878286" cy="2775857"/>
          </a:xfrm>
          <a:prstGeom prst="roundRect">
            <a:avLst/>
          </a:prstGeom>
          <a:solidFill>
            <a:schemeClr val="accent2"/>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For the given patient clinical note, choose one of the following diagnosis labels:</a:t>
            </a:r>
          </a:p>
          <a:p>
            <a:endParaRPr lang="en-US" sz="1600" dirty="0">
              <a:solidFill>
                <a:schemeClr val="tx1"/>
              </a:solidFill>
            </a:endParaRPr>
          </a:p>
          <a:p>
            <a:r>
              <a:rPr lang="en-US" sz="1600" dirty="0">
                <a:solidFill>
                  <a:schemeClr val="tx1"/>
                </a:solidFill>
              </a:rPr>
              <a:t>no dementia</a:t>
            </a:r>
          </a:p>
          <a:p>
            <a:r>
              <a:rPr lang="en-US" sz="1600" dirty="0">
                <a:solidFill>
                  <a:schemeClr val="tx1"/>
                </a:solidFill>
              </a:rPr>
              <a:t>dementia</a:t>
            </a:r>
          </a:p>
          <a:p>
            <a:r>
              <a:rPr lang="en-US" sz="1600" dirty="0" err="1">
                <a:solidFill>
                  <a:schemeClr val="tx1"/>
                </a:solidFill>
              </a:rPr>
              <a:t>alzheimer's</a:t>
            </a:r>
            <a:r>
              <a:rPr lang="en-US" sz="1600" dirty="0">
                <a:solidFill>
                  <a:schemeClr val="tx1"/>
                </a:solidFill>
              </a:rPr>
              <a:t> dementia</a:t>
            </a:r>
          </a:p>
          <a:p>
            <a:r>
              <a:rPr lang="en-US" sz="1600" dirty="0">
                <a:solidFill>
                  <a:schemeClr val="tx1"/>
                </a:solidFill>
              </a:rPr>
              <a:t>vascular dementia</a:t>
            </a:r>
          </a:p>
          <a:p>
            <a:endParaRPr lang="en-US" sz="1600" dirty="0">
              <a:solidFill>
                <a:schemeClr val="tx1"/>
              </a:solidFill>
            </a:endParaRPr>
          </a:p>
          <a:p>
            <a:r>
              <a:rPr lang="en-US" sz="1600" dirty="0">
                <a:solidFill>
                  <a:schemeClr val="tx1"/>
                </a:solidFill>
              </a:rPr>
              <a:t>You should only reply with the diagnosis label and nothing else.</a:t>
            </a:r>
          </a:p>
        </p:txBody>
      </p:sp>
      <p:graphicFrame>
        <p:nvGraphicFramePr>
          <p:cNvPr id="5" name="Table 4">
            <a:extLst>
              <a:ext uri="{FF2B5EF4-FFF2-40B4-BE49-F238E27FC236}">
                <a16:creationId xmlns:a16="http://schemas.microsoft.com/office/drawing/2014/main" id="{1548ACD3-5881-3146-1E9C-C154F34ECA08}"/>
              </a:ext>
            </a:extLst>
          </p:cNvPr>
          <p:cNvGraphicFramePr>
            <a:graphicFrameLocks noGrp="1"/>
          </p:cNvGraphicFramePr>
          <p:nvPr>
            <p:extLst>
              <p:ext uri="{D42A27DB-BD31-4B8C-83A1-F6EECF244321}">
                <p14:modId xmlns:p14="http://schemas.microsoft.com/office/powerpoint/2010/main" val="3748038483"/>
              </p:ext>
            </p:extLst>
          </p:nvPr>
        </p:nvGraphicFramePr>
        <p:xfrm>
          <a:off x="6789058" y="3194639"/>
          <a:ext cx="5130798" cy="1414054"/>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1710266">
                  <a:extLst>
                    <a:ext uri="{9D8B030D-6E8A-4147-A177-3AD203B41FA5}">
                      <a16:colId xmlns:a16="http://schemas.microsoft.com/office/drawing/2014/main" val="3466944555"/>
                    </a:ext>
                  </a:extLst>
                </a:gridCol>
                <a:gridCol w="1710266">
                  <a:extLst>
                    <a:ext uri="{9D8B030D-6E8A-4147-A177-3AD203B41FA5}">
                      <a16:colId xmlns:a16="http://schemas.microsoft.com/office/drawing/2014/main" val="1106942106"/>
                    </a:ext>
                  </a:extLst>
                </a:gridCol>
                <a:gridCol w="1710266">
                  <a:extLst>
                    <a:ext uri="{9D8B030D-6E8A-4147-A177-3AD203B41FA5}">
                      <a16:colId xmlns:a16="http://schemas.microsoft.com/office/drawing/2014/main" val="4230914425"/>
                    </a:ext>
                  </a:extLst>
                </a:gridCol>
              </a:tblGrid>
              <a:tr h="352552">
                <a:tc>
                  <a:txBody>
                    <a:bodyPr/>
                    <a:lstStyle/>
                    <a:p>
                      <a:pPr algn="ctr"/>
                      <a:r>
                        <a:rPr lang="en-US" sz="1400" dirty="0"/>
                        <a:t>Approach</a:t>
                      </a:r>
                    </a:p>
                  </a:txBody>
                  <a:tcPr/>
                </a:tc>
                <a:tc>
                  <a:txBody>
                    <a:bodyPr/>
                    <a:lstStyle/>
                    <a:p>
                      <a:pPr algn="ctr"/>
                      <a:r>
                        <a:rPr lang="en-US" sz="1400" dirty="0"/>
                        <a:t>Dementia Accuracy</a:t>
                      </a:r>
                    </a:p>
                  </a:txBody>
                  <a:tcPr/>
                </a:tc>
                <a:tc>
                  <a:txBody>
                    <a:bodyPr/>
                    <a:lstStyle/>
                    <a:p>
                      <a:pPr algn="ctr"/>
                      <a:r>
                        <a:rPr lang="en-US" sz="1400" dirty="0"/>
                        <a:t>Dementia F1</a:t>
                      </a:r>
                    </a:p>
                  </a:txBody>
                  <a:tcPr/>
                </a:tc>
                <a:extLst>
                  <a:ext uri="{0D108BD9-81ED-4DB2-BD59-A6C34878D82A}">
                    <a16:rowId xmlns:a16="http://schemas.microsoft.com/office/drawing/2014/main" val="420623894"/>
                  </a:ext>
                </a:extLst>
              </a:tr>
              <a:tr h="353834">
                <a:tc>
                  <a:txBody>
                    <a:bodyPr/>
                    <a:lstStyle/>
                    <a:p>
                      <a:r>
                        <a:rPr lang="en-US" sz="1400" dirty="0"/>
                        <a:t>Random Baseline</a:t>
                      </a:r>
                    </a:p>
                  </a:txBody>
                  <a:tcPr/>
                </a:tc>
                <a:tc>
                  <a:txBody>
                    <a:bodyPr/>
                    <a:lstStyle/>
                    <a:p>
                      <a:r>
                        <a:rPr lang="en-US" sz="1400" dirty="0"/>
                        <a:t>0.29</a:t>
                      </a:r>
                    </a:p>
                  </a:txBody>
                  <a:tcPr/>
                </a:tc>
                <a:tc>
                  <a:txBody>
                    <a:bodyPr/>
                    <a:lstStyle/>
                    <a:p>
                      <a:r>
                        <a:rPr lang="en-US" sz="1400" dirty="0"/>
                        <a:t>0.34</a:t>
                      </a:r>
                    </a:p>
                  </a:txBody>
                  <a:tcPr/>
                </a:tc>
                <a:extLst>
                  <a:ext uri="{0D108BD9-81ED-4DB2-BD59-A6C34878D82A}">
                    <a16:rowId xmlns:a16="http://schemas.microsoft.com/office/drawing/2014/main" val="322318516"/>
                  </a:ext>
                </a:extLst>
              </a:tr>
              <a:tr h="353834">
                <a:tc>
                  <a:txBody>
                    <a:bodyPr/>
                    <a:lstStyle/>
                    <a:p>
                      <a:r>
                        <a:rPr lang="en-US" sz="1400" dirty="0"/>
                        <a:t>Majority Baseline</a:t>
                      </a:r>
                    </a:p>
                  </a:txBody>
                  <a:tcPr/>
                </a:tc>
                <a:tc>
                  <a:txBody>
                    <a:bodyPr/>
                    <a:lstStyle/>
                    <a:p>
                      <a:r>
                        <a:rPr lang="en-US" sz="1400" dirty="0"/>
                        <a:t>0.48</a:t>
                      </a:r>
                    </a:p>
                  </a:txBody>
                  <a:tcPr/>
                </a:tc>
                <a:tc>
                  <a:txBody>
                    <a:bodyPr/>
                    <a:lstStyle/>
                    <a:p>
                      <a:r>
                        <a:rPr lang="en-US" sz="1400" dirty="0"/>
                        <a:t>0.34</a:t>
                      </a:r>
                    </a:p>
                  </a:txBody>
                  <a:tcPr/>
                </a:tc>
                <a:extLst>
                  <a:ext uri="{0D108BD9-81ED-4DB2-BD59-A6C34878D82A}">
                    <a16:rowId xmlns:a16="http://schemas.microsoft.com/office/drawing/2014/main" val="1807060873"/>
                  </a:ext>
                </a:extLst>
              </a:tr>
              <a:tr h="353834">
                <a:tc>
                  <a:txBody>
                    <a:bodyPr/>
                    <a:lstStyle/>
                    <a:p>
                      <a:r>
                        <a:rPr lang="en-US" sz="1400" b="1" dirty="0"/>
                        <a:t>GPT-4</a:t>
                      </a:r>
                    </a:p>
                  </a:txBody>
                  <a:tcPr/>
                </a:tc>
                <a:tc>
                  <a:txBody>
                    <a:bodyPr/>
                    <a:lstStyle/>
                    <a:p>
                      <a:r>
                        <a:rPr lang="en-US" sz="1400" b="1" dirty="0"/>
                        <a:t>0.48</a:t>
                      </a:r>
                    </a:p>
                  </a:txBody>
                  <a:tcPr/>
                </a:tc>
                <a:tc>
                  <a:txBody>
                    <a:bodyPr/>
                    <a:lstStyle/>
                    <a:p>
                      <a:r>
                        <a:rPr lang="en-US" sz="1400" b="1" dirty="0"/>
                        <a:t>0.40</a:t>
                      </a:r>
                    </a:p>
                  </a:txBody>
                  <a:tcPr/>
                </a:tc>
                <a:extLst>
                  <a:ext uri="{0D108BD9-81ED-4DB2-BD59-A6C34878D82A}">
                    <a16:rowId xmlns:a16="http://schemas.microsoft.com/office/drawing/2014/main" val="2427833910"/>
                  </a:ext>
                </a:extLst>
              </a:tr>
            </a:tbl>
          </a:graphicData>
        </a:graphic>
      </p:graphicFrame>
      <p:sp>
        <p:nvSpPr>
          <p:cNvPr id="6" name="TextBox 5">
            <a:extLst>
              <a:ext uri="{FF2B5EF4-FFF2-40B4-BE49-F238E27FC236}">
                <a16:creationId xmlns:a16="http://schemas.microsoft.com/office/drawing/2014/main" id="{3A11E16A-2434-3EF4-15D6-51CB7AA42206}"/>
              </a:ext>
            </a:extLst>
          </p:cNvPr>
          <p:cNvSpPr txBox="1"/>
          <p:nvPr/>
        </p:nvSpPr>
        <p:spPr>
          <a:xfrm>
            <a:off x="2672443" y="2221468"/>
            <a:ext cx="1600199" cy="369332"/>
          </a:xfrm>
          <a:prstGeom prst="rect">
            <a:avLst/>
          </a:prstGeom>
          <a:noFill/>
        </p:spPr>
        <p:txBody>
          <a:bodyPr wrap="square" rtlCol="0">
            <a:spAutoFit/>
          </a:bodyPr>
          <a:lstStyle/>
          <a:p>
            <a:r>
              <a:rPr lang="en-US" dirty="0"/>
              <a:t>GPT-4 Prompt</a:t>
            </a:r>
          </a:p>
        </p:txBody>
      </p:sp>
      <p:sp>
        <p:nvSpPr>
          <p:cNvPr id="13" name="Slide Number Placeholder 12">
            <a:extLst>
              <a:ext uri="{FF2B5EF4-FFF2-40B4-BE49-F238E27FC236}">
                <a16:creationId xmlns:a16="http://schemas.microsoft.com/office/drawing/2014/main" id="{857EA8AA-B629-2CA1-26AE-9376D47EE8EF}"/>
              </a:ext>
            </a:extLst>
          </p:cNvPr>
          <p:cNvSpPr>
            <a:spLocks noGrp="1"/>
          </p:cNvSpPr>
          <p:nvPr>
            <p:ph type="sldNum" sz="quarter" idx="12"/>
          </p:nvPr>
        </p:nvSpPr>
        <p:spPr/>
        <p:txBody>
          <a:bodyPr/>
          <a:lstStyle/>
          <a:p>
            <a:fld id="{BDA8D12A-5188-A74B-8183-7E806E12A340}" type="slidenum">
              <a:rPr lang="en-US" smtClean="0"/>
              <a:t>36</a:t>
            </a:fld>
            <a:endParaRPr lang="en-US"/>
          </a:p>
        </p:txBody>
      </p:sp>
    </p:spTree>
    <p:extLst>
      <p:ext uri="{BB962C8B-B14F-4D97-AF65-F5344CB8AC3E}">
        <p14:creationId xmlns:p14="http://schemas.microsoft.com/office/powerpoint/2010/main" val="26120108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E507E-E75F-8B53-08A4-7A0AAB263907}"/>
              </a:ext>
            </a:extLst>
          </p:cNvPr>
          <p:cNvSpPr>
            <a:spLocks noGrp="1"/>
          </p:cNvSpPr>
          <p:nvPr>
            <p:ph type="title"/>
          </p:nvPr>
        </p:nvSpPr>
        <p:spPr/>
        <p:txBody>
          <a:bodyPr>
            <a:normAutofit/>
          </a:bodyPr>
          <a:lstStyle/>
          <a:p>
            <a:r>
              <a:rPr lang="en-US" sz="3800" dirty="0"/>
              <a:t>Example of a Concept Vector from a Patient Note</a:t>
            </a:r>
          </a:p>
        </p:txBody>
      </p:sp>
      <p:grpSp>
        <p:nvGrpSpPr>
          <p:cNvPr id="12" name="Group 11">
            <a:extLst>
              <a:ext uri="{FF2B5EF4-FFF2-40B4-BE49-F238E27FC236}">
                <a16:creationId xmlns:a16="http://schemas.microsoft.com/office/drawing/2014/main" id="{862E9FCF-92F2-93B8-8798-2655E6691B50}"/>
              </a:ext>
            </a:extLst>
          </p:cNvPr>
          <p:cNvGrpSpPr/>
          <p:nvPr/>
        </p:nvGrpSpPr>
        <p:grpSpPr>
          <a:xfrm>
            <a:off x="9431013" y="2746011"/>
            <a:ext cx="2760987" cy="1514599"/>
            <a:chOff x="9431013" y="2746011"/>
            <a:chExt cx="2760987" cy="1514599"/>
          </a:xfrm>
        </p:grpSpPr>
        <p:sp>
          <p:nvSpPr>
            <p:cNvPr id="4" name="Rectangle 3">
              <a:extLst>
                <a:ext uri="{FF2B5EF4-FFF2-40B4-BE49-F238E27FC236}">
                  <a16:creationId xmlns:a16="http://schemas.microsoft.com/office/drawing/2014/main" id="{ECAECED7-907C-A390-FBC6-4EA3A567136D}"/>
                </a:ext>
              </a:extLst>
            </p:cNvPr>
            <p:cNvSpPr/>
            <p:nvPr/>
          </p:nvSpPr>
          <p:spPr>
            <a:xfrm>
              <a:off x="9431013" y="3252194"/>
              <a:ext cx="210312" cy="210312"/>
            </a:xfrm>
            <a:prstGeom prst="rect">
              <a:avLst/>
            </a:prstGeom>
            <a:solidFill>
              <a:srgbClr val="FF0000"/>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0</a:t>
              </a:r>
            </a:p>
          </p:txBody>
        </p:sp>
        <p:sp>
          <p:nvSpPr>
            <p:cNvPr id="5" name="Rectangle 4">
              <a:extLst>
                <a:ext uri="{FF2B5EF4-FFF2-40B4-BE49-F238E27FC236}">
                  <a16:creationId xmlns:a16="http://schemas.microsoft.com/office/drawing/2014/main" id="{722990A3-DA69-1D4A-1C98-480769D0D294}"/>
                </a:ext>
              </a:extLst>
            </p:cNvPr>
            <p:cNvSpPr/>
            <p:nvPr/>
          </p:nvSpPr>
          <p:spPr>
            <a:xfrm>
              <a:off x="9431013" y="3633704"/>
              <a:ext cx="210312" cy="210312"/>
            </a:xfrm>
            <a:prstGeom prst="rect">
              <a:avLst/>
            </a:prstGeom>
            <a:solidFill>
              <a:srgbClr val="00B050"/>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1</a:t>
              </a:r>
            </a:p>
          </p:txBody>
        </p:sp>
        <p:sp>
          <p:nvSpPr>
            <p:cNvPr id="6" name="Rectangle 5">
              <a:extLst>
                <a:ext uri="{FF2B5EF4-FFF2-40B4-BE49-F238E27FC236}">
                  <a16:creationId xmlns:a16="http://schemas.microsoft.com/office/drawing/2014/main" id="{D48B3942-9F91-0499-D471-E5B917539C2C}"/>
                </a:ext>
              </a:extLst>
            </p:cNvPr>
            <p:cNvSpPr/>
            <p:nvPr/>
          </p:nvSpPr>
          <p:spPr>
            <a:xfrm>
              <a:off x="9431013" y="4015214"/>
              <a:ext cx="210312" cy="210312"/>
            </a:xfrm>
            <a:prstGeom prst="rect">
              <a:avLst/>
            </a:prstGeom>
            <a:solidFill>
              <a:srgbClr val="FFC000"/>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2</a:t>
              </a:r>
            </a:p>
          </p:txBody>
        </p:sp>
        <p:sp>
          <p:nvSpPr>
            <p:cNvPr id="7" name="TextBox 6">
              <a:extLst>
                <a:ext uri="{FF2B5EF4-FFF2-40B4-BE49-F238E27FC236}">
                  <a16:creationId xmlns:a16="http://schemas.microsoft.com/office/drawing/2014/main" id="{63A10BE1-0AE2-32B8-450C-F8A9E151C707}"/>
                </a:ext>
              </a:extLst>
            </p:cNvPr>
            <p:cNvSpPr txBox="1"/>
            <p:nvPr/>
          </p:nvSpPr>
          <p:spPr>
            <a:xfrm>
              <a:off x="9641325" y="3200942"/>
              <a:ext cx="2114550" cy="307777"/>
            </a:xfrm>
            <a:prstGeom prst="rect">
              <a:avLst/>
            </a:prstGeom>
            <a:noFill/>
          </p:spPr>
          <p:txBody>
            <a:bodyPr wrap="square" rtlCol="0">
              <a:spAutoFit/>
            </a:bodyPr>
            <a:lstStyle/>
            <a:p>
              <a:r>
                <a:rPr lang="en-US" sz="1400" dirty="0"/>
                <a:t>Feature is absent</a:t>
              </a:r>
            </a:p>
          </p:txBody>
        </p:sp>
        <p:sp>
          <p:nvSpPr>
            <p:cNvPr id="8" name="TextBox 7">
              <a:extLst>
                <a:ext uri="{FF2B5EF4-FFF2-40B4-BE49-F238E27FC236}">
                  <a16:creationId xmlns:a16="http://schemas.microsoft.com/office/drawing/2014/main" id="{F09E87DF-4F25-0460-7BA0-CE82E52EEEB1}"/>
                </a:ext>
              </a:extLst>
            </p:cNvPr>
            <p:cNvSpPr txBox="1"/>
            <p:nvPr/>
          </p:nvSpPr>
          <p:spPr>
            <a:xfrm>
              <a:off x="9641325" y="3594318"/>
              <a:ext cx="2114550" cy="307777"/>
            </a:xfrm>
            <a:prstGeom prst="rect">
              <a:avLst/>
            </a:prstGeom>
            <a:noFill/>
          </p:spPr>
          <p:txBody>
            <a:bodyPr wrap="square" rtlCol="0">
              <a:spAutoFit/>
            </a:bodyPr>
            <a:lstStyle/>
            <a:p>
              <a:r>
                <a:rPr lang="en-US" sz="1400" dirty="0"/>
                <a:t>Feature is present</a:t>
              </a:r>
            </a:p>
          </p:txBody>
        </p:sp>
        <p:sp>
          <p:nvSpPr>
            <p:cNvPr id="9" name="TextBox 8">
              <a:extLst>
                <a:ext uri="{FF2B5EF4-FFF2-40B4-BE49-F238E27FC236}">
                  <a16:creationId xmlns:a16="http://schemas.microsoft.com/office/drawing/2014/main" id="{EA1C2394-F766-8E0A-08E7-4F62CE96CD20}"/>
                </a:ext>
              </a:extLst>
            </p:cNvPr>
            <p:cNvSpPr txBox="1"/>
            <p:nvPr/>
          </p:nvSpPr>
          <p:spPr>
            <a:xfrm>
              <a:off x="9641325" y="3952833"/>
              <a:ext cx="2550675" cy="307777"/>
            </a:xfrm>
            <a:prstGeom prst="rect">
              <a:avLst/>
            </a:prstGeom>
            <a:noFill/>
          </p:spPr>
          <p:txBody>
            <a:bodyPr wrap="square" rtlCol="0">
              <a:spAutoFit/>
            </a:bodyPr>
            <a:lstStyle/>
            <a:p>
              <a:r>
                <a:rPr lang="en-US" sz="1400" dirty="0"/>
                <a:t>Presence of feature is uncertain</a:t>
              </a:r>
            </a:p>
          </p:txBody>
        </p:sp>
        <p:sp>
          <p:nvSpPr>
            <p:cNvPr id="10" name="TextBox 9">
              <a:extLst>
                <a:ext uri="{FF2B5EF4-FFF2-40B4-BE49-F238E27FC236}">
                  <a16:creationId xmlns:a16="http://schemas.microsoft.com/office/drawing/2014/main" id="{3485DED5-7CEB-3BCD-F954-338BD8C42CF9}"/>
                </a:ext>
              </a:extLst>
            </p:cNvPr>
            <p:cNvSpPr txBox="1"/>
            <p:nvPr/>
          </p:nvSpPr>
          <p:spPr>
            <a:xfrm>
              <a:off x="9972817" y="2746011"/>
              <a:ext cx="1275337" cy="369332"/>
            </a:xfrm>
            <a:prstGeom prst="rect">
              <a:avLst/>
            </a:prstGeom>
            <a:noFill/>
          </p:spPr>
          <p:txBody>
            <a:bodyPr wrap="square" rtlCol="0">
              <a:spAutoFit/>
            </a:bodyPr>
            <a:lstStyle/>
            <a:p>
              <a:r>
                <a:rPr lang="en-US" b="1" dirty="0"/>
                <a:t>LEGEND</a:t>
              </a:r>
            </a:p>
          </p:txBody>
        </p:sp>
      </p:grpSp>
      <p:pic>
        <p:nvPicPr>
          <p:cNvPr id="11" name="Picture 10">
            <a:extLst>
              <a:ext uri="{FF2B5EF4-FFF2-40B4-BE49-F238E27FC236}">
                <a16:creationId xmlns:a16="http://schemas.microsoft.com/office/drawing/2014/main" id="{D808F678-428F-3DB8-3386-B9F1BE6D1652}"/>
              </a:ext>
            </a:extLst>
          </p:cNvPr>
          <p:cNvPicPr>
            <a:picLocks noChangeAspect="1"/>
          </p:cNvPicPr>
          <p:nvPr/>
        </p:nvPicPr>
        <p:blipFill>
          <a:blip r:embed="rId2"/>
          <a:stretch>
            <a:fillRect/>
          </a:stretch>
        </p:blipFill>
        <p:spPr>
          <a:xfrm>
            <a:off x="402843" y="1467741"/>
            <a:ext cx="8407327" cy="4752550"/>
          </a:xfrm>
          <a:prstGeom prst="rect">
            <a:avLst/>
          </a:prstGeom>
          <a:effectLst>
            <a:outerShdw blurRad="63500" sx="102000" sy="102000" algn="ctr" rotWithShape="0">
              <a:prstClr val="black">
                <a:alpha val="40000"/>
              </a:prstClr>
            </a:outerShdw>
          </a:effectLst>
        </p:spPr>
      </p:pic>
      <p:sp>
        <p:nvSpPr>
          <p:cNvPr id="13" name="Slide Number Placeholder 12">
            <a:extLst>
              <a:ext uri="{FF2B5EF4-FFF2-40B4-BE49-F238E27FC236}">
                <a16:creationId xmlns:a16="http://schemas.microsoft.com/office/drawing/2014/main" id="{2716E65E-BFEF-B44E-2602-2A3F73E6039A}"/>
              </a:ext>
            </a:extLst>
          </p:cNvPr>
          <p:cNvSpPr>
            <a:spLocks noGrp="1"/>
          </p:cNvSpPr>
          <p:nvPr>
            <p:ph type="sldNum" sz="quarter" idx="12"/>
          </p:nvPr>
        </p:nvSpPr>
        <p:spPr/>
        <p:txBody>
          <a:bodyPr/>
          <a:lstStyle/>
          <a:p>
            <a:fld id="{BDA8D12A-5188-A74B-8183-7E806E12A340}" type="slidenum">
              <a:rPr lang="en-US" smtClean="0"/>
              <a:t>37</a:t>
            </a:fld>
            <a:endParaRPr lang="en-US"/>
          </a:p>
        </p:txBody>
      </p:sp>
    </p:spTree>
    <p:extLst>
      <p:ext uri="{BB962C8B-B14F-4D97-AF65-F5344CB8AC3E}">
        <p14:creationId xmlns:p14="http://schemas.microsoft.com/office/powerpoint/2010/main" val="3407017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E507E-E75F-8B53-08A4-7A0AAB263907}"/>
              </a:ext>
            </a:extLst>
          </p:cNvPr>
          <p:cNvSpPr>
            <a:spLocks noGrp="1"/>
          </p:cNvSpPr>
          <p:nvPr>
            <p:ph type="title"/>
          </p:nvPr>
        </p:nvSpPr>
        <p:spPr/>
        <p:txBody>
          <a:bodyPr>
            <a:normAutofit/>
          </a:bodyPr>
          <a:lstStyle/>
          <a:p>
            <a:r>
              <a:rPr lang="en-US" sz="3800" dirty="0"/>
              <a:t>Example of a Concept Vector from a Patient Note</a:t>
            </a:r>
          </a:p>
        </p:txBody>
      </p:sp>
      <p:grpSp>
        <p:nvGrpSpPr>
          <p:cNvPr id="12" name="Group 11">
            <a:extLst>
              <a:ext uri="{FF2B5EF4-FFF2-40B4-BE49-F238E27FC236}">
                <a16:creationId xmlns:a16="http://schemas.microsoft.com/office/drawing/2014/main" id="{862E9FCF-92F2-93B8-8798-2655E6691B50}"/>
              </a:ext>
            </a:extLst>
          </p:cNvPr>
          <p:cNvGrpSpPr/>
          <p:nvPr/>
        </p:nvGrpSpPr>
        <p:grpSpPr>
          <a:xfrm>
            <a:off x="9431013" y="2746011"/>
            <a:ext cx="2760987" cy="1514599"/>
            <a:chOff x="9431013" y="2746011"/>
            <a:chExt cx="2760987" cy="1514599"/>
          </a:xfrm>
        </p:grpSpPr>
        <p:sp>
          <p:nvSpPr>
            <p:cNvPr id="4" name="Rectangle 3">
              <a:extLst>
                <a:ext uri="{FF2B5EF4-FFF2-40B4-BE49-F238E27FC236}">
                  <a16:creationId xmlns:a16="http://schemas.microsoft.com/office/drawing/2014/main" id="{ECAECED7-907C-A390-FBC6-4EA3A567136D}"/>
                </a:ext>
              </a:extLst>
            </p:cNvPr>
            <p:cNvSpPr/>
            <p:nvPr/>
          </p:nvSpPr>
          <p:spPr>
            <a:xfrm>
              <a:off x="9431013" y="3252194"/>
              <a:ext cx="210312" cy="210312"/>
            </a:xfrm>
            <a:prstGeom prst="rect">
              <a:avLst/>
            </a:prstGeom>
            <a:solidFill>
              <a:srgbClr val="FF0000"/>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0</a:t>
              </a:r>
            </a:p>
          </p:txBody>
        </p:sp>
        <p:sp>
          <p:nvSpPr>
            <p:cNvPr id="5" name="Rectangle 4">
              <a:extLst>
                <a:ext uri="{FF2B5EF4-FFF2-40B4-BE49-F238E27FC236}">
                  <a16:creationId xmlns:a16="http://schemas.microsoft.com/office/drawing/2014/main" id="{722990A3-DA69-1D4A-1C98-480769D0D294}"/>
                </a:ext>
              </a:extLst>
            </p:cNvPr>
            <p:cNvSpPr/>
            <p:nvPr/>
          </p:nvSpPr>
          <p:spPr>
            <a:xfrm>
              <a:off x="9431013" y="3633704"/>
              <a:ext cx="210312" cy="210312"/>
            </a:xfrm>
            <a:prstGeom prst="rect">
              <a:avLst/>
            </a:prstGeom>
            <a:solidFill>
              <a:srgbClr val="00B050"/>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1</a:t>
              </a:r>
            </a:p>
          </p:txBody>
        </p:sp>
        <p:sp>
          <p:nvSpPr>
            <p:cNvPr id="6" name="Rectangle 5">
              <a:extLst>
                <a:ext uri="{FF2B5EF4-FFF2-40B4-BE49-F238E27FC236}">
                  <a16:creationId xmlns:a16="http://schemas.microsoft.com/office/drawing/2014/main" id="{D48B3942-9F91-0499-D471-E5B917539C2C}"/>
                </a:ext>
              </a:extLst>
            </p:cNvPr>
            <p:cNvSpPr/>
            <p:nvPr/>
          </p:nvSpPr>
          <p:spPr>
            <a:xfrm>
              <a:off x="9431013" y="4015214"/>
              <a:ext cx="210312" cy="210312"/>
            </a:xfrm>
            <a:prstGeom prst="rect">
              <a:avLst/>
            </a:prstGeom>
            <a:solidFill>
              <a:srgbClr val="FFC000"/>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2</a:t>
              </a:r>
            </a:p>
          </p:txBody>
        </p:sp>
        <p:sp>
          <p:nvSpPr>
            <p:cNvPr id="7" name="TextBox 6">
              <a:extLst>
                <a:ext uri="{FF2B5EF4-FFF2-40B4-BE49-F238E27FC236}">
                  <a16:creationId xmlns:a16="http://schemas.microsoft.com/office/drawing/2014/main" id="{63A10BE1-0AE2-32B8-450C-F8A9E151C707}"/>
                </a:ext>
              </a:extLst>
            </p:cNvPr>
            <p:cNvSpPr txBox="1"/>
            <p:nvPr/>
          </p:nvSpPr>
          <p:spPr>
            <a:xfrm>
              <a:off x="9641325" y="3200942"/>
              <a:ext cx="2114550" cy="307777"/>
            </a:xfrm>
            <a:prstGeom prst="rect">
              <a:avLst/>
            </a:prstGeom>
            <a:noFill/>
          </p:spPr>
          <p:txBody>
            <a:bodyPr wrap="square" rtlCol="0">
              <a:spAutoFit/>
            </a:bodyPr>
            <a:lstStyle/>
            <a:p>
              <a:r>
                <a:rPr lang="en-US" sz="1400" dirty="0"/>
                <a:t>Feature is absent</a:t>
              </a:r>
            </a:p>
          </p:txBody>
        </p:sp>
        <p:sp>
          <p:nvSpPr>
            <p:cNvPr id="8" name="TextBox 7">
              <a:extLst>
                <a:ext uri="{FF2B5EF4-FFF2-40B4-BE49-F238E27FC236}">
                  <a16:creationId xmlns:a16="http://schemas.microsoft.com/office/drawing/2014/main" id="{F09E87DF-4F25-0460-7BA0-CE82E52EEEB1}"/>
                </a:ext>
              </a:extLst>
            </p:cNvPr>
            <p:cNvSpPr txBox="1"/>
            <p:nvPr/>
          </p:nvSpPr>
          <p:spPr>
            <a:xfrm>
              <a:off x="9641325" y="3594318"/>
              <a:ext cx="2114550" cy="307777"/>
            </a:xfrm>
            <a:prstGeom prst="rect">
              <a:avLst/>
            </a:prstGeom>
            <a:noFill/>
          </p:spPr>
          <p:txBody>
            <a:bodyPr wrap="square" rtlCol="0">
              <a:spAutoFit/>
            </a:bodyPr>
            <a:lstStyle/>
            <a:p>
              <a:r>
                <a:rPr lang="en-US" sz="1400" dirty="0"/>
                <a:t>Feature is present</a:t>
              </a:r>
            </a:p>
          </p:txBody>
        </p:sp>
        <p:sp>
          <p:nvSpPr>
            <p:cNvPr id="9" name="TextBox 8">
              <a:extLst>
                <a:ext uri="{FF2B5EF4-FFF2-40B4-BE49-F238E27FC236}">
                  <a16:creationId xmlns:a16="http://schemas.microsoft.com/office/drawing/2014/main" id="{EA1C2394-F766-8E0A-08E7-4F62CE96CD20}"/>
                </a:ext>
              </a:extLst>
            </p:cNvPr>
            <p:cNvSpPr txBox="1"/>
            <p:nvPr/>
          </p:nvSpPr>
          <p:spPr>
            <a:xfrm>
              <a:off x="9641325" y="3952833"/>
              <a:ext cx="2550675" cy="307777"/>
            </a:xfrm>
            <a:prstGeom prst="rect">
              <a:avLst/>
            </a:prstGeom>
            <a:noFill/>
          </p:spPr>
          <p:txBody>
            <a:bodyPr wrap="square" rtlCol="0">
              <a:spAutoFit/>
            </a:bodyPr>
            <a:lstStyle/>
            <a:p>
              <a:r>
                <a:rPr lang="en-US" sz="1400" dirty="0"/>
                <a:t>Presence of feature is uncertain</a:t>
              </a:r>
            </a:p>
          </p:txBody>
        </p:sp>
        <p:sp>
          <p:nvSpPr>
            <p:cNvPr id="10" name="TextBox 9">
              <a:extLst>
                <a:ext uri="{FF2B5EF4-FFF2-40B4-BE49-F238E27FC236}">
                  <a16:creationId xmlns:a16="http://schemas.microsoft.com/office/drawing/2014/main" id="{3485DED5-7CEB-3BCD-F954-338BD8C42CF9}"/>
                </a:ext>
              </a:extLst>
            </p:cNvPr>
            <p:cNvSpPr txBox="1"/>
            <p:nvPr/>
          </p:nvSpPr>
          <p:spPr>
            <a:xfrm>
              <a:off x="9972817" y="2746011"/>
              <a:ext cx="1275337" cy="369332"/>
            </a:xfrm>
            <a:prstGeom prst="rect">
              <a:avLst/>
            </a:prstGeom>
            <a:noFill/>
          </p:spPr>
          <p:txBody>
            <a:bodyPr wrap="square" rtlCol="0">
              <a:spAutoFit/>
            </a:bodyPr>
            <a:lstStyle/>
            <a:p>
              <a:r>
                <a:rPr lang="en-US" b="1" dirty="0"/>
                <a:t>LEGEND</a:t>
              </a:r>
            </a:p>
          </p:txBody>
        </p:sp>
      </p:grpSp>
      <p:pic>
        <p:nvPicPr>
          <p:cNvPr id="11" name="Picture 10">
            <a:extLst>
              <a:ext uri="{FF2B5EF4-FFF2-40B4-BE49-F238E27FC236}">
                <a16:creationId xmlns:a16="http://schemas.microsoft.com/office/drawing/2014/main" id="{D808F678-428F-3DB8-3386-B9F1BE6D1652}"/>
              </a:ext>
            </a:extLst>
          </p:cNvPr>
          <p:cNvPicPr>
            <a:picLocks noChangeAspect="1"/>
          </p:cNvPicPr>
          <p:nvPr/>
        </p:nvPicPr>
        <p:blipFill>
          <a:blip r:embed="rId2"/>
          <a:stretch>
            <a:fillRect/>
          </a:stretch>
        </p:blipFill>
        <p:spPr>
          <a:xfrm>
            <a:off x="402843" y="1467741"/>
            <a:ext cx="8407327" cy="4752550"/>
          </a:xfrm>
          <a:prstGeom prst="rect">
            <a:avLst/>
          </a:prstGeom>
          <a:effectLst>
            <a:outerShdw blurRad="63500" sx="102000" sy="102000" algn="ctr" rotWithShape="0">
              <a:prstClr val="black">
                <a:alpha val="40000"/>
              </a:prstClr>
            </a:outerShdw>
          </a:effectLst>
        </p:spPr>
      </p:pic>
      <p:sp>
        <p:nvSpPr>
          <p:cNvPr id="3" name="Rounded Rectangle 2">
            <a:extLst>
              <a:ext uri="{FF2B5EF4-FFF2-40B4-BE49-F238E27FC236}">
                <a16:creationId xmlns:a16="http://schemas.microsoft.com/office/drawing/2014/main" id="{0891FD13-7E27-B815-9D98-E45618921482}"/>
              </a:ext>
            </a:extLst>
          </p:cNvPr>
          <p:cNvSpPr/>
          <p:nvPr/>
        </p:nvSpPr>
        <p:spPr>
          <a:xfrm>
            <a:off x="8280400" y="5311563"/>
            <a:ext cx="3200400" cy="622300"/>
          </a:xfrm>
          <a:prstGeom prst="roundRect">
            <a:avLst/>
          </a:prstGeom>
          <a:solidFill>
            <a:srgbClr val="E6CA8A"/>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How do we obtain this set of concept features?</a:t>
            </a:r>
          </a:p>
        </p:txBody>
      </p:sp>
      <p:sp>
        <p:nvSpPr>
          <p:cNvPr id="13" name="Slide Number Placeholder 12">
            <a:extLst>
              <a:ext uri="{FF2B5EF4-FFF2-40B4-BE49-F238E27FC236}">
                <a16:creationId xmlns:a16="http://schemas.microsoft.com/office/drawing/2014/main" id="{7EE9C39B-CF04-7A05-9D17-44DAD093E29B}"/>
              </a:ext>
            </a:extLst>
          </p:cNvPr>
          <p:cNvSpPr>
            <a:spLocks noGrp="1"/>
          </p:cNvSpPr>
          <p:nvPr>
            <p:ph type="sldNum" sz="quarter" idx="12"/>
          </p:nvPr>
        </p:nvSpPr>
        <p:spPr/>
        <p:txBody>
          <a:bodyPr/>
          <a:lstStyle/>
          <a:p>
            <a:fld id="{BDA8D12A-5188-A74B-8183-7E806E12A340}" type="slidenum">
              <a:rPr lang="en-US" smtClean="0"/>
              <a:t>38</a:t>
            </a:fld>
            <a:endParaRPr lang="en-US"/>
          </a:p>
        </p:txBody>
      </p:sp>
    </p:spTree>
    <p:extLst>
      <p:ext uri="{BB962C8B-B14F-4D97-AF65-F5344CB8AC3E}">
        <p14:creationId xmlns:p14="http://schemas.microsoft.com/office/powerpoint/2010/main" val="15130426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60475-3F84-87E4-A244-EB3BEB04F6B9}"/>
              </a:ext>
            </a:extLst>
          </p:cNvPr>
          <p:cNvSpPr>
            <a:spLocks noGrp="1"/>
          </p:cNvSpPr>
          <p:nvPr>
            <p:ph type="title"/>
          </p:nvPr>
        </p:nvSpPr>
        <p:spPr/>
        <p:txBody>
          <a:bodyPr>
            <a:normAutofit/>
          </a:bodyPr>
          <a:lstStyle/>
          <a:p>
            <a:r>
              <a:rPr lang="en-US" sz="3800" dirty="0"/>
              <a:t>Obtaining Concepts related to Dementia</a:t>
            </a:r>
          </a:p>
        </p:txBody>
      </p:sp>
      <p:sp>
        <p:nvSpPr>
          <p:cNvPr id="3" name="Content Placeholder 2">
            <a:extLst>
              <a:ext uri="{FF2B5EF4-FFF2-40B4-BE49-F238E27FC236}">
                <a16:creationId xmlns:a16="http://schemas.microsoft.com/office/drawing/2014/main" id="{FB8A2004-828B-4E79-7D51-E85080D648F8}"/>
              </a:ext>
            </a:extLst>
          </p:cNvPr>
          <p:cNvSpPr>
            <a:spLocks noGrp="1"/>
          </p:cNvSpPr>
          <p:nvPr>
            <p:ph idx="1"/>
          </p:nvPr>
        </p:nvSpPr>
        <p:spPr/>
        <p:txBody>
          <a:bodyPr>
            <a:normAutofit/>
          </a:bodyPr>
          <a:lstStyle/>
          <a:p>
            <a:r>
              <a:rPr lang="en-US" dirty="0"/>
              <a:t>We use the Oxford Textbook of Medicine – 4</a:t>
            </a:r>
            <a:r>
              <a:rPr lang="en-US" baseline="30000" dirty="0"/>
              <a:t>th</a:t>
            </a:r>
            <a:r>
              <a:rPr lang="en-US" dirty="0"/>
              <a:t> Edition and GPT-4</a:t>
            </a:r>
          </a:p>
          <a:p>
            <a:pPr lvl="1"/>
            <a:r>
              <a:rPr lang="en-US" dirty="0"/>
              <a:t>The chapter on Dementia is first identified</a:t>
            </a:r>
          </a:p>
          <a:p>
            <a:pPr lvl="1"/>
            <a:r>
              <a:rPr lang="en-US" dirty="0"/>
              <a:t>GPT-4 is instructed to extract clinical features of dementia </a:t>
            </a:r>
          </a:p>
          <a:p>
            <a:pPr lvl="2"/>
            <a:r>
              <a:rPr lang="en-US" dirty="0"/>
              <a:t>Alzheimer’s Dementia</a:t>
            </a:r>
          </a:p>
          <a:p>
            <a:pPr lvl="2"/>
            <a:r>
              <a:rPr lang="en-US" dirty="0"/>
              <a:t>Vascular Dementia</a:t>
            </a:r>
          </a:p>
          <a:p>
            <a:pPr lvl="2"/>
            <a:r>
              <a:rPr lang="en-US" dirty="0"/>
              <a:t>Lewy Body Dementia</a:t>
            </a:r>
          </a:p>
          <a:p>
            <a:pPr lvl="2"/>
            <a:r>
              <a:rPr lang="en-US" dirty="0"/>
              <a:t>Frontotemporal Dementia</a:t>
            </a:r>
          </a:p>
          <a:p>
            <a:pPr lvl="2"/>
            <a:r>
              <a:rPr lang="en-US" dirty="0"/>
              <a:t>Alcohol related Dementia</a:t>
            </a:r>
          </a:p>
          <a:p>
            <a:pPr lvl="2"/>
            <a:r>
              <a:rPr lang="en-US" dirty="0"/>
              <a:t>Pseudodementia</a:t>
            </a:r>
          </a:p>
          <a:p>
            <a:pPr lvl="2"/>
            <a:r>
              <a:rPr lang="en-US" dirty="0"/>
              <a:t>Subcortical Dementia</a:t>
            </a:r>
          </a:p>
          <a:p>
            <a:endParaRPr lang="en-US" dirty="0"/>
          </a:p>
        </p:txBody>
      </p:sp>
      <p:sp>
        <p:nvSpPr>
          <p:cNvPr id="4" name="Rounded Rectangle 3">
            <a:extLst>
              <a:ext uri="{FF2B5EF4-FFF2-40B4-BE49-F238E27FC236}">
                <a16:creationId xmlns:a16="http://schemas.microsoft.com/office/drawing/2014/main" id="{142782D4-BC43-90DF-A84D-33354C65FA7B}"/>
              </a:ext>
            </a:extLst>
          </p:cNvPr>
          <p:cNvSpPr/>
          <p:nvPr/>
        </p:nvSpPr>
        <p:spPr>
          <a:xfrm>
            <a:off x="5201587" y="3533931"/>
            <a:ext cx="6730584" cy="2218543"/>
          </a:xfrm>
          <a:prstGeom prst="roundRect">
            <a:avLst/>
          </a:prstGeom>
          <a:solidFill>
            <a:schemeClr val="accent2"/>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GPT-4 Prompt:</a:t>
            </a:r>
          </a:p>
          <a:p>
            <a:r>
              <a:rPr lang="en-US" dirty="0"/>
              <a:t> </a:t>
            </a:r>
          </a:p>
          <a:p>
            <a:r>
              <a:rPr lang="en-US" dirty="0"/>
              <a:t>Rewrite the following description about </a:t>
            </a:r>
            <a:r>
              <a:rPr lang="en-US" b="1" dirty="0"/>
              <a:t>{condition}</a:t>
            </a:r>
            <a:r>
              <a:rPr lang="en-US" dirty="0"/>
              <a:t> as multiple bullet points in the format “The patient exhibits _____”. Be as exhaustive as you can.</a:t>
            </a:r>
          </a:p>
          <a:p>
            <a:r>
              <a:rPr lang="en-US" b="1" dirty="0"/>
              <a:t>{textbook description of clinical features}</a:t>
            </a:r>
          </a:p>
        </p:txBody>
      </p:sp>
      <p:sp>
        <p:nvSpPr>
          <p:cNvPr id="11" name="Slide Number Placeholder 10">
            <a:extLst>
              <a:ext uri="{FF2B5EF4-FFF2-40B4-BE49-F238E27FC236}">
                <a16:creationId xmlns:a16="http://schemas.microsoft.com/office/drawing/2014/main" id="{52D800EB-EB35-8C83-4E56-72535E196C7D}"/>
              </a:ext>
            </a:extLst>
          </p:cNvPr>
          <p:cNvSpPr>
            <a:spLocks noGrp="1"/>
          </p:cNvSpPr>
          <p:nvPr>
            <p:ph type="sldNum" sz="quarter" idx="12"/>
          </p:nvPr>
        </p:nvSpPr>
        <p:spPr/>
        <p:txBody>
          <a:bodyPr/>
          <a:lstStyle/>
          <a:p>
            <a:fld id="{BDA8D12A-5188-A74B-8183-7E806E12A340}" type="slidenum">
              <a:rPr lang="en-US" smtClean="0"/>
              <a:t>39</a:t>
            </a:fld>
            <a:endParaRPr lang="en-US"/>
          </a:p>
        </p:txBody>
      </p:sp>
    </p:spTree>
    <p:extLst>
      <p:ext uri="{BB962C8B-B14F-4D97-AF65-F5344CB8AC3E}">
        <p14:creationId xmlns:p14="http://schemas.microsoft.com/office/powerpoint/2010/main" val="42274642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75422-08C4-E7EE-9048-6270C69F6AF8}"/>
              </a:ext>
            </a:extLst>
          </p:cNvPr>
          <p:cNvSpPr>
            <a:spLocks noGrp="1"/>
          </p:cNvSpPr>
          <p:nvPr>
            <p:ph type="title"/>
          </p:nvPr>
        </p:nvSpPr>
        <p:spPr/>
        <p:txBody>
          <a:bodyPr>
            <a:normAutofit/>
          </a:bodyPr>
          <a:lstStyle/>
          <a:p>
            <a:r>
              <a:rPr lang="en-US" sz="3800" dirty="0"/>
              <a:t>Obtaining Concepts related to Dementia</a:t>
            </a:r>
          </a:p>
        </p:txBody>
      </p:sp>
      <p:pic>
        <p:nvPicPr>
          <p:cNvPr id="4" name="Picture 3">
            <a:extLst>
              <a:ext uri="{FF2B5EF4-FFF2-40B4-BE49-F238E27FC236}">
                <a16:creationId xmlns:a16="http://schemas.microsoft.com/office/drawing/2014/main" id="{24B2E65E-6AAC-209E-D85C-924923B7554B}"/>
              </a:ext>
            </a:extLst>
          </p:cNvPr>
          <p:cNvPicPr>
            <a:picLocks noChangeAspect="1"/>
          </p:cNvPicPr>
          <p:nvPr/>
        </p:nvPicPr>
        <p:blipFill>
          <a:blip r:embed="rId2"/>
          <a:stretch>
            <a:fillRect/>
          </a:stretch>
        </p:blipFill>
        <p:spPr>
          <a:xfrm>
            <a:off x="838200" y="1899460"/>
            <a:ext cx="2806700" cy="342900"/>
          </a:xfrm>
          <a:prstGeom prst="rect">
            <a:avLst/>
          </a:prstGeom>
        </p:spPr>
      </p:pic>
      <p:pic>
        <p:nvPicPr>
          <p:cNvPr id="5" name="Picture 4">
            <a:extLst>
              <a:ext uri="{FF2B5EF4-FFF2-40B4-BE49-F238E27FC236}">
                <a16:creationId xmlns:a16="http://schemas.microsoft.com/office/drawing/2014/main" id="{CF9EB758-D55A-271F-B3A8-BF1DB8DCBDCF}"/>
              </a:ext>
            </a:extLst>
          </p:cNvPr>
          <p:cNvPicPr>
            <a:picLocks noChangeAspect="1"/>
          </p:cNvPicPr>
          <p:nvPr/>
        </p:nvPicPr>
        <p:blipFill>
          <a:blip r:embed="rId3"/>
          <a:stretch>
            <a:fillRect/>
          </a:stretch>
        </p:blipFill>
        <p:spPr>
          <a:xfrm>
            <a:off x="838200" y="2297345"/>
            <a:ext cx="11333150" cy="2123611"/>
          </a:xfrm>
          <a:prstGeom prst="rect">
            <a:avLst/>
          </a:prstGeom>
        </p:spPr>
      </p:pic>
      <p:sp>
        <p:nvSpPr>
          <p:cNvPr id="6" name="TextBox 5">
            <a:extLst>
              <a:ext uri="{FF2B5EF4-FFF2-40B4-BE49-F238E27FC236}">
                <a16:creationId xmlns:a16="http://schemas.microsoft.com/office/drawing/2014/main" id="{7762AE02-1219-13F6-1810-73489FF1B7B6}"/>
              </a:ext>
            </a:extLst>
          </p:cNvPr>
          <p:cNvSpPr txBox="1"/>
          <p:nvPr/>
        </p:nvSpPr>
        <p:spPr>
          <a:xfrm>
            <a:off x="6096000" y="5880571"/>
            <a:ext cx="8013469" cy="307777"/>
          </a:xfrm>
          <a:prstGeom prst="rect">
            <a:avLst/>
          </a:prstGeom>
          <a:noFill/>
        </p:spPr>
        <p:txBody>
          <a:bodyPr wrap="square" rtlCol="0">
            <a:spAutoFit/>
          </a:bodyPr>
          <a:lstStyle/>
          <a:p>
            <a:r>
              <a:rPr lang="en-US" sz="1400" b="1" dirty="0"/>
              <a:t>*Oxford Textbook of Medicine – Fourth Edition</a:t>
            </a:r>
          </a:p>
        </p:txBody>
      </p:sp>
      <p:cxnSp>
        <p:nvCxnSpPr>
          <p:cNvPr id="15" name="Straight Connector 14">
            <a:extLst>
              <a:ext uri="{FF2B5EF4-FFF2-40B4-BE49-F238E27FC236}">
                <a16:creationId xmlns:a16="http://schemas.microsoft.com/office/drawing/2014/main" id="{BEC919CB-629B-AF80-E0BD-572130B13A36}"/>
              </a:ext>
            </a:extLst>
          </p:cNvPr>
          <p:cNvCxnSpPr>
            <a:cxnSpLocks/>
          </p:cNvCxnSpPr>
          <p:nvPr/>
        </p:nvCxnSpPr>
        <p:spPr>
          <a:xfrm>
            <a:off x="892098" y="4335365"/>
            <a:ext cx="66847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A1D6050-A911-313B-2531-1E37FB871467}"/>
              </a:ext>
            </a:extLst>
          </p:cNvPr>
          <p:cNvCxnSpPr>
            <a:cxnSpLocks/>
          </p:cNvCxnSpPr>
          <p:nvPr/>
        </p:nvCxnSpPr>
        <p:spPr>
          <a:xfrm>
            <a:off x="4315968" y="4158581"/>
            <a:ext cx="7257196"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EF8043C2-4598-578F-74F1-B6E9FAB2E182}"/>
              </a:ext>
            </a:extLst>
          </p:cNvPr>
          <p:cNvSpPr/>
          <p:nvPr/>
        </p:nvSpPr>
        <p:spPr>
          <a:xfrm>
            <a:off x="838200" y="4475941"/>
            <a:ext cx="10734964" cy="1802939"/>
          </a:xfrm>
          <a:prstGeom prst="roundRect">
            <a:avLst/>
          </a:prstGeom>
          <a:solidFill>
            <a:schemeClr val="bg2">
              <a:lumMod val="50000"/>
            </a:schemeClr>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100" dirty="0">
                <a:effectLst/>
              </a:rPr>
              <a:t>The patient exhibits marked spontaneous fluctuations in cognitive abilities, particularly alertness and attention, producing a delirious state lasting days or even weeks.</a:t>
            </a:r>
          </a:p>
          <a:p>
            <a:pPr marL="285750" indent="-285750">
              <a:buFont typeface="Arial" panose="020B0604020202020204" pitchFamily="34" charset="0"/>
              <a:buChar char="•"/>
            </a:pPr>
            <a:r>
              <a:rPr lang="en-US" sz="1100" dirty="0">
                <a:effectLst/>
              </a:rPr>
              <a:t>The patient exhibits visual hallucinations, illusions, and fleeting misidentification phenomena.</a:t>
            </a:r>
          </a:p>
          <a:p>
            <a:pPr marL="285750" indent="-285750">
              <a:buFont typeface="Arial" panose="020B0604020202020204" pitchFamily="34" charset="0"/>
              <a:buChar char="•"/>
            </a:pPr>
            <a:r>
              <a:rPr lang="en-US" sz="1100" dirty="0">
                <a:effectLst/>
              </a:rPr>
              <a:t>The patient exhibits spontaneous parkinsonism, with rigidity, gait disturbance, and bradykinesia.</a:t>
            </a:r>
          </a:p>
          <a:p>
            <a:pPr marL="285750" indent="-285750">
              <a:buFont typeface="Arial" panose="020B0604020202020204" pitchFamily="34" charset="0"/>
              <a:buChar char="•"/>
            </a:pPr>
            <a:r>
              <a:rPr lang="en-US" sz="1100" dirty="0">
                <a:effectLst/>
              </a:rPr>
              <a:t>The patient exhibits exquisite sensitivity to neuroleptic medication, producing the malignant neuroleptic syndrome.</a:t>
            </a:r>
          </a:p>
        </p:txBody>
      </p:sp>
      <p:sp>
        <p:nvSpPr>
          <p:cNvPr id="12" name="TextBox 11">
            <a:extLst>
              <a:ext uri="{FF2B5EF4-FFF2-40B4-BE49-F238E27FC236}">
                <a16:creationId xmlns:a16="http://schemas.microsoft.com/office/drawing/2014/main" id="{1C7852E0-9E0F-009F-C72C-EEF82B409D9D}"/>
              </a:ext>
            </a:extLst>
          </p:cNvPr>
          <p:cNvSpPr txBox="1"/>
          <p:nvPr/>
        </p:nvSpPr>
        <p:spPr>
          <a:xfrm>
            <a:off x="5496563" y="5954814"/>
            <a:ext cx="2016423" cy="369332"/>
          </a:xfrm>
          <a:prstGeom prst="rect">
            <a:avLst/>
          </a:prstGeom>
          <a:noFill/>
        </p:spPr>
        <p:txBody>
          <a:bodyPr wrap="square" rtlCol="0">
            <a:spAutoFit/>
          </a:bodyPr>
          <a:lstStyle/>
          <a:p>
            <a:r>
              <a:rPr lang="en-US" b="1" dirty="0">
                <a:solidFill>
                  <a:schemeClr val="bg1"/>
                </a:solidFill>
              </a:rPr>
              <a:t>GPT-4 Output</a:t>
            </a:r>
          </a:p>
        </p:txBody>
      </p:sp>
      <p:cxnSp>
        <p:nvCxnSpPr>
          <p:cNvPr id="10" name="Straight Connector 9">
            <a:extLst>
              <a:ext uri="{FF2B5EF4-FFF2-40B4-BE49-F238E27FC236}">
                <a16:creationId xmlns:a16="http://schemas.microsoft.com/office/drawing/2014/main" id="{D138B99B-532D-C6EA-31CE-7017AD6B30A7}"/>
              </a:ext>
            </a:extLst>
          </p:cNvPr>
          <p:cNvCxnSpPr>
            <a:cxnSpLocks/>
          </p:cNvCxnSpPr>
          <p:nvPr/>
        </p:nvCxnSpPr>
        <p:spPr>
          <a:xfrm>
            <a:off x="5507736" y="3640421"/>
            <a:ext cx="6428232"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5C5CF2A-A4B6-A08C-7293-73E67F05E7D1}"/>
              </a:ext>
            </a:extLst>
          </p:cNvPr>
          <p:cNvCxnSpPr>
            <a:cxnSpLocks/>
          </p:cNvCxnSpPr>
          <p:nvPr/>
        </p:nvCxnSpPr>
        <p:spPr>
          <a:xfrm>
            <a:off x="838200" y="3817205"/>
            <a:ext cx="4075176"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324B63F-BD26-5974-8EC3-58A16887616B}"/>
              </a:ext>
            </a:extLst>
          </p:cNvPr>
          <p:cNvCxnSpPr>
            <a:cxnSpLocks/>
          </p:cNvCxnSpPr>
          <p:nvPr/>
        </p:nvCxnSpPr>
        <p:spPr>
          <a:xfrm>
            <a:off x="3776472" y="3274661"/>
            <a:ext cx="5513832"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CD9F7F1-5CF9-C801-51DE-BB3B0384E475}"/>
              </a:ext>
            </a:extLst>
          </p:cNvPr>
          <p:cNvCxnSpPr>
            <a:cxnSpLocks/>
          </p:cNvCxnSpPr>
          <p:nvPr/>
        </p:nvCxnSpPr>
        <p:spPr>
          <a:xfrm>
            <a:off x="5253644" y="3075709"/>
            <a:ext cx="631952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1E10D60-DE39-5640-75D2-B8475752187D}"/>
              </a:ext>
            </a:extLst>
          </p:cNvPr>
          <p:cNvCxnSpPr>
            <a:cxnSpLocks/>
          </p:cNvCxnSpPr>
          <p:nvPr/>
        </p:nvCxnSpPr>
        <p:spPr>
          <a:xfrm>
            <a:off x="838200" y="3276877"/>
            <a:ext cx="292912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pic>
        <p:nvPicPr>
          <p:cNvPr id="17" name="Picture 2" descr="Oxford Textbook of Medicine (Three Volume Set): 9780192629227: Medicine &amp;  Health Science Books @ Amazon.com">
            <a:extLst>
              <a:ext uri="{FF2B5EF4-FFF2-40B4-BE49-F238E27FC236}">
                <a16:creationId xmlns:a16="http://schemas.microsoft.com/office/drawing/2014/main" id="{07BF34BC-8A75-5483-5FC2-1916C9866A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66164" y="288868"/>
            <a:ext cx="1591800" cy="2072506"/>
          </a:xfrm>
          <a:prstGeom prst="rect">
            <a:avLst/>
          </a:prstGeom>
          <a:noFill/>
          <a:extLst>
            <a:ext uri="{909E8E84-426E-40DD-AFC4-6F175D3DCCD1}">
              <a14:hiddenFill xmlns:a14="http://schemas.microsoft.com/office/drawing/2010/main">
                <a:solidFill>
                  <a:srgbClr val="FFFFFF"/>
                </a:solidFill>
              </a14:hiddenFill>
            </a:ext>
          </a:extLst>
        </p:spPr>
      </p:pic>
      <p:sp>
        <p:nvSpPr>
          <p:cNvPr id="22" name="Slide Number Placeholder 21">
            <a:extLst>
              <a:ext uri="{FF2B5EF4-FFF2-40B4-BE49-F238E27FC236}">
                <a16:creationId xmlns:a16="http://schemas.microsoft.com/office/drawing/2014/main" id="{BC9AE770-FBF3-BBD7-9EA7-29D97659E091}"/>
              </a:ext>
            </a:extLst>
          </p:cNvPr>
          <p:cNvSpPr>
            <a:spLocks noGrp="1"/>
          </p:cNvSpPr>
          <p:nvPr>
            <p:ph type="sldNum" sz="quarter" idx="12"/>
          </p:nvPr>
        </p:nvSpPr>
        <p:spPr/>
        <p:txBody>
          <a:bodyPr/>
          <a:lstStyle/>
          <a:p>
            <a:fld id="{BDA8D12A-5188-A74B-8183-7E806E12A340}" type="slidenum">
              <a:rPr lang="en-US" smtClean="0"/>
              <a:t>40</a:t>
            </a:fld>
            <a:endParaRPr lang="en-US"/>
          </a:p>
        </p:txBody>
      </p:sp>
    </p:spTree>
    <p:extLst>
      <p:ext uri="{BB962C8B-B14F-4D97-AF65-F5344CB8AC3E}">
        <p14:creationId xmlns:p14="http://schemas.microsoft.com/office/powerpoint/2010/main" val="12400831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75422-08C4-E7EE-9048-6270C69F6AF8}"/>
              </a:ext>
            </a:extLst>
          </p:cNvPr>
          <p:cNvSpPr>
            <a:spLocks noGrp="1"/>
          </p:cNvSpPr>
          <p:nvPr>
            <p:ph type="title"/>
          </p:nvPr>
        </p:nvSpPr>
        <p:spPr/>
        <p:txBody>
          <a:bodyPr>
            <a:normAutofit/>
          </a:bodyPr>
          <a:lstStyle/>
          <a:p>
            <a:r>
              <a:rPr lang="en-US" sz="3800" dirty="0"/>
              <a:t>Obtaining Concepts related to Dementia</a:t>
            </a:r>
          </a:p>
        </p:txBody>
      </p:sp>
      <p:pic>
        <p:nvPicPr>
          <p:cNvPr id="4" name="Picture 3">
            <a:extLst>
              <a:ext uri="{FF2B5EF4-FFF2-40B4-BE49-F238E27FC236}">
                <a16:creationId xmlns:a16="http://schemas.microsoft.com/office/drawing/2014/main" id="{24B2E65E-6AAC-209E-D85C-924923B7554B}"/>
              </a:ext>
            </a:extLst>
          </p:cNvPr>
          <p:cNvPicPr>
            <a:picLocks noChangeAspect="1"/>
          </p:cNvPicPr>
          <p:nvPr/>
        </p:nvPicPr>
        <p:blipFill>
          <a:blip r:embed="rId2"/>
          <a:stretch>
            <a:fillRect/>
          </a:stretch>
        </p:blipFill>
        <p:spPr>
          <a:xfrm>
            <a:off x="838200" y="1899460"/>
            <a:ext cx="2806700" cy="342900"/>
          </a:xfrm>
          <a:prstGeom prst="rect">
            <a:avLst/>
          </a:prstGeom>
        </p:spPr>
      </p:pic>
      <p:pic>
        <p:nvPicPr>
          <p:cNvPr id="5" name="Picture 4">
            <a:extLst>
              <a:ext uri="{FF2B5EF4-FFF2-40B4-BE49-F238E27FC236}">
                <a16:creationId xmlns:a16="http://schemas.microsoft.com/office/drawing/2014/main" id="{CF9EB758-D55A-271F-B3A8-BF1DB8DCBDCF}"/>
              </a:ext>
            </a:extLst>
          </p:cNvPr>
          <p:cNvPicPr>
            <a:picLocks noChangeAspect="1"/>
          </p:cNvPicPr>
          <p:nvPr/>
        </p:nvPicPr>
        <p:blipFill>
          <a:blip r:embed="rId3"/>
          <a:stretch>
            <a:fillRect/>
          </a:stretch>
        </p:blipFill>
        <p:spPr>
          <a:xfrm>
            <a:off x="838200" y="2297345"/>
            <a:ext cx="11333150" cy="2123611"/>
          </a:xfrm>
          <a:prstGeom prst="rect">
            <a:avLst/>
          </a:prstGeom>
        </p:spPr>
      </p:pic>
      <p:pic>
        <p:nvPicPr>
          <p:cNvPr id="1026" name="Picture 2" descr="Oxford Textbook of Medicine (Three Volume Set): 9780192629227: Medicine &amp;  Health Science Books @ Amazon.com">
            <a:extLst>
              <a:ext uri="{FF2B5EF4-FFF2-40B4-BE49-F238E27FC236}">
                <a16:creationId xmlns:a16="http://schemas.microsoft.com/office/drawing/2014/main" id="{195F824B-D82B-00F9-3E19-0BB9B613F4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62000" y="4785494"/>
            <a:ext cx="1591800" cy="207250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762AE02-1219-13F6-1810-73489FF1B7B6}"/>
              </a:ext>
            </a:extLst>
          </p:cNvPr>
          <p:cNvSpPr txBox="1"/>
          <p:nvPr/>
        </p:nvSpPr>
        <p:spPr>
          <a:xfrm>
            <a:off x="6096000" y="5880571"/>
            <a:ext cx="8013469" cy="307777"/>
          </a:xfrm>
          <a:prstGeom prst="rect">
            <a:avLst/>
          </a:prstGeom>
          <a:noFill/>
        </p:spPr>
        <p:txBody>
          <a:bodyPr wrap="square" rtlCol="0">
            <a:spAutoFit/>
          </a:bodyPr>
          <a:lstStyle/>
          <a:p>
            <a:r>
              <a:rPr lang="en-US" sz="1400" b="1" dirty="0"/>
              <a:t>*Oxford Textbook of Medicine – Fourth Edition</a:t>
            </a:r>
          </a:p>
        </p:txBody>
      </p:sp>
      <p:cxnSp>
        <p:nvCxnSpPr>
          <p:cNvPr id="15" name="Straight Connector 14">
            <a:extLst>
              <a:ext uri="{FF2B5EF4-FFF2-40B4-BE49-F238E27FC236}">
                <a16:creationId xmlns:a16="http://schemas.microsoft.com/office/drawing/2014/main" id="{BEC919CB-629B-AF80-E0BD-572130B13A36}"/>
              </a:ext>
            </a:extLst>
          </p:cNvPr>
          <p:cNvCxnSpPr>
            <a:cxnSpLocks/>
          </p:cNvCxnSpPr>
          <p:nvPr/>
        </p:nvCxnSpPr>
        <p:spPr>
          <a:xfrm>
            <a:off x="892098" y="4335365"/>
            <a:ext cx="66847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A1D6050-A911-313B-2531-1E37FB871467}"/>
              </a:ext>
            </a:extLst>
          </p:cNvPr>
          <p:cNvCxnSpPr>
            <a:cxnSpLocks/>
          </p:cNvCxnSpPr>
          <p:nvPr/>
        </p:nvCxnSpPr>
        <p:spPr>
          <a:xfrm>
            <a:off x="4315968" y="4158581"/>
            <a:ext cx="7257196"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EF8043C2-4598-578F-74F1-B6E9FAB2E182}"/>
              </a:ext>
            </a:extLst>
          </p:cNvPr>
          <p:cNvSpPr/>
          <p:nvPr/>
        </p:nvSpPr>
        <p:spPr>
          <a:xfrm>
            <a:off x="838200" y="4475941"/>
            <a:ext cx="10734964" cy="1802939"/>
          </a:xfrm>
          <a:prstGeom prst="roundRect">
            <a:avLst/>
          </a:prstGeom>
          <a:solidFill>
            <a:schemeClr val="bg2">
              <a:lumMod val="50000"/>
            </a:schemeClr>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100" dirty="0">
                <a:effectLst/>
              </a:rPr>
              <a:t>The patient exhibits marked spontaneous fluctuations in cognitive abilities, particularly alertness and attention, producing a delirious state lasting days or even weeks.</a:t>
            </a:r>
          </a:p>
          <a:p>
            <a:pPr marL="285750" indent="-285750">
              <a:buFont typeface="Arial" panose="020B0604020202020204" pitchFamily="34" charset="0"/>
              <a:buChar char="•"/>
            </a:pPr>
            <a:r>
              <a:rPr lang="en-US" sz="1100" dirty="0">
                <a:effectLst/>
              </a:rPr>
              <a:t>The patient exhibits visual hallucinations, illusions, and fleeting misidentification phenomena.</a:t>
            </a:r>
          </a:p>
          <a:p>
            <a:pPr marL="285750" indent="-285750">
              <a:buFont typeface="Arial" panose="020B0604020202020204" pitchFamily="34" charset="0"/>
              <a:buChar char="•"/>
            </a:pPr>
            <a:r>
              <a:rPr lang="en-US" sz="1100" dirty="0">
                <a:effectLst/>
              </a:rPr>
              <a:t>The patient exhibits spontaneous parkinsonism, with rigidity, gait disturbance, and bradykinesia.</a:t>
            </a:r>
          </a:p>
          <a:p>
            <a:pPr marL="285750" indent="-285750">
              <a:buFont typeface="Arial" panose="020B0604020202020204" pitchFamily="34" charset="0"/>
              <a:buChar char="•"/>
            </a:pPr>
            <a:r>
              <a:rPr lang="en-US" sz="1100" dirty="0">
                <a:effectLst/>
              </a:rPr>
              <a:t>The patient exhibits exquisite sensitivity to neuroleptic medication, producing the malignant neuroleptic syndrome.</a:t>
            </a:r>
          </a:p>
        </p:txBody>
      </p:sp>
      <p:sp>
        <p:nvSpPr>
          <p:cNvPr id="12" name="TextBox 11">
            <a:extLst>
              <a:ext uri="{FF2B5EF4-FFF2-40B4-BE49-F238E27FC236}">
                <a16:creationId xmlns:a16="http://schemas.microsoft.com/office/drawing/2014/main" id="{1C7852E0-9E0F-009F-C72C-EEF82B409D9D}"/>
              </a:ext>
            </a:extLst>
          </p:cNvPr>
          <p:cNvSpPr txBox="1"/>
          <p:nvPr/>
        </p:nvSpPr>
        <p:spPr>
          <a:xfrm>
            <a:off x="5496563" y="5954814"/>
            <a:ext cx="2016423" cy="369332"/>
          </a:xfrm>
          <a:prstGeom prst="rect">
            <a:avLst/>
          </a:prstGeom>
          <a:noFill/>
        </p:spPr>
        <p:txBody>
          <a:bodyPr wrap="square" rtlCol="0">
            <a:spAutoFit/>
          </a:bodyPr>
          <a:lstStyle/>
          <a:p>
            <a:r>
              <a:rPr lang="en-US" b="1" dirty="0">
                <a:solidFill>
                  <a:schemeClr val="bg1"/>
                </a:solidFill>
              </a:rPr>
              <a:t>GPT-4 Output</a:t>
            </a:r>
          </a:p>
        </p:txBody>
      </p:sp>
      <p:cxnSp>
        <p:nvCxnSpPr>
          <p:cNvPr id="10" name="Straight Connector 9">
            <a:extLst>
              <a:ext uri="{FF2B5EF4-FFF2-40B4-BE49-F238E27FC236}">
                <a16:creationId xmlns:a16="http://schemas.microsoft.com/office/drawing/2014/main" id="{D138B99B-532D-C6EA-31CE-7017AD6B30A7}"/>
              </a:ext>
            </a:extLst>
          </p:cNvPr>
          <p:cNvCxnSpPr>
            <a:cxnSpLocks/>
          </p:cNvCxnSpPr>
          <p:nvPr/>
        </p:nvCxnSpPr>
        <p:spPr>
          <a:xfrm>
            <a:off x="5507736" y="3640421"/>
            <a:ext cx="6428232"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5C5CF2A-A4B6-A08C-7293-73E67F05E7D1}"/>
              </a:ext>
            </a:extLst>
          </p:cNvPr>
          <p:cNvCxnSpPr>
            <a:cxnSpLocks/>
          </p:cNvCxnSpPr>
          <p:nvPr/>
        </p:nvCxnSpPr>
        <p:spPr>
          <a:xfrm>
            <a:off x="838200" y="3817205"/>
            <a:ext cx="4075176"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324B63F-BD26-5974-8EC3-58A16887616B}"/>
              </a:ext>
            </a:extLst>
          </p:cNvPr>
          <p:cNvCxnSpPr>
            <a:cxnSpLocks/>
          </p:cNvCxnSpPr>
          <p:nvPr/>
        </p:nvCxnSpPr>
        <p:spPr>
          <a:xfrm>
            <a:off x="3776472" y="3274661"/>
            <a:ext cx="5513832"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CD9F7F1-5CF9-C801-51DE-BB3B0384E475}"/>
              </a:ext>
            </a:extLst>
          </p:cNvPr>
          <p:cNvCxnSpPr>
            <a:cxnSpLocks/>
          </p:cNvCxnSpPr>
          <p:nvPr/>
        </p:nvCxnSpPr>
        <p:spPr>
          <a:xfrm>
            <a:off x="5253644" y="3075709"/>
            <a:ext cx="631952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1E10D60-DE39-5640-75D2-B8475752187D}"/>
              </a:ext>
            </a:extLst>
          </p:cNvPr>
          <p:cNvCxnSpPr>
            <a:cxnSpLocks/>
          </p:cNvCxnSpPr>
          <p:nvPr/>
        </p:nvCxnSpPr>
        <p:spPr>
          <a:xfrm>
            <a:off x="838200" y="3276877"/>
            <a:ext cx="292912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Rounded Rectangle 6">
            <a:extLst>
              <a:ext uri="{FF2B5EF4-FFF2-40B4-BE49-F238E27FC236}">
                <a16:creationId xmlns:a16="http://schemas.microsoft.com/office/drawing/2014/main" id="{07AC8CFD-40D2-D3DF-D5FE-10FEF069642C}"/>
              </a:ext>
            </a:extLst>
          </p:cNvPr>
          <p:cNvSpPr/>
          <p:nvPr/>
        </p:nvSpPr>
        <p:spPr>
          <a:xfrm>
            <a:off x="5877214" y="1467921"/>
            <a:ext cx="5695950" cy="1428748"/>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Each sentence extracted by GPT-4 contains multiple clinical features</a:t>
            </a:r>
          </a:p>
          <a:p>
            <a:endParaRPr lang="en-US" dirty="0"/>
          </a:p>
          <a:p>
            <a:r>
              <a:rPr lang="en-US" dirty="0"/>
              <a:t>Break them into separate atomic clinical features</a:t>
            </a:r>
          </a:p>
        </p:txBody>
      </p:sp>
      <p:sp>
        <p:nvSpPr>
          <p:cNvPr id="20" name="Slide Number Placeholder 19">
            <a:extLst>
              <a:ext uri="{FF2B5EF4-FFF2-40B4-BE49-F238E27FC236}">
                <a16:creationId xmlns:a16="http://schemas.microsoft.com/office/drawing/2014/main" id="{26F01F03-DE70-217D-386D-1F5BAE4013BD}"/>
              </a:ext>
            </a:extLst>
          </p:cNvPr>
          <p:cNvSpPr>
            <a:spLocks noGrp="1"/>
          </p:cNvSpPr>
          <p:nvPr>
            <p:ph type="sldNum" sz="quarter" idx="12"/>
          </p:nvPr>
        </p:nvSpPr>
        <p:spPr/>
        <p:txBody>
          <a:bodyPr/>
          <a:lstStyle/>
          <a:p>
            <a:fld id="{BDA8D12A-5188-A74B-8183-7E806E12A340}" type="slidenum">
              <a:rPr lang="en-US" smtClean="0"/>
              <a:t>41</a:t>
            </a:fld>
            <a:endParaRPr lang="en-US"/>
          </a:p>
        </p:txBody>
      </p:sp>
    </p:spTree>
    <p:extLst>
      <p:ext uri="{BB962C8B-B14F-4D97-AF65-F5344CB8AC3E}">
        <p14:creationId xmlns:p14="http://schemas.microsoft.com/office/powerpoint/2010/main" val="3600437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A4B22-0FFF-7A3D-5B3A-B3E845D5836F}"/>
              </a:ext>
            </a:extLst>
          </p:cNvPr>
          <p:cNvSpPr>
            <a:spLocks noGrp="1"/>
          </p:cNvSpPr>
          <p:nvPr>
            <p:ph type="title"/>
          </p:nvPr>
        </p:nvSpPr>
        <p:spPr/>
        <p:txBody>
          <a:bodyPr>
            <a:normAutofit/>
          </a:bodyPr>
          <a:lstStyle/>
          <a:p>
            <a:r>
              <a:rPr lang="en-US" sz="3800" dirty="0"/>
              <a:t>Breaking Complex Concepts Into Atomic Concepts </a:t>
            </a:r>
          </a:p>
        </p:txBody>
      </p:sp>
      <p:sp>
        <p:nvSpPr>
          <p:cNvPr id="4" name="Rounded Rectangle 3">
            <a:extLst>
              <a:ext uri="{FF2B5EF4-FFF2-40B4-BE49-F238E27FC236}">
                <a16:creationId xmlns:a16="http://schemas.microsoft.com/office/drawing/2014/main" id="{65C81EAB-4BEA-D346-1223-D67B1BA11B8F}"/>
              </a:ext>
            </a:extLst>
          </p:cNvPr>
          <p:cNvSpPr/>
          <p:nvPr/>
        </p:nvSpPr>
        <p:spPr>
          <a:xfrm>
            <a:off x="203617" y="3238498"/>
            <a:ext cx="5682521" cy="1078669"/>
          </a:xfrm>
          <a:prstGeom prst="roundRect">
            <a:avLst/>
          </a:prstGeom>
          <a:solidFill>
            <a:schemeClr val="accent2">
              <a:lumMod val="50000"/>
            </a:schemeClr>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effectLst/>
              </a:rPr>
              <a:t>The patient exhibits agitation, restlessness, wandering, and disinhibition.</a:t>
            </a:r>
          </a:p>
        </p:txBody>
      </p:sp>
      <p:sp>
        <p:nvSpPr>
          <p:cNvPr id="5" name="Rounded Rectangle 4">
            <a:extLst>
              <a:ext uri="{FF2B5EF4-FFF2-40B4-BE49-F238E27FC236}">
                <a16:creationId xmlns:a16="http://schemas.microsoft.com/office/drawing/2014/main" id="{8D6D3083-4699-F1CB-06C7-60647FEC890E}"/>
              </a:ext>
            </a:extLst>
          </p:cNvPr>
          <p:cNvSpPr/>
          <p:nvPr/>
        </p:nvSpPr>
        <p:spPr>
          <a:xfrm>
            <a:off x="7495083" y="1382216"/>
            <a:ext cx="3858718" cy="686427"/>
          </a:xfrm>
          <a:prstGeom prst="roundRect">
            <a:avLst/>
          </a:prstGeom>
          <a:solidFill>
            <a:schemeClr val="accent2">
              <a:lumMod val="75000"/>
            </a:schemeClr>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effectLst/>
              </a:rPr>
              <a:t>The patient exhibits agitation</a:t>
            </a:r>
            <a:endParaRPr lang="en-US" sz="1100" dirty="0"/>
          </a:p>
        </p:txBody>
      </p:sp>
      <p:sp>
        <p:nvSpPr>
          <p:cNvPr id="6" name="Rounded Rectangle 5">
            <a:extLst>
              <a:ext uri="{FF2B5EF4-FFF2-40B4-BE49-F238E27FC236}">
                <a16:creationId xmlns:a16="http://schemas.microsoft.com/office/drawing/2014/main" id="{AF5B846B-2CEA-7D1F-D23A-D8827CE1F028}"/>
              </a:ext>
            </a:extLst>
          </p:cNvPr>
          <p:cNvSpPr/>
          <p:nvPr/>
        </p:nvSpPr>
        <p:spPr>
          <a:xfrm>
            <a:off x="7243373" y="2743454"/>
            <a:ext cx="4362137" cy="686427"/>
          </a:xfrm>
          <a:prstGeom prst="roundRect">
            <a:avLst/>
          </a:prstGeom>
          <a:solidFill>
            <a:schemeClr val="accent2">
              <a:lumMod val="75000"/>
            </a:schemeClr>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effectLst/>
              </a:rPr>
              <a:t>The patient exhibits restlessness</a:t>
            </a:r>
            <a:endParaRPr lang="en-US" sz="1100" dirty="0"/>
          </a:p>
        </p:txBody>
      </p:sp>
      <p:sp>
        <p:nvSpPr>
          <p:cNvPr id="7" name="Rounded Rectangle 6">
            <a:extLst>
              <a:ext uri="{FF2B5EF4-FFF2-40B4-BE49-F238E27FC236}">
                <a16:creationId xmlns:a16="http://schemas.microsoft.com/office/drawing/2014/main" id="{F1C58F0E-3060-F05B-7FB3-FE5BB815DF13}"/>
              </a:ext>
            </a:extLst>
          </p:cNvPr>
          <p:cNvSpPr/>
          <p:nvPr/>
        </p:nvSpPr>
        <p:spPr>
          <a:xfrm>
            <a:off x="7369227" y="4139433"/>
            <a:ext cx="4110427" cy="686427"/>
          </a:xfrm>
          <a:prstGeom prst="roundRect">
            <a:avLst/>
          </a:prstGeom>
          <a:solidFill>
            <a:schemeClr val="accent2">
              <a:lumMod val="75000"/>
            </a:schemeClr>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effectLst/>
              </a:rPr>
              <a:t>The patient exhibits wandering</a:t>
            </a:r>
            <a:endParaRPr lang="en-US" sz="1100" dirty="0"/>
          </a:p>
        </p:txBody>
      </p:sp>
      <p:cxnSp>
        <p:nvCxnSpPr>
          <p:cNvPr id="8" name="Straight Arrow Connector 7">
            <a:extLst>
              <a:ext uri="{FF2B5EF4-FFF2-40B4-BE49-F238E27FC236}">
                <a16:creationId xmlns:a16="http://schemas.microsoft.com/office/drawing/2014/main" id="{3911631C-8541-7262-B9AE-89086DCC6902}"/>
              </a:ext>
            </a:extLst>
          </p:cNvPr>
          <p:cNvCxnSpPr>
            <a:cxnSpLocks/>
          </p:cNvCxnSpPr>
          <p:nvPr/>
        </p:nvCxnSpPr>
        <p:spPr>
          <a:xfrm flipV="1">
            <a:off x="6096000" y="1725429"/>
            <a:ext cx="1147373" cy="2011162"/>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DC80B09-A9BD-13D1-CEE8-9AD17142DD25}"/>
              </a:ext>
            </a:extLst>
          </p:cNvPr>
          <p:cNvCxnSpPr>
            <a:cxnSpLocks/>
          </p:cNvCxnSpPr>
          <p:nvPr/>
        </p:nvCxnSpPr>
        <p:spPr>
          <a:xfrm flipV="1">
            <a:off x="6096000" y="3132172"/>
            <a:ext cx="937511" cy="604419"/>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67B48AF-9ED4-D903-077D-75B3D50B5B0D}"/>
              </a:ext>
            </a:extLst>
          </p:cNvPr>
          <p:cNvCxnSpPr>
            <a:cxnSpLocks/>
          </p:cNvCxnSpPr>
          <p:nvPr/>
        </p:nvCxnSpPr>
        <p:spPr>
          <a:xfrm>
            <a:off x="6096000" y="3736591"/>
            <a:ext cx="1147373" cy="865389"/>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09C5132-4C48-D6A3-14FF-E93CF2C926D6}"/>
              </a:ext>
            </a:extLst>
          </p:cNvPr>
          <p:cNvCxnSpPr>
            <a:cxnSpLocks/>
          </p:cNvCxnSpPr>
          <p:nvPr/>
        </p:nvCxnSpPr>
        <p:spPr>
          <a:xfrm>
            <a:off x="6096000" y="3736591"/>
            <a:ext cx="937511" cy="2082406"/>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ounded Rectangle 11">
            <a:extLst>
              <a:ext uri="{FF2B5EF4-FFF2-40B4-BE49-F238E27FC236}">
                <a16:creationId xmlns:a16="http://schemas.microsoft.com/office/drawing/2014/main" id="{13C03418-2B04-7A05-CE29-6E3008C4886B}"/>
              </a:ext>
            </a:extLst>
          </p:cNvPr>
          <p:cNvSpPr/>
          <p:nvPr/>
        </p:nvSpPr>
        <p:spPr>
          <a:xfrm>
            <a:off x="7243373" y="5475784"/>
            <a:ext cx="4362137" cy="686427"/>
          </a:xfrm>
          <a:prstGeom prst="roundRect">
            <a:avLst/>
          </a:prstGeom>
          <a:solidFill>
            <a:schemeClr val="accent2">
              <a:lumMod val="75000"/>
            </a:schemeClr>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effectLst/>
              </a:rPr>
              <a:t>The patient exhibits disinhibition</a:t>
            </a:r>
            <a:endParaRPr lang="en-US" sz="1100" dirty="0"/>
          </a:p>
        </p:txBody>
      </p:sp>
      <p:sp>
        <p:nvSpPr>
          <p:cNvPr id="3" name="TextBox 2">
            <a:extLst>
              <a:ext uri="{FF2B5EF4-FFF2-40B4-BE49-F238E27FC236}">
                <a16:creationId xmlns:a16="http://schemas.microsoft.com/office/drawing/2014/main" id="{60756DFB-006C-5FF9-0E7C-E33AB6A0CDE5}"/>
              </a:ext>
            </a:extLst>
          </p:cNvPr>
          <p:cNvSpPr txBox="1"/>
          <p:nvPr/>
        </p:nvSpPr>
        <p:spPr>
          <a:xfrm>
            <a:off x="586490" y="6123543"/>
            <a:ext cx="5181600" cy="369332"/>
          </a:xfrm>
          <a:prstGeom prst="rect">
            <a:avLst/>
          </a:prstGeom>
          <a:noFill/>
        </p:spPr>
        <p:txBody>
          <a:bodyPr wrap="square" rtlCol="0">
            <a:spAutoFit/>
          </a:bodyPr>
          <a:lstStyle/>
          <a:p>
            <a:r>
              <a:rPr lang="en-US" dirty="0"/>
              <a:t>This is achieved using GPT-4 with 2-shot prompting.</a:t>
            </a:r>
          </a:p>
        </p:txBody>
      </p:sp>
      <p:sp>
        <p:nvSpPr>
          <p:cNvPr id="18" name="Slide Number Placeholder 17">
            <a:extLst>
              <a:ext uri="{FF2B5EF4-FFF2-40B4-BE49-F238E27FC236}">
                <a16:creationId xmlns:a16="http://schemas.microsoft.com/office/drawing/2014/main" id="{57457F21-AAAA-E576-7B81-746BF57E1B4D}"/>
              </a:ext>
            </a:extLst>
          </p:cNvPr>
          <p:cNvSpPr>
            <a:spLocks noGrp="1"/>
          </p:cNvSpPr>
          <p:nvPr>
            <p:ph type="sldNum" sz="quarter" idx="12"/>
          </p:nvPr>
        </p:nvSpPr>
        <p:spPr/>
        <p:txBody>
          <a:bodyPr/>
          <a:lstStyle/>
          <a:p>
            <a:fld id="{BDA8D12A-5188-A74B-8183-7E806E12A340}" type="slidenum">
              <a:rPr lang="en-US" smtClean="0"/>
              <a:t>42</a:t>
            </a:fld>
            <a:endParaRPr lang="en-US"/>
          </a:p>
        </p:txBody>
      </p:sp>
    </p:spTree>
    <p:extLst>
      <p:ext uri="{BB962C8B-B14F-4D97-AF65-F5344CB8AC3E}">
        <p14:creationId xmlns:p14="http://schemas.microsoft.com/office/powerpoint/2010/main" val="36111734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D0A1D-8349-8090-2C16-6AD7B9AEDF63}"/>
              </a:ext>
            </a:extLst>
          </p:cNvPr>
          <p:cNvSpPr>
            <a:spLocks noGrp="1"/>
          </p:cNvSpPr>
          <p:nvPr>
            <p:ph type="title"/>
          </p:nvPr>
        </p:nvSpPr>
        <p:spPr/>
        <p:txBody>
          <a:bodyPr>
            <a:normAutofit/>
          </a:bodyPr>
          <a:lstStyle/>
          <a:p>
            <a:r>
              <a:rPr lang="en-US" sz="3800" dirty="0"/>
              <a:t>Clinical Features Extracted</a:t>
            </a:r>
          </a:p>
        </p:txBody>
      </p:sp>
      <p:graphicFrame>
        <p:nvGraphicFramePr>
          <p:cNvPr id="5" name="Table 4">
            <a:extLst>
              <a:ext uri="{FF2B5EF4-FFF2-40B4-BE49-F238E27FC236}">
                <a16:creationId xmlns:a16="http://schemas.microsoft.com/office/drawing/2014/main" id="{489A4424-8023-C557-BF11-82029926032E}"/>
              </a:ext>
            </a:extLst>
          </p:cNvPr>
          <p:cNvGraphicFramePr>
            <a:graphicFrameLocks noGrp="1"/>
          </p:cNvGraphicFramePr>
          <p:nvPr>
            <p:extLst>
              <p:ext uri="{D42A27DB-BD31-4B8C-83A1-F6EECF244321}">
                <p14:modId xmlns:p14="http://schemas.microsoft.com/office/powerpoint/2010/main" val="1736489073"/>
              </p:ext>
            </p:extLst>
          </p:nvPr>
        </p:nvGraphicFramePr>
        <p:xfrm>
          <a:off x="1181932" y="2329166"/>
          <a:ext cx="9201880" cy="4291520"/>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4600940">
                  <a:extLst>
                    <a:ext uri="{9D8B030D-6E8A-4147-A177-3AD203B41FA5}">
                      <a16:colId xmlns:a16="http://schemas.microsoft.com/office/drawing/2014/main" val="3871042635"/>
                    </a:ext>
                  </a:extLst>
                </a:gridCol>
                <a:gridCol w="4600940">
                  <a:extLst>
                    <a:ext uri="{9D8B030D-6E8A-4147-A177-3AD203B41FA5}">
                      <a16:colId xmlns:a16="http://schemas.microsoft.com/office/drawing/2014/main" val="863928474"/>
                    </a:ext>
                  </a:extLst>
                </a:gridCol>
              </a:tblGrid>
              <a:tr h="205769">
                <a:tc gridSpan="2">
                  <a:txBody>
                    <a:bodyPr/>
                    <a:lstStyle/>
                    <a:p>
                      <a:pPr algn="ctr"/>
                      <a:r>
                        <a:rPr lang="en-US" sz="1800" dirty="0">
                          <a:solidFill>
                            <a:schemeClr val="tx1"/>
                          </a:solidFill>
                        </a:rPr>
                        <a:t>Example Features Extracted from the Oxford Textbook of Medicine</a:t>
                      </a:r>
                    </a:p>
                  </a:txBody>
                  <a:tcPr>
                    <a:solidFill>
                      <a:schemeClr val="accent1">
                        <a:lumMod val="60000"/>
                        <a:lumOff val="40000"/>
                      </a:schemeClr>
                    </a:solidFill>
                  </a:tcPr>
                </a:tc>
                <a:tc hMerge="1">
                  <a:txBody>
                    <a:bodyPr/>
                    <a:lstStyle/>
                    <a:p>
                      <a:endParaRPr lang="en-US" sz="1800"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2398366156"/>
                  </a:ext>
                </a:extLst>
              </a:tr>
              <a:tr h="3888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diminished vibration sense</a:t>
                      </a:r>
                    </a:p>
                  </a:txBody>
                  <a:tcPr>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impaired judgement</a:t>
                      </a:r>
                    </a:p>
                  </a:txBody>
                  <a:tcPr>
                    <a:solidFill>
                      <a:schemeClr val="accent1">
                        <a:lumMod val="60000"/>
                        <a:lumOff val="40000"/>
                      </a:schemeClr>
                    </a:solidFill>
                  </a:tcPr>
                </a:tc>
                <a:extLst>
                  <a:ext uri="{0D108BD9-81ED-4DB2-BD59-A6C34878D82A}">
                    <a16:rowId xmlns:a16="http://schemas.microsoft.com/office/drawing/2014/main" val="1818260113"/>
                  </a:ext>
                </a:extLst>
              </a:tr>
              <a:tr h="3888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difficulty answering questions</a:t>
                      </a:r>
                    </a:p>
                  </a:txBody>
                  <a:tcPr>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neuropsychiatric symptoms</a:t>
                      </a:r>
                    </a:p>
                  </a:txBody>
                  <a:tcPr>
                    <a:solidFill>
                      <a:schemeClr val="accent1">
                        <a:lumMod val="60000"/>
                        <a:lumOff val="40000"/>
                      </a:schemeClr>
                    </a:solidFill>
                  </a:tcPr>
                </a:tc>
                <a:extLst>
                  <a:ext uri="{0D108BD9-81ED-4DB2-BD59-A6C34878D82A}">
                    <a16:rowId xmlns:a16="http://schemas.microsoft.com/office/drawing/2014/main" val="3217074720"/>
                  </a:ext>
                </a:extLst>
              </a:tr>
              <a:tr h="3888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repetitive questioning</a:t>
                      </a:r>
                    </a:p>
                  </a:txBody>
                  <a:tcPr>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gait apraxia</a:t>
                      </a:r>
                    </a:p>
                  </a:txBody>
                  <a:tcPr>
                    <a:solidFill>
                      <a:schemeClr val="accent1">
                        <a:lumMod val="60000"/>
                        <a:lumOff val="40000"/>
                      </a:schemeClr>
                    </a:solidFill>
                  </a:tcPr>
                </a:tc>
                <a:extLst>
                  <a:ext uri="{0D108BD9-81ED-4DB2-BD59-A6C34878D82A}">
                    <a16:rowId xmlns:a16="http://schemas.microsoft.com/office/drawing/2014/main" val="3828627684"/>
                  </a:ext>
                </a:extLst>
              </a:tr>
              <a:tr h="4262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large infarcts</a:t>
                      </a:r>
                    </a:p>
                  </a:txBody>
                  <a:tcPr>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giving bizarrely wrong answers to questions</a:t>
                      </a:r>
                    </a:p>
                  </a:txBody>
                  <a:tcPr>
                    <a:solidFill>
                      <a:schemeClr val="accent1">
                        <a:lumMod val="60000"/>
                        <a:lumOff val="40000"/>
                      </a:schemeClr>
                    </a:solidFill>
                  </a:tcPr>
                </a:tc>
                <a:extLst>
                  <a:ext uri="{0D108BD9-81ED-4DB2-BD59-A6C34878D82A}">
                    <a16:rowId xmlns:a16="http://schemas.microsoft.com/office/drawing/2014/main" val="4012671438"/>
                  </a:ext>
                </a:extLst>
              </a:tr>
              <a:tr h="3888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obsessive–compulsive behavior</a:t>
                      </a:r>
                    </a:p>
                  </a:txBody>
                  <a:tcPr>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ventricular enlargement</a:t>
                      </a:r>
                    </a:p>
                  </a:txBody>
                  <a:tcPr>
                    <a:solidFill>
                      <a:schemeClr val="accent1">
                        <a:lumMod val="60000"/>
                        <a:lumOff val="40000"/>
                      </a:schemeClr>
                    </a:solidFill>
                  </a:tcPr>
                </a:tc>
                <a:extLst>
                  <a:ext uri="{0D108BD9-81ED-4DB2-BD59-A6C34878D82A}">
                    <a16:rowId xmlns:a16="http://schemas.microsoft.com/office/drawing/2014/main" val="3951766548"/>
                  </a:ext>
                </a:extLst>
              </a:tr>
              <a:tr h="3888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optic atrophy</a:t>
                      </a:r>
                    </a:p>
                  </a:txBody>
                  <a:tcPr>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inconsistency in test performance</a:t>
                      </a:r>
                    </a:p>
                  </a:txBody>
                  <a:tcPr>
                    <a:solidFill>
                      <a:schemeClr val="accent1">
                        <a:lumMod val="60000"/>
                        <a:lumOff val="40000"/>
                      </a:schemeClr>
                    </a:solidFill>
                  </a:tcPr>
                </a:tc>
                <a:extLst>
                  <a:ext uri="{0D108BD9-81ED-4DB2-BD59-A6C34878D82A}">
                    <a16:rowId xmlns:a16="http://schemas.microsoft.com/office/drawing/2014/main" val="690545566"/>
                  </a:ext>
                </a:extLst>
              </a:tr>
              <a:tr h="3888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dependence</a:t>
                      </a:r>
                    </a:p>
                  </a:txBody>
                  <a:tcPr>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sleep disturbance</a:t>
                      </a:r>
                    </a:p>
                  </a:txBody>
                  <a:tcPr>
                    <a:solidFill>
                      <a:schemeClr val="accent1">
                        <a:lumMod val="60000"/>
                        <a:lumOff val="40000"/>
                      </a:schemeClr>
                    </a:solidFill>
                  </a:tcPr>
                </a:tc>
                <a:extLst>
                  <a:ext uri="{0D108BD9-81ED-4DB2-BD59-A6C34878D82A}">
                    <a16:rowId xmlns:a16="http://schemas.microsoft.com/office/drawing/2014/main" val="2519323633"/>
                  </a:ext>
                </a:extLst>
              </a:tr>
              <a:tr h="3888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indifference to domestic responsibilities</a:t>
                      </a:r>
                    </a:p>
                  </a:txBody>
                  <a:tcPr>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spontaneous parkinsonism</a:t>
                      </a:r>
                    </a:p>
                  </a:txBody>
                  <a:tcPr>
                    <a:solidFill>
                      <a:schemeClr val="accent1">
                        <a:lumMod val="60000"/>
                        <a:lumOff val="40000"/>
                      </a:schemeClr>
                    </a:solidFill>
                  </a:tcPr>
                </a:tc>
                <a:extLst>
                  <a:ext uri="{0D108BD9-81ED-4DB2-BD59-A6C34878D82A}">
                    <a16:rowId xmlns:a16="http://schemas.microsoft.com/office/drawing/2014/main" val="3384718683"/>
                  </a:ext>
                </a:extLst>
              </a:tr>
              <a:tr h="3888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increased reflexes</a:t>
                      </a:r>
                    </a:p>
                  </a:txBody>
                  <a:tcPr>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impairment in job performance</a:t>
                      </a:r>
                    </a:p>
                  </a:txBody>
                  <a:tcPr>
                    <a:solidFill>
                      <a:schemeClr val="accent1">
                        <a:lumMod val="60000"/>
                        <a:lumOff val="40000"/>
                      </a:schemeClr>
                    </a:solidFill>
                  </a:tcPr>
                </a:tc>
                <a:extLst>
                  <a:ext uri="{0D108BD9-81ED-4DB2-BD59-A6C34878D82A}">
                    <a16:rowId xmlns:a16="http://schemas.microsoft.com/office/drawing/2014/main" val="1181618702"/>
                  </a:ext>
                </a:extLst>
              </a:tr>
              <a:tr h="3888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greatly increased rigidity</a:t>
                      </a:r>
                    </a:p>
                  </a:txBody>
                  <a:tcPr>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impaired attention</a:t>
                      </a:r>
                    </a:p>
                  </a:txBody>
                  <a:tcPr>
                    <a:solidFill>
                      <a:schemeClr val="accent1">
                        <a:lumMod val="60000"/>
                        <a:lumOff val="40000"/>
                      </a:schemeClr>
                    </a:solidFill>
                  </a:tcPr>
                </a:tc>
                <a:extLst>
                  <a:ext uri="{0D108BD9-81ED-4DB2-BD59-A6C34878D82A}">
                    <a16:rowId xmlns:a16="http://schemas.microsoft.com/office/drawing/2014/main" val="722739883"/>
                  </a:ext>
                </a:extLst>
              </a:tr>
            </a:tbl>
          </a:graphicData>
        </a:graphic>
      </p:graphicFrame>
      <p:sp>
        <p:nvSpPr>
          <p:cNvPr id="6" name="TextBox 5">
            <a:extLst>
              <a:ext uri="{FF2B5EF4-FFF2-40B4-BE49-F238E27FC236}">
                <a16:creationId xmlns:a16="http://schemas.microsoft.com/office/drawing/2014/main" id="{32B9D734-6AFA-112F-9D5D-78F42DF38813}"/>
              </a:ext>
            </a:extLst>
          </p:cNvPr>
          <p:cNvSpPr txBox="1"/>
          <p:nvPr/>
        </p:nvSpPr>
        <p:spPr>
          <a:xfrm>
            <a:off x="1027659" y="1517603"/>
            <a:ext cx="9510426" cy="646331"/>
          </a:xfrm>
          <a:prstGeom prst="rect">
            <a:avLst/>
          </a:prstGeom>
          <a:noFill/>
        </p:spPr>
        <p:txBody>
          <a:bodyPr wrap="square" rtlCol="0">
            <a:spAutoFit/>
          </a:bodyPr>
          <a:lstStyle/>
          <a:p>
            <a:pPr marL="285750" indent="-285750">
              <a:buFont typeface="Arial" panose="020B0604020202020204" pitchFamily="34" charset="0"/>
              <a:buChar char="•"/>
            </a:pPr>
            <a:r>
              <a:rPr lang="en-US" dirty="0"/>
              <a:t>After manual annotation for quality control, we end up with 254 clinical features.</a:t>
            </a:r>
          </a:p>
          <a:p>
            <a:pPr marL="285750" indent="-285750">
              <a:buFont typeface="Arial" panose="020B0604020202020204" pitchFamily="34" charset="0"/>
              <a:buChar char="•"/>
            </a:pPr>
            <a:r>
              <a:rPr lang="en-US" dirty="0"/>
              <a:t>Each cell in the table contains a phrase that completes the sentence “The patient exhibits ___.”</a:t>
            </a:r>
          </a:p>
        </p:txBody>
      </p:sp>
      <p:sp>
        <p:nvSpPr>
          <p:cNvPr id="10" name="Slide Number Placeholder 9">
            <a:extLst>
              <a:ext uri="{FF2B5EF4-FFF2-40B4-BE49-F238E27FC236}">
                <a16:creationId xmlns:a16="http://schemas.microsoft.com/office/drawing/2014/main" id="{F3B8981D-3992-BDBF-CF00-BF6D2AC129F3}"/>
              </a:ext>
            </a:extLst>
          </p:cNvPr>
          <p:cNvSpPr>
            <a:spLocks noGrp="1"/>
          </p:cNvSpPr>
          <p:nvPr>
            <p:ph type="sldNum" sz="quarter" idx="12"/>
          </p:nvPr>
        </p:nvSpPr>
        <p:spPr/>
        <p:txBody>
          <a:bodyPr/>
          <a:lstStyle/>
          <a:p>
            <a:fld id="{BDA8D12A-5188-A74B-8183-7E806E12A340}" type="slidenum">
              <a:rPr lang="en-US" smtClean="0"/>
              <a:t>43</a:t>
            </a:fld>
            <a:endParaRPr lang="en-US"/>
          </a:p>
        </p:txBody>
      </p:sp>
    </p:spTree>
    <p:extLst>
      <p:ext uri="{BB962C8B-B14F-4D97-AF65-F5344CB8AC3E}">
        <p14:creationId xmlns:p14="http://schemas.microsoft.com/office/powerpoint/2010/main" val="1717522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37869-119D-5042-AD60-AB49132B6A40}"/>
              </a:ext>
            </a:extLst>
          </p:cNvPr>
          <p:cNvSpPr>
            <a:spLocks noGrp="1"/>
          </p:cNvSpPr>
          <p:nvPr>
            <p:ph type="title"/>
          </p:nvPr>
        </p:nvSpPr>
        <p:spPr/>
        <p:txBody>
          <a:bodyPr>
            <a:normAutofit/>
          </a:bodyPr>
          <a:lstStyle/>
          <a:p>
            <a:r>
              <a:rPr lang="en-US" sz="3800" dirty="0"/>
              <a:t>Pipeline Overview</a:t>
            </a:r>
          </a:p>
        </p:txBody>
      </p:sp>
      <p:pic>
        <p:nvPicPr>
          <p:cNvPr id="90" name="Picture 89">
            <a:extLst>
              <a:ext uri="{FF2B5EF4-FFF2-40B4-BE49-F238E27FC236}">
                <a16:creationId xmlns:a16="http://schemas.microsoft.com/office/drawing/2014/main" id="{E6B6D2FE-8999-CDF8-D997-D5A11F0E9A4F}"/>
              </a:ext>
            </a:extLst>
          </p:cNvPr>
          <p:cNvPicPr>
            <a:picLocks noChangeAspect="1"/>
          </p:cNvPicPr>
          <p:nvPr/>
        </p:nvPicPr>
        <p:blipFill>
          <a:blip r:embed="rId2"/>
          <a:stretch>
            <a:fillRect/>
          </a:stretch>
        </p:blipFill>
        <p:spPr>
          <a:xfrm>
            <a:off x="1347950" y="1490446"/>
            <a:ext cx="9845567" cy="5150912"/>
          </a:xfrm>
          <a:prstGeom prst="rect">
            <a:avLst/>
          </a:prstGeom>
          <a:effectLst>
            <a:outerShdw blurRad="63500" sx="102000" sy="102000" algn="ctr" rotWithShape="0">
              <a:prstClr val="black">
                <a:alpha val="40000"/>
              </a:prstClr>
            </a:outerShdw>
          </a:effectLst>
        </p:spPr>
      </p:pic>
      <p:sp>
        <p:nvSpPr>
          <p:cNvPr id="92" name="Rounded Rectangle 91">
            <a:extLst>
              <a:ext uri="{FF2B5EF4-FFF2-40B4-BE49-F238E27FC236}">
                <a16:creationId xmlns:a16="http://schemas.microsoft.com/office/drawing/2014/main" id="{3E246DB0-BE93-3479-281D-929626444637}"/>
              </a:ext>
            </a:extLst>
          </p:cNvPr>
          <p:cNvSpPr/>
          <p:nvPr/>
        </p:nvSpPr>
        <p:spPr>
          <a:xfrm>
            <a:off x="1187667" y="4065902"/>
            <a:ext cx="5505233" cy="2703198"/>
          </a:xfrm>
          <a:prstGeom prst="roundRect">
            <a:avLst/>
          </a:prstGeom>
          <a:noFill/>
          <a:ln w="317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Slide Number Placeholder 96">
            <a:extLst>
              <a:ext uri="{FF2B5EF4-FFF2-40B4-BE49-F238E27FC236}">
                <a16:creationId xmlns:a16="http://schemas.microsoft.com/office/drawing/2014/main" id="{6D9853EF-2562-2ACA-DFB2-54E9442A5EF3}"/>
              </a:ext>
            </a:extLst>
          </p:cNvPr>
          <p:cNvSpPr>
            <a:spLocks noGrp="1"/>
          </p:cNvSpPr>
          <p:nvPr>
            <p:ph type="sldNum" sz="quarter" idx="12"/>
          </p:nvPr>
        </p:nvSpPr>
        <p:spPr/>
        <p:txBody>
          <a:bodyPr/>
          <a:lstStyle/>
          <a:p>
            <a:fld id="{BDA8D12A-5188-A74B-8183-7E806E12A340}" type="slidenum">
              <a:rPr lang="en-US" smtClean="0"/>
              <a:t>44</a:t>
            </a:fld>
            <a:endParaRPr lang="en-US"/>
          </a:p>
        </p:txBody>
      </p:sp>
    </p:spTree>
    <p:extLst>
      <p:ext uri="{BB962C8B-B14F-4D97-AF65-F5344CB8AC3E}">
        <p14:creationId xmlns:p14="http://schemas.microsoft.com/office/powerpoint/2010/main" val="38623033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37869-119D-5042-AD60-AB49132B6A40}"/>
              </a:ext>
            </a:extLst>
          </p:cNvPr>
          <p:cNvSpPr>
            <a:spLocks noGrp="1"/>
          </p:cNvSpPr>
          <p:nvPr>
            <p:ph type="title"/>
          </p:nvPr>
        </p:nvSpPr>
        <p:spPr/>
        <p:txBody>
          <a:bodyPr>
            <a:normAutofit/>
          </a:bodyPr>
          <a:lstStyle/>
          <a:p>
            <a:r>
              <a:rPr lang="en-US" sz="3800" dirty="0"/>
              <a:t>Pipeline Overview</a:t>
            </a:r>
          </a:p>
        </p:txBody>
      </p:sp>
      <p:pic>
        <p:nvPicPr>
          <p:cNvPr id="90" name="Picture 89">
            <a:extLst>
              <a:ext uri="{FF2B5EF4-FFF2-40B4-BE49-F238E27FC236}">
                <a16:creationId xmlns:a16="http://schemas.microsoft.com/office/drawing/2014/main" id="{E6B6D2FE-8999-CDF8-D997-D5A11F0E9A4F}"/>
              </a:ext>
            </a:extLst>
          </p:cNvPr>
          <p:cNvPicPr>
            <a:picLocks noChangeAspect="1"/>
          </p:cNvPicPr>
          <p:nvPr/>
        </p:nvPicPr>
        <p:blipFill>
          <a:blip r:embed="rId2"/>
          <a:stretch>
            <a:fillRect/>
          </a:stretch>
        </p:blipFill>
        <p:spPr>
          <a:xfrm>
            <a:off x="1347950" y="1490446"/>
            <a:ext cx="9845567" cy="5150912"/>
          </a:xfrm>
          <a:prstGeom prst="rect">
            <a:avLst/>
          </a:prstGeom>
          <a:effectLst>
            <a:outerShdw blurRad="63500" sx="102000" sy="102000" algn="ctr" rotWithShape="0">
              <a:prstClr val="black">
                <a:alpha val="40000"/>
              </a:prstClr>
            </a:outerShdw>
          </a:effectLst>
        </p:spPr>
      </p:pic>
      <p:sp>
        <p:nvSpPr>
          <p:cNvPr id="3" name="Rounded Rectangle 2">
            <a:extLst>
              <a:ext uri="{FF2B5EF4-FFF2-40B4-BE49-F238E27FC236}">
                <a16:creationId xmlns:a16="http://schemas.microsoft.com/office/drawing/2014/main" id="{0E7B5A30-5D45-8730-2A4D-3E53C8DE9843}"/>
              </a:ext>
            </a:extLst>
          </p:cNvPr>
          <p:cNvSpPr/>
          <p:nvPr/>
        </p:nvSpPr>
        <p:spPr>
          <a:xfrm>
            <a:off x="1187668" y="1371600"/>
            <a:ext cx="6876832" cy="3568699"/>
          </a:xfrm>
          <a:prstGeom prst="roundRect">
            <a:avLst/>
          </a:prstGeom>
          <a:noFill/>
          <a:ln w="317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39F395B7-762B-75AE-1D7D-B556FFE44B22}"/>
              </a:ext>
            </a:extLst>
          </p:cNvPr>
          <p:cNvSpPr>
            <a:spLocks noGrp="1"/>
          </p:cNvSpPr>
          <p:nvPr>
            <p:ph type="sldNum" sz="quarter" idx="12"/>
          </p:nvPr>
        </p:nvSpPr>
        <p:spPr/>
        <p:txBody>
          <a:bodyPr/>
          <a:lstStyle/>
          <a:p>
            <a:fld id="{BDA8D12A-5188-A74B-8183-7E806E12A340}" type="slidenum">
              <a:rPr lang="en-US" smtClean="0"/>
              <a:t>45</a:t>
            </a:fld>
            <a:endParaRPr lang="en-US"/>
          </a:p>
        </p:txBody>
      </p:sp>
    </p:spTree>
    <p:extLst>
      <p:ext uri="{BB962C8B-B14F-4D97-AF65-F5344CB8AC3E}">
        <p14:creationId xmlns:p14="http://schemas.microsoft.com/office/powerpoint/2010/main" val="33786366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37869-119D-5042-AD60-AB49132B6A40}"/>
              </a:ext>
            </a:extLst>
          </p:cNvPr>
          <p:cNvSpPr>
            <a:spLocks noGrp="1"/>
          </p:cNvSpPr>
          <p:nvPr>
            <p:ph type="title"/>
          </p:nvPr>
        </p:nvSpPr>
        <p:spPr/>
        <p:txBody>
          <a:bodyPr>
            <a:normAutofit/>
          </a:bodyPr>
          <a:lstStyle/>
          <a:p>
            <a:r>
              <a:rPr lang="en-US" sz="3800" dirty="0"/>
              <a:t>Pipeline Overview</a:t>
            </a:r>
          </a:p>
        </p:txBody>
      </p:sp>
      <p:pic>
        <p:nvPicPr>
          <p:cNvPr id="90" name="Picture 89">
            <a:extLst>
              <a:ext uri="{FF2B5EF4-FFF2-40B4-BE49-F238E27FC236}">
                <a16:creationId xmlns:a16="http://schemas.microsoft.com/office/drawing/2014/main" id="{E6B6D2FE-8999-CDF8-D997-D5A11F0E9A4F}"/>
              </a:ext>
            </a:extLst>
          </p:cNvPr>
          <p:cNvPicPr>
            <a:picLocks noChangeAspect="1"/>
          </p:cNvPicPr>
          <p:nvPr/>
        </p:nvPicPr>
        <p:blipFill>
          <a:blip r:embed="rId2"/>
          <a:stretch>
            <a:fillRect/>
          </a:stretch>
        </p:blipFill>
        <p:spPr>
          <a:xfrm>
            <a:off x="1347950" y="1490446"/>
            <a:ext cx="9845567" cy="5150912"/>
          </a:xfrm>
          <a:prstGeom prst="rect">
            <a:avLst/>
          </a:prstGeom>
          <a:effectLst>
            <a:outerShdw blurRad="63500" sx="102000" sy="102000" algn="ctr" rotWithShape="0">
              <a:prstClr val="black">
                <a:alpha val="40000"/>
              </a:prstClr>
            </a:outerShdw>
          </a:effectLst>
        </p:spPr>
      </p:pic>
      <p:sp>
        <p:nvSpPr>
          <p:cNvPr id="3" name="Rounded Rectangle 2">
            <a:extLst>
              <a:ext uri="{FF2B5EF4-FFF2-40B4-BE49-F238E27FC236}">
                <a16:creationId xmlns:a16="http://schemas.microsoft.com/office/drawing/2014/main" id="{0E7B5A30-5D45-8730-2A4D-3E53C8DE9843}"/>
              </a:ext>
            </a:extLst>
          </p:cNvPr>
          <p:cNvSpPr/>
          <p:nvPr/>
        </p:nvSpPr>
        <p:spPr>
          <a:xfrm>
            <a:off x="6007261" y="1406324"/>
            <a:ext cx="4836789" cy="3568699"/>
          </a:xfrm>
          <a:prstGeom prst="roundRect">
            <a:avLst/>
          </a:prstGeom>
          <a:noFill/>
          <a:ln w="317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076FC0D3-C695-FDE8-BA38-CE280D01932B}"/>
              </a:ext>
            </a:extLst>
          </p:cNvPr>
          <p:cNvSpPr>
            <a:spLocks noGrp="1"/>
          </p:cNvSpPr>
          <p:nvPr>
            <p:ph type="sldNum" sz="quarter" idx="12"/>
          </p:nvPr>
        </p:nvSpPr>
        <p:spPr/>
        <p:txBody>
          <a:bodyPr/>
          <a:lstStyle/>
          <a:p>
            <a:fld id="{BDA8D12A-5188-A74B-8183-7E806E12A340}" type="slidenum">
              <a:rPr lang="en-US" smtClean="0"/>
              <a:t>46</a:t>
            </a:fld>
            <a:endParaRPr lang="en-US"/>
          </a:p>
        </p:txBody>
      </p:sp>
    </p:spTree>
    <p:extLst>
      <p:ext uri="{BB962C8B-B14F-4D97-AF65-F5344CB8AC3E}">
        <p14:creationId xmlns:p14="http://schemas.microsoft.com/office/powerpoint/2010/main" val="16540831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37869-119D-5042-AD60-AB49132B6A40}"/>
              </a:ext>
            </a:extLst>
          </p:cNvPr>
          <p:cNvSpPr>
            <a:spLocks noGrp="1"/>
          </p:cNvSpPr>
          <p:nvPr>
            <p:ph type="title"/>
          </p:nvPr>
        </p:nvSpPr>
        <p:spPr/>
        <p:txBody>
          <a:bodyPr>
            <a:normAutofit/>
          </a:bodyPr>
          <a:lstStyle/>
          <a:p>
            <a:r>
              <a:rPr lang="en-US" sz="3800" dirty="0"/>
              <a:t>Pipeline Overview</a:t>
            </a:r>
          </a:p>
        </p:txBody>
      </p:sp>
      <p:pic>
        <p:nvPicPr>
          <p:cNvPr id="90" name="Picture 89">
            <a:extLst>
              <a:ext uri="{FF2B5EF4-FFF2-40B4-BE49-F238E27FC236}">
                <a16:creationId xmlns:a16="http://schemas.microsoft.com/office/drawing/2014/main" id="{E6B6D2FE-8999-CDF8-D997-D5A11F0E9A4F}"/>
              </a:ext>
            </a:extLst>
          </p:cNvPr>
          <p:cNvPicPr>
            <a:picLocks noChangeAspect="1"/>
          </p:cNvPicPr>
          <p:nvPr/>
        </p:nvPicPr>
        <p:blipFill>
          <a:blip r:embed="rId2"/>
          <a:stretch>
            <a:fillRect/>
          </a:stretch>
        </p:blipFill>
        <p:spPr>
          <a:xfrm>
            <a:off x="1347950" y="1490446"/>
            <a:ext cx="9845567" cy="5150912"/>
          </a:xfrm>
          <a:prstGeom prst="rect">
            <a:avLst/>
          </a:prstGeom>
          <a:effectLst>
            <a:outerShdw blurRad="63500" sx="102000" sy="102000" algn="ctr" rotWithShape="0">
              <a:prstClr val="black">
                <a:alpha val="40000"/>
              </a:prstClr>
            </a:outerShdw>
          </a:effectLst>
        </p:spPr>
      </p:pic>
      <p:sp>
        <p:nvSpPr>
          <p:cNvPr id="3" name="Rounded Rectangle 2">
            <a:extLst>
              <a:ext uri="{FF2B5EF4-FFF2-40B4-BE49-F238E27FC236}">
                <a16:creationId xmlns:a16="http://schemas.microsoft.com/office/drawing/2014/main" id="{0E7B5A30-5D45-8730-2A4D-3E53C8DE9843}"/>
              </a:ext>
            </a:extLst>
          </p:cNvPr>
          <p:cNvSpPr/>
          <p:nvPr/>
        </p:nvSpPr>
        <p:spPr>
          <a:xfrm>
            <a:off x="1187668" y="1371600"/>
            <a:ext cx="6876832" cy="3568699"/>
          </a:xfrm>
          <a:prstGeom prst="roundRect">
            <a:avLst/>
          </a:prstGeom>
          <a:noFill/>
          <a:ln w="317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F8B6B86D-2F26-C853-F29B-A76153C3604B}"/>
              </a:ext>
            </a:extLst>
          </p:cNvPr>
          <p:cNvSpPr>
            <a:spLocks noGrp="1"/>
          </p:cNvSpPr>
          <p:nvPr>
            <p:ph type="sldNum" sz="quarter" idx="12"/>
          </p:nvPr>
        </p:nvSpPr>
        <p:spPr/>
        <p:txBody>
          <a:bodyPr/>
          <a:lstStyle/>
          <a:p>
            <a:fld id="{BDA8D12A-5188-A74B-8183-7E806E12A340}" type="slidenum">
              <a:rPr lang="en-US" smtClean="0"/>
              <a:t>47</a:t>
            </a:fld>
            <a:endParaRPr lang="en-US"/>
          </a:p>
        </p:txBody>
      </p:sp>
    </p:spTree>
    <p:extLst>
      <p:ext uri="{BB962C8B-B14F-4D97-AF65-F5344CB8AC3E}">
        <p14:creationId xmlns:p14="http://schemas.microsoft.com/office/powerpoint/2010/main" val="18567129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A900B-4C53-438B-EB88-FCB7C57E2A06}"/>
              </a:ext>
            </a:extLst>
          </p:cNvPr>
          <p:cNvSpPr>
            <a:spLocks noGrp="1"/>
          </p:cNvSpPr>
          <p:nvPr>
            <p:ph type="title"/>
          </p:nvPr>
        </p:nvSpPr>
        <p:spPr/>
        <p:txBody>
          <a:bodyPr>
            <a:normAutofit/>
          </a:bodyPr>
          <a:lstStyle/>
          <a:p>
            <a:r>
              <a:rPr lang="en-US" sz="3800" dirty="0"/>
              <a:t>Agreement Model</a:t>
            </a:r>
          </a:p>
        </p:txBody>
      </p:sp>
      <p:sp>
        <p:nvSpPr>
          <p:cNvPr id="3" name="Content Placeholder 2">
            <a:extLst>
              <a:ext uri="{FF2B5EF4-FFF2-40B4-BE49-F238E27FC236}">
                <a16:creationId xmlns:a16="http://schemas.microsoft.com/office/drawing/2014/main" id="{D7B37CB9-7928-4431-2A5A-A34ED0C36958}"/>
              </a:ext>
            </a:extLst>
          </p:cNvPr>
          <p:cNvSpPr>
            <a:spLocks noGrp="1"/>
          </p:cNvSpPr>
          <p:nvPr>
            <p:ph idx="1"/>
          </p:nvPr>
        </p:nvSpPr>
        <p:spPr/>
        <p:txBody>
          <a:bodyPr/>
          <a:lstStyle/>
          <a:p>
            <a:r>
              <a:rPr lang="en-US" dirty="0"/>
              <a:t>Agreement model predicts concept presence in a clinical note.</a:t>
            </a:r>
          </a:p>
          <a:p>
            <a:pPr lvl="1"/>
            <a:r>
              <a:rPr lang="en-US" b="1" dirty="0"/>
              <a:t>Input</a:t>
            </a:r>
            <a:r>
              <a:rPr lang="en-US" dirty="0"/>
              <a:t>: (</a:t>
            </a:r>
            <a:r>
              <a:rPr lang="en-US" i="1" dirty="0"/>
              <a:t>Clinical Note</a:t>
            </a:r>
            <a:r>
              <a:rPr lang="en-US" dirty="0"/>
              <a:t>, </a:t>
            </a:r>
            <a:r>
              <a:rPr lang="en-US" i="1" dirty="0"/>
              <a:t>Concept Feature</a:t>
            </a:r>
            <a:r>
              <a:rPr lang="en-US" dirty="0"/>
              <a:t>)</a:t>
            </a:r>
          </a:p>
          <a:p>
            <a:pPr lvl="1"/>
            <a:r>
              <a:rPr lang="en-US" b="1" dirty="0"/>
              <a:t>Output</a:t>
            </a:r>
            <a:r>
              <a:rPr lang="en-US" dirty="0"/>
              <a:t>: Either “</a:t>
            </a:r>
            <a:r>
              <a:rPr lang="en-US" i="1" dirty="0"/>
              <a:t>Yes</a:t>
            </a:r>
            <a:r>
              <a:rPr lang="en-US" dirty="0"/>
              <a:t>”, “</a:t>
            </a:r>
            <a:r>
              <a:rPr lang="en-US" i="1" dirty="0"/>
              <a:t>No</a:t>
            </a:r>
            <a:r>
              <a:rPr lang="en-US" dirty="0"/>
              <a:t>” or “</a:t>
            </a:r>
            <a:r>
              <a:rPr lang="en-US" i="1" dirty="0"/>
              <a:t>Uncertain</a:t>
            </a:r>
            <a:r>
              <a:rPr lang="en-US" dirty="0"/>
              <a:t>”</a:t>
            </a:r>
          </a:p>
          <a:p>
            <a:endParaRPr lang="en-US" b="1" dirty="0"/>
          </a:p>
          <a:p>
            <a:r>
              <a:rPr lang="en-US" dirty="0"/>
              <a:t>How do we evaluate the Agreement Model?</a:t>
            </a:r>
          </a:p>
          <a:p>
            <a:pPr lvl="1"/>
            <a:r>
              <a:rPr lang="en-US" dirty="0"/>
              <a:t>Manually annotate a subset of 200 (</a:t>
            </a:r>
            <a:r>
              <a:rPr lang="en-US" i="1" dirty="0"/>
              <a:t>clinical note</a:t>
            </a:r>
            <a:r>
              <a:rPr lang="en-US" dirty="0"/>
              <a:t>, </a:t>
            </a:r>
            <a:r>
              <a:rPr lang="en-US" i="1" dirty="0"/>
              <a:t>concept feature</a:t>
            </a:r>
            <a:r>
              <a:rPr lang="en-US" dirty="0"/>
              <a:t>) pairs</a:t>
            </a:r>
            <a:r>
              <a:rPr lang="en-US" b="1" dirty="0"/>
              <a:t>.</a:t>
            </a:r>
          </a:p>
          <a:p>
            <a:pPr lvl="2"/>
            <a:r>
              <a:rPr lang="en-US" dirty="0"/>
              <a:t>10 random </a:t>
            </a:r>
            <a:r>
              <a:rPr lang="en-US" i="1" dirty="0"/>
              <a:t>concept features</a:t>
            </a:r>
            <a:r>
              <a:rPr lang="en-US" dirty="0"/>
              <a:t> with 20 </a:t>
            </a:r>
            <a:r>
              <a:rPr lang="en-US" i="1" dirty="0"/>
              <a:t>clinical notes</a:t>
            </a:r>
            <a:r>
              <a:rPr lang="en-US" dirty="0"/>
              <a:t> each.</a:t>
            </a:r>
          </a:p>
          <a:p>
            <a:pPr lvl="1"/>
            <a:endParaRPr lang="en-US" b="1" dirty="0"/>
          </a:p>
        </p:txBody>
      </p:sp>
      <p:sp>
        <p:nvSpPr>
          <p:cNvPr id="9" name="Slide Number Placeholder 8">
            <a:extLst>
              <a:ext uri="{FF2B5EF4-FFF2-40B4-BE49-F238E27FC236}">
                <a16:creationId xmlns:a16="http://schemas.microsoft.com/office/drawing/2014/main" id="{53CA3B7C-589C-E41E-5B8D-1B8A9966DA20}"/>
              </a:ext>
            </a:extLst>
          </p:cNvPr>
          <p:cNvSpPr>
            <a:spLocks noGrp="1"/>
          </p:cNvSpPr>
          <p:nvPr>
            <p:ph type="sldNum" sz="quarter" idx="12"/>
          </p:nvPr>
        </p:nvSpPr>
        <p:spPr/>
        <p:txBody>
          <a:bodyPr/>
          <a:lstStyle/>
          <a:p>
            <a:fld id="{BDA8D12A-5188-A74B-8183-7E806E12A340}" type="slidenum">
              <a:rPr lang="en-US" smtClean="0"/>
              <a:t>48</a:t>
            </a:fld>
            <a:endParaRPr lang="en-US"/>
          </a:p>
        </p:txBody>
      </p:sp>
    </p:spTree>
    <p:extLst>
      <p:ext uri="{BB962C8B-B14F-4D97-AF65-F5344CB8AC3E}">
        <p14:creationId xmlns:p14="http://schemas.microsoft.com/office/powerpoint/2010/main" val="14259673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6D483-566E-C4BD-B8CD-04D15F514AD4}"/>
              </a:ext>
            </a:extLst>
          </p:cNvPr>
          <p:cNvSpPr>
            <a:spLocks noGrp="1"/>
          </p:cNvSpPr>
          <p:nvPr>
            <p:ph type="title"/>
          </p:nvPr>
        </p:nvSpPr>
        <p:spPr>
          <a:xfrm>
            <a:off x="707840" y="324669"/>
            <a:ext cx="10515600" cy="1325563"/>
          </a:xfrm>
        </p:spPr>
        <p:txBody>
          <a:bodyPr>
            <a:normAutofit/>
          </a:bodyPr>
          <a:lstStyle/>
          <a:p>
            <a:r>
              <a:rPr lang="en-US" sz="3800" dirty="0"/>
              <a:t>Agreement Model: Example Input and Output</a:t>
            </a:r>
          </a:p>
        </p:txBody>
      </p:sp>
      <p:sp>
        <p:nvSpPr>
          <p:cNvPr id="7" name="TextBox 6">
            <a:extLst>
              <a:ext uri="{FF2B5EF4-FFF2-40B4-BE49-F238E27FC236}">
                <a16:creationId xmlns:a16="http://schemas.microsoft.com/office/drawing/2014/main" id="{5D689EE0-B892-E58E-9113-042BD3BE9EDB}"/>
              </a:ext>
            </a:extLst>
          </p:cNvPr>
          <p:cNvSpPr txBox="1"/>
          <p:nvPr/>
        </p:nvSpPr>
        <p:spPr>
          <a:xfrm>
            <a:off x="219549" y="1650232"/>
            <a:ext cx="7530730" cy="4693593"/>
          </a:xfrm>
          <a:prstGeom prst="rect">
            <a:avLst/>
          </a:prstGeom>
          <a:solidFill>
            <a:schemeClr val="accent1">
              <a:lumMod val="60000"/>
              <a:lumOff val="40000"/>
            </a:schemeClr>
          </a:solidFill>
          <a:ln>
            <a:solidFill>
              <a:schemeClr val="accent1">
                <a:shade val="15000"/>
              </a:schemeClr>
            </a:solidFill>
          </a:ln>
          <a:effectLst>
            <a:outerShdw blurRad="63500" sx="102000" sy="102000" algn="ctr" rotWithShape="0">
              <a:prstClr val="black">
                <a:alpha val="40000"/>
              </a:prstClr>
            </a:outerShdw>
          </a:effectLst>
        </p:spPr>
        <p:txBody>
          <a:bodyPr wrap="square" rtlCol="0">
            <a:spAutoFit/>
          </a:bodyPr>
          <a:lstStyle/>
          <a:p>
            <a:r>
              <a:rPr lang="en-US" sz="1300" dirty="0"/>
              <a:t>Admission Date:  [**2158-1-29**]  Discharge Date:   [**2158-2-3**]  Date of Birth:  [**2083-9-9**]  Sex:   M</a:t>
            </a:r>
          </a:p>
          <a:p>
            <a:r>
              <a:rPr lang="en-US" sz="1300" dirty="0"/>
              <a:t>Service: MEDICINE     Allergies: Patient recorded as having No Known Allergies to Drugs</a:t>
            </a:r>
          </a:p>
          <a:p>
            <a:r>
              <a:rPr lang="en-US" sz="1300" dirty="0"/>
              <a:t>Attending:[**First Name3 (LF) 1055**]</a:t>
            </a:r>
          </a:p>
          <a:p>
            <a:r>
              <a:rPr lang="en-US" sz="1300" dirty="0"/>
              <a:t>Chief Complaint: cough and congestion</a:t>
            </a:r>
          </a:p>
          <a:p>
            <a:r>
              <a:rPr lang="en-US" sz="1300" dirty="0"/>
              <a:t>History of Present Illness: 73 year-old man with history of stomach/bladder cancer s/p recent chemo at [**Hospital1 1474**] VA, DM, CAD </a:t>
            </a:r>
            <a:r>
              <a:rPr lang="en-US" sz="1300" dirty="0" err="1"/>
              <a:t>presentes</a:t>
            </a:r>
            <a:r>
              <a:rPr lang="en-US" sz="1300" dirty="0"/>
              <a:t> wit 2-3 days of productive cough with green sputum and sob with exertion, fatigue and lethargy.  Per girlfriend, patient had decreased PO intake and mild confusion during that time.  Patient with witnessed fall day prior to admission without head trauma. Patient denied dysuria, fevers, frequency.  In ER patient noted to have bilateral pneumonia, UTI, hyperglycemia.  Patient was started on insulin drip, IVF </a:t>
            </a:r>
            <a:r>
              <a:rPr lang="en-US" sz="1300" dirty="0" err="1"/>
              <a:t>levaquin</a:t>
            </a:r>
            <a:r>
              <a:rPr lang="en-US" sz="1300" dirty="0"/>
              <a:t> and transferred to the ICU for management of hyperosmolar ketoacidosis.  No recent med changes.</a:t>
            </a:r>
          </a:p>
          <a:p>
            <a:r>
              <a:rPr lang="en-US" sz="1300" dirty="0"/>
              <a:t>Past Medical History: bladder ca stomach ca DM2 on insulin CAD s/p MI recent admit for chemo </a:t>
            </a:r>
            <a:r>
              <a:rPr lang="en-US" sz="1300" dirty="0" err="1"/>
              <a:t>tx</a:t>
            </a:r>
            <a:r>
              <a:rPr lang="en-US" sz="1300" dirty="0"/>
              <a:t> 6 weeks ago impotence MRSA HTN anemia lacunar CVA CRF glaucoma cognitive decline urinary incontinence, chronic</a:t>
            </a:r>
          </a:p>
          <a:p>
            <a:r>
              <a:rPr lang="en-US" sz="1300" dirty="0"/>
              <a:t>Social History: history of alcohol abuse in past no drugs, no smoking</a:t>
            </a:r>
          </a:p>
          <a:p>
            <a:r>
              <a:rPr lang="en-US" sz="1300" dirty="0"/>
              <a:t>Physical Exam:</a:t>
            </a:r>
          </a:p>
          <a:p>
            <a:r>
              <a:rPr lang="en-US" sz="1300" dirty="0"/>
              <a:t>VS: temp: 102.4  bp: 170/91 HR: 93 RR: 20 99% rm air, general: somnolent but AAOx3, HEENT: MMM, no JVD, no Virchow's node, no nuchal rigidity, neuro: CNII-XII intact, [**6-1**] </a:t>
            </a:r>
            <a:r>
              <a:rPr lang="en-US" sz="1300" dirty="0" err="1"/>
              <a:t>stregnth</a:t>
            </a:r>
            <a:r>
              <a:rPr lang="en-US" sz="1300" dirty="0"/>
              <a:t> in upper extremities, DTR’s intact</a:t>
            </a:r>
          </a:p>
          <a:p>
            <a:r>
              <a:rPr lang="en-US" sz="1300" dirty="0"/>
              <a:t>Pertinent Results: Admit labs: [**2158-1-29**] 12:12AM   WBC-9.5 RBC-2.85* HGB-8.5* HCT-27.3* MCV-96</a:t>
            </a:r>
          </a:p>
          <a:p>
            <a:r>
              <a:rPr lang="en-US" sz="1300" dirty="0"/>
              <a:t>…………</a:t>
            </a:r>
          </a:p>
          <a:p>
            <a:r>
              <a:rPr lang="en-US" sz="1300" dirty="0" err="1"/>
              <a:t>Followup</a:t>
            </a:r>
            <a:r>
              <a:rPr lang="en-US" sz="1300" dirty="0"/>
              <a:t> Instructions:</a:t>
            </a:r>
          </a:p>
          <a:p>
            <a:r>
              <a:rPr lang="en-US" sz="1300" dirty="0"/>
              <a:t>Please follow-up with your primary care physician [**Last Name (NamePattern4) **] [**1-29**] weeks.</a:t>
            </a:r>
          </a:p>
          <a:p>
            <a:endParaRPr lang="en-US" sz="1300" dirty="0"/>
          </a:p>
        </p:txBody>
      </p:sp>
      <p:sp>
        <p:nvSpPr>
          <p:cNvPr id="10" name="Rounded Rectangle 9">
            <a:extLst>
              <a:ext uri="{FF2B5EF4-FFF2-40B4-BE49-F238E27FC236}">
                <a16:creationId xmlns:a16="http://schemas.microsoft.com/office/drawing/2014/main" id="{0218A5FA-9A0C-13BE-6E18-5552296A2182}"/>
              </a:ext>
            </a:extLst>
          </p:cNvPr>
          <p:cNvSpPr/>
          <p:nvPr/>
        </p:nvSpPr>
        <p:spPr>
          <a:xfrm>
            <a:off x="7817710" y="1650232"/>
            <a:ext cx="4262511" cy="520504"/>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Does the patient exhibit confusion?</a:t>
            </a:r>
          </a:p>
        </p:txBody>
      </p:sp>
      <p:sp>
        <p:nvSpPr>
          <p:cNvPr id="11" name="TextBox 10">
            <a:extLst>
              <a:ext uri="{FF2B5EF4-FFF2-40B4-BE49-F238E27FC236}">
                <a16:creationId xmlns:a16="http://schemas.microsoft.com/office/drawing/2014/main" id="{CE13A197-451F-9B78-EC1F-3C888B55FCBD}"/>
              </a:ext>
            </a:extLst>
          </p:cNvPr>
          <p:cNvSpPr txBox="1"/>
          <p:nvPr/>
        </p:nvSpPr>
        <p:spPr>
          <a:xfrm>
            <a:off x="2998351" y="1299654"/>
            <a:ext cx="1603717" cy="369332"/>
          </a:xfrm>
          <a:prstGeom prst="rect">
            <a:avLst/>
          </a:prstGeom>
          <a:noFill/>
        </p:spPr>
        <p:txBody>
          <a:bodyPr wrap="square" rtlCol="0">
            <a:spAutoFit/>
          </a:bodyPr>
          <a:lstStyle/>
          <a:p>
            <a:r>
              <a:rPr lang="en-US" b="1" dirty="0"/>
              <a:t>CLINICAL NOTE</a:t>
            </a:r>
          </a:p>
        </p:txBody>
      </p:sp>
      <p:sp>
        <p:nvSpPr>
          <p:cNvPr id="12" name="TextBox 11">
            <a:extLst>
              <a:ext uri="{FF2B5EF4-FFF2-40B4-BE49-F238E27FC236}">
                <a16:creationId xmlns:a16="http://schemas.microsoft.com/office/drawing/2014/main" id="{57250F9F-41B6-3DD1-4469-9850991A2407}"/>
              </a:ext>
            </a:extLst>
          </p:cNvPr>
          <p:cNvSpPr txBox="1"/>
          <p:nvPr/>
        </p:nvSpPr>
        <p:spPr>
          <a:xfrm>
            <a:off x="8919839" y="1286430"/>
            <a:ext cx="2085451" cy="369332"/>
          </a:xfrm>
          <a:prstGeom prst="rect">
            <a:avLst/>
          </a:prstGeom>
          <a:noFill/>
        </p:spPr>
        <p:txBody>
          <a:bodyPr wrap="square" rtlCol="0">
            <a:spAutoFit/>
          </a:bodyPr>
          <a:lstStyle/>
          <a:p>
            <a:r>
              <a:rPr lang="en-US" b="1" dirty="0"/>
              <a:t>CONCEPT FEATURE</a:t>
            </a:r>
          </a:p>
        </p:txBody>
      </p:sp>
      <p:sp>
        <p:nvSpPr>
          <p:cNvPr id="3" name="TextBox 2">
            <a:extLst>
              <a:ext uri="{FF2B5EF4-FFF2-40B4-BE49-F238E27FC236}">
                <a16:creationId xmlns:a16="http://schemas.microsoft.com/office/drawing/2014/main" id="{0D785BD9-6BBC-41C0-62FC-5FE97A5B73E8}"/>
              </a:ext>
            </a:extLst>
          </p:cNvPr>
          <p:cNvSpPr txBox="1"/>
          <p:nvPr/>
        </p:nvSpPr>
        <p:spPr>
          <a:xfrm>
            <a:off x="9427427" y="3313416"/>
            <a:ext cx="1033755" cy="365765"/>
          </a:xfrm>
          <a:prstGeom prst="rect">
            <a:avLst/>
          </a:prstGeom>
          <a:noFill/>
        </p:spPr>
        <p:txBody>
          <a:bodyPr wrap="square" rtlCol="0">
            <a:spAutoFit/>
          </a:bodyPr>
          <a:lstStyle/>
          <a:p>
            <a:r>
              <a:rPr lang="en-US" b="1" dirty="0"/>
              <a:t>OUTPUT</a:t>
            </a:r>
          </a:p>
        </p:txBody>
      </p:sp>
      <p:sp>
        <p:nvSpPr>
          <p:cNvPr id="4" name="Oval 3">
            <a:extLst>
              <a:ext uri="{FF2B5EF4-FFF2-40B4-BE49-F238E27FC236}">
                <a16:creationId xmlns:a16="http://schemas.microsoft.com/office/drawing/2014/main" id="{F62E3F81-635D-23DA-C8E2-30D8E4510548}"/>
              </a:ext>
            </a:extLst>
          </p:cNvPr>
          <p:cNvSpPr/>
          <p:nvPr/>
        </p:nvSpPr>
        <p:spPr>
          <a:xfrm>
            <a:off x="7996129" y="4342416"/>
            <a:ext cx="708773" cy="71252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Yes</a:t>
            </a:r>
          </a:p>
        </p:txBody>
      </p:sp>
      <p:sp>
        <p:nvSpPr>
          <p:cNvPr id="5" name="Oval 4">
            <a:extLst>
              <a:ext uri="{FF2B5EF4-FFF2-40B4-BE49-F238E27FC236}">
                <a16:creationId xmlns:a16="http://schemas.microsoft.com/office/drawing/2014/main" id="{23ADEB17-A2B4-9311-89DF-46FCC1437B80}"/>
              </a:ext>
            </a:extLst>
          </p:cNvPr>
          <p:cNvSpPr/>
          <p:nvPr/>
        </p:nvSpPr>
        <p:spPr>
          <a:xfrm>
            <a:off x="9003630" y="4438424"/>
            <a:ext cx="1881351" cy="520504"/>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Uncertain</a:t>
            </a:r>
          </a:p>
        </p:txBody>
      </p:sp>
      <p:sp>
        <p:nvSpPr>
          <p:cNvPr id="6" name="Oval 5">
            <a:extLst>
              <a:ext uri="{FF2B5EF4-FFF2-40B4-BE49-F238E27FC236}">
                <a16:creationId xmlns:a16="http://schemas.microsoft.com/office/drawing/2014/main" id="{61E38359-91D5-D0A2-B9DF-96551AC543C0}"/>
              </a:ext>
            </a:extLst>
          </p:cNvPr>
          <p:cNvSpPr/>
          <p:nvPr/>
        </p:nvSpPr>
        <p:spPr>
          <a:xfrm>
            <a:off x="11183709" y="4342416"/>
            <a:ext cx="708773" cy="71252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a:t>
            </a:r>
          </a:p>
        </p:txBody>
      </p:sp>
      <p:cxnSp>
        <p:nvCxnSpPr>
          <p:cNvPr id="15" name="Straight Arrow Connector 14">
            <a:extLst>
              <a:ext uri="{FF2B5EF4-FFF2-40B4-BE49-F238E27FC236}">
                <a16:creationId xmlns:a16="http://schemas.microsoft.com/office/drawing/2014/main" id="{F56EC3C8-DBDB-10A7-A5A3-2EEDEC9B60E1}"/>
              </a:ext>
            </a:extLst>
          </p:cNvPr>
          <p:cNvCxnSpPr>
            <a:cxnSpLocks/>
            <a:stCxn id="3" idx="2"/>
          </p:cNvCxnSpPr>
          <p:nvPr/>
        </p:nvCxnSpPr>
        <p:spPr>
          <a:xfrm flipH="1">
            <a:off x="8481169" y="3679181"/>
            <a:ext cx="1463136" cy="580107"/>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2B6A76D-D9F8-E6E1-00E0-9521F4A8CF96}"/>
              </a:ext>
            </a:extLst>
          </p:cNvPr>
          <p:cNvCxnSpPr>
            <a:cxnSpLocks/>
            <a:stCxn id="3" idx="2"/>
          </p:cNvCxnSpPr>
          <p:nvPr/>
        </p:nvCxnSpPr>
        <p:spPr>
          <a:xfrm>
            <a:off x="9944305" y="3679181"/>
            <a:ext cx="0" cy="663235"/>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7EED724-4AA1-2C5A-415E-4AFC46935CEA}"/>
              </a:ext>
            </a:extLst>
          </p:cNvPr>
          <p:cNvCxnSpPr>
            <a:cxnSpLocks/>
            <a:stCxn id="3" idx="2"/>
          </p:cNvCxnSpPr>
          <p:nvPr/>
        </p:nvCxnSpPr>
        <p:spPr>
          <a:xfrm>
            <a:off x="9944305" y="3679181"/>
            <a:ext cx="1457554" cy="580107"/>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Slide Number Placeholder 27">
            <a:extLst>
              <a:ext uri="{FF2B5EF4-FFF2-40B4-BE49-F238E27FC236}">
                <a16:creationId xmlns:a16="http://schemas.microsoft.com/office/drawing/2014/main" id="{BD12909C-FBFE-2B4A-1B27-4E25DECAEEDC}"/>
              </a:ext>
            </a:extLst>
          </p:cNvPr>
          <p:cNvSpPr>
            <a:spLocks noGrp="1"/>
          </p:cNvSpPr>
          <p:nvPr>
            <p:ph type="sldNum" sz="quarter" idx="12"/>
          </p:nvPr>
        </p:nvSpPr>
        <p:spPr/>
        <p:txBody>
          <a:bodyPr/>
          <a:lstStyle/>
          <a:p>
            <a:fld id="{BDA8D12A-5188-A74B-8183-7E806E12A340}" type="slidenum">
              <a:rPr lang="en-US" smtClean="0"/>
              <a:t>49</a:t>
            </a:fld>
            <a:endParaRPr lang="en-US"/>
          </a:p>
        </p:txBody>
      </p:sp>
    </p:spTree>
    <p:extLst>
      <p:ext uri="{BB962C8B-B14F-4D97-AF65-F5344CB8AC3E}">
        <p14:creationId xmlns:p14="http://schemas.microsoft.com/office/powerpoint/2010/main" val="12377220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6D483-566E-C4BD-B8CD-04D15F514AD4}"/>
              </a:ext>
            </a:extLst>
          </p:cNvPr>
          <p:cNvSpPr>
            <a:spLocks noGrp="1"/>
          </p:cNvSpPr>
          <p:nvPr>
            <p:ph type="title"/>
          </p:nvPr>
        </p:nvSpPr>
        <p:spPr>
          <a:xfrm>
            <a:off x="707840" y="324669"/>
            <a:ext cx="10515600" cy="1325563"/>
          </a:xfrm>
        </p:spPr>
        <p:txBody>
          <a:bodyPr>
            <a:normAutofit/>
          </a:bodyPr>
          <a:lstStyle/>
          <a:p>
            <a:r>
              <a:rPr lang="en-US" sz="3800" dirty="0"/>
              <a:t>Agreement Model: Example Input and Output</a:t>
            </a:r>
          </a:p>
        </p:txBody>
      </p:sp>
      <p:sp>
        <p:nvSpPr>
          <p:cNvPr id="7" name="TextBox 6">
            <a:extLst>
              <a:ext uri="{FF2B5EF4-FFF2-40B4-BE49-F238E27FC236}">
                <a16:creationId xmlns:a16="http://schemas.microsoft.com/office/drawing/2014/main" id="{5D689EE0-B892-E58E-9113-042BD3BE9EDB}"/>
              </a:ext>
            </a:extLst>
          </p:cNvPr>
          <p:cNvSpPr txBox="1"/>
          <p:nvPr/>
        </p:nvSpPr>
        <p:spPr>
          <a:xfrm>
            <a:off x="219549" y="1650232"/>
            <a:ext cx="7530730" cy="4693593"/>
          </a:xfrm>
          <a:prstGeom prst="rect">
            <a:avLst/>
          </a:prstGeom>
          <a:solidFill>
            <a:schemeClr val="accent1">
              <a:lumMod val="60000"/>
              <a:lumOff val="40000"/>
            </a:schemeClr>
          </a:solidFill>
          <a:ln>
            <a:solidFill>
              <a:schemeClr val="accent1">
                <a:shade val="15000"/>
              </a:schemeClr>
            </a:solidFill>
          </a:ln>
          <a:effectLst>
            <a:outerShdw blurRad="63500" sx="102000" sy="102000" algn="ctr" rotWithShape="0">
              <a:prstClr val="black">
                <a:alpha val="40000"/>
              </a:prstClr>
            </a:outerShdw>
          </a:effectLst>
        </p:spPr>
        <p:txBody>
          <a:bodyPr wrap="square" rtlCol="0">
            <a:spAutoFit/>
          </a:bodyPr>
          <a:lstStyle/>
          <a:p>
            <a:r>
              <a:rPr lang="en-US" sz="1300" dirty="0">
                <a:solidFill>
                  <a:schemeClr val="bg2">
                    <a:lumMod val="50000"/>
                  </a:schemeClr>
                </a:solidFill>
              </a:rPr>
              <a:t>Admission Date:  [**2158-1-29**]  Discharge Date:   [**2158-2-3**]  Date of Birth:  [**2083-9-9**]  Sex:   M</a:t>
            </a:r>
          </a:p>
          <a:p>
            <a:r>
              <a:rPr lang="en-US" sz="1300" dirty="0">
                <a:solidFill>
                  <a:schemeClr val="bg2">
                    <a:lumMod val="50000"/>
                  </a:schemeClr>
                </a:solidFill>
              </a:rPr>
              <a:t>Service: MEDICINE     Allergies: Patient recorded as having No Known Allergies to Drugs</a:t>
            </a:r>
          </a:p>
          <a:p>
            <a:r>
              <a:rPr lang="en-US" sz="1300" dirty="0">
                <a:solidFill>
                  <a:schemeClr val="bg2">
                    <a:lumMod val="50000"/>
                  </a:schemeClr>
                </a:solidFill>
              </a:rPr>
              <a:t>Attending:[**First Name3 (LF) 1055**]</a:t>
            </a:r>
          </a:p>
          <a:p>
            <a:r>
              <a:rPr lang="en-US" sz="1300" dirty="0">
                <a:solidFill>
                  <a:schemeClr val="bg2">
                    <a:lumMod val="50000"/>
                  </a:schemeClr>
                </a:solidFill>
              </a:rPr>
              <a:t>Chief Complaint: cough and congestion</a:t>
            </a:r>
          </a:p>
          <a:p>
            <a:r>
              <a:rPr lang="en-US" sz="1300" dirty="0">
                <a:solidFill>
                  <a:schemeClr val="bg2">
                    <a:lumMod val="50000"/>
                  </a:schemeClr>
                </a:solidFill>
              </a:rPr>
              <a:t>History of Present Illness: 73 year-old man with history of stomach/bladder cancer s/p recent chemo at [**Hospital1 1474**] VA, DM, CAD </a:t>
            </a:r>
            <a:r>
              <a:rPr lang="en-US" sz="1300" dirty="0" err="1">
                <a:solidFill>
                  <a:schemeClr val="bg2">
                    <a:lumMod val="50000"/>
                  </a:schemeClr>
                </a:solidFill>
              </a:rPr>
              <a:t>presentes</a:t>
            </a:r>
            <a:r>
              <a:rPr lang="en-US" sz="1300" dirty="0">
                <a:solidFill>
                  <a:schemeClr val="bg2">
                    <a:lumMod val="50000"/>
                  </a:schemeClr>
                </a:solidFill>
              </a:rPr>
              <a:t> wit 2-3 days of productive cough with green sputum and sob with exertion, fatigue and lethargy.  </a:t>
            </a:r>
            <a:r>
              <a:rPr lang="en-US" sz="1300" dirty="0"/>
              <a:t>Per girlfriend, patient had decreased PO intake and mild confusion during that time.  </a:t>
            </a:r>
            <a:r>
              <a:rPr lang="en-US" sz="1300" dirty="0">
                <a:solidFill>
                  <a:schemeClr val="bg2">
                    <a:lumMod val="50000"/>
                  </a:schemeClr>
                </a:solidFill>
              </a:rPr>
              <a:t>Patient with witnessed fall day prior to admission without head trauma. Patient denied dysuria, fevers, frequency.  In ER patient noted to have bilateral pneumonia, UTI, hyperglycemia.  Patient was started on insulin drip, IVF </a:t>
            </a:r>
            <a:r>
              <a:rPr lang="en-US" sz="1300" dirty="0" err="1">
                <a:solidFill>
                  <a:schemeClr val="bg2">
                    <a:lumMod val="50000"/>
                  </a:schemeClr>
                </a:solidFill>
              </a:rPr>
              <a:t>levaquin</a:t>
            </a:r>
            <a:r>
              <a:rPr lang="en-US" sz="1300" dirty="0">
                <a:solidFill>
                  <a:schemeClr val="bg2">
                    <a:lumMod val="50000"/>
                  </a:schemeClr>
                </a:solidFill>
              </a:rPr>
              <a:t> and transferred to the ICU for management of hyperosmolar ketoacidosis.  No recent med changes.</a:t>
            </a:r>
          </a:p>
          <a:p>
            <a:r>
              <a:rPr lang="en-US" sz="1300" dirty="0">
                <a:solidFill>
                  <a:schemeClr val="bg2">
                    <a:lumMod val="50000"/>
                  </a:schemeClr>
                </a:solidFill>
              </a:rPr>
              <a:t>Past Medical History: bladder ca stomach ca DM2 on insulin CAD s/p MI recent admit for chemo </a:t>
            </a:r>
            <a:r>
              <a:rPr lang="en-US" sz="1300" dirty="0" err="1">
                <a:solidFill>
                  <a:schemeClr val="bg2">
                    <a:lumMod val="50000"/>
                  </a:schemeClr>
                </a:solidFill>
              </a:rPr>
              <a:t>tx</a:t>
            </a:r>
            <a:r>
              <a:rPr lang="en-US" sz="1300" dirty="0">
                <a:solidFill>
                  <a:schemeClr val="bg2">
                    <a:lumMod val="50000"/>
                  </a:schemeClr>
                </a:solidFill>
              </a:rPr>
              <a:t> 6 weeks ago impotence MRSA HTN anemia lacunar CVA CRF glaucoma cognitive decline urinary incontinence, chronic</a:t>
            </a:r>
          </a:p>
          <a:p>
            <a:r>
              <a:rPr lang="en-US" sz="1300" dirty="0">
                <a:solidFill>
                  <a:schemeClr val="bg2">
                    <a:lumMod val="50000"/>
                  </a:schemeClr>
                </a:solidFill>
              </a:rPr>
              <a:t>Social History: history of alcohol abuse in past no drugs, no smoking</a:t>
            </a:r>
          </a:p>
          <a:p>
            <a:r>
              <a:rPr lang="en-US" sz="1300" dirty="0">
                <a:solidFill>
                  <a:schemeClr val="bg2">
                    <a:lumMod val="50000"/>
                  </a:schemeClr>
                </a:solidFill>
              </a:rPr>
              <a:t>Physical Exam:</a:t>
            </a:r>
          </a:p>
          <a:p>
            <a:r>
              <a:rPr lang="en-US" sz="1300" dirty="0">
                <a:solidFill>
                  <a:schemeClr val="bg2">
                    <a:lumMod val="50000"/>
                  </a:schemeClr>
                </a:solidFill>
              </a:rPr>
              <a:t>VS: temp: 102.4  bp: 170/91 HR: 93 RR: 20 99% rm air, general: somnolent but AAOx3, HEENT: MMM, no JVD, no Virchow's node, no nuchal rigidity, neuro: CNII-XII intact, [**6-1**] </a:t>
            </a:r>
            <a:r>
              <a:rPr lang="en-US" sz="1300" dirty="0" err="1">
                <a:solidFill>
                  <a:schemeClr val="bg2">
                    <a:lumMod val="50000"/>
                  </a:schemeClr>
                </a:solidFill>
              </a:rPr>
              <a:t>stregnth</a:t>
            </a:r>
            <a:r>
              <a:rPr lang="en-US" sz="1300" dirty="0">
                <a:solidFill>
                  <a:schemeClr val="bg2">
                    <a:lumMod val="50000"/>
                  </a:schemeClr>
                </a:solidFill>
              </a:rPr>
              <a:t> in upper extremities, DTR’s intact</a:t>
            </a:r>
          </a:p>
          <a:p>
            <a:r>
              <a:rPr lang="en-US" sz="1300" dirty="0">
                <a:solidFill>
                  <a:schemeClr val="bg2">
                    <a:lumMod val="50000"/>
                  </a:schemeClr>
                </a:solidFill>
              </a:rPr>
              <a:t>Pertinent Results: Admit labs: [**2158-1-29**] 12:12AM   WBC-9.5 RBC-2.85* HGB-8.5* HCT-27.3* MCV-96</a:t>
            </a:r>
          </a:p>
          <a:p>
            <a:r>
              <a:rPr lang="en-US" sz="1300" dirty="0">
                <a:solidFill>
                  <a:schemeClr val="bg2">
                    <a:lumMod val="50000"/>
                  </a:schemeClr>
                </a:solidFill>
              </a:rPr>
              <a:t>…………</a:t>
            </a:r>
          </a:p>
          <a:p>
            <a:r>
              <a:rPr lang="en-US" sz="1300" dirty="0" err="1">
                <a:solidFill>
                  <a:schemeClr val="bg2">
                    <a:lumMod val="50000"/>
                  </a:schemeClr>
                </a:solidFill>
              </a:rPr>
              <a:t>Followup</a:t>
            </a:r>
            <a:r>
              <a:rPr lang="en-US" sz="1300" dirty="0">
                <a:solidFill>
                  <a:schemeClr val="bg2">
                    <a:lumMod val="50000"/>
                  </a:schemeClr>
                </a:solidFill>
              </a:rPr>
              <a:t> Instructions:</a:t>
            </a:r>
          </a:p>
          <a:p>
            <a:r>
              <a:rPr lang="en-US" sz="1300" dirty="0">
                <a:solidFill>
                  <a:schemeClr val="bg2">
                    <a:lumMod val="50000"/>
                  </a:schemeClr>
                </a:solidFill>
              </a:rPr>
              <a:t>Please follow-up with your primary care physician [**Last Name (NamePattern4) **] [**1-29**] weeks.</a:t>
            </a:r>
          </a:p>
          <a:p>
            <a:endParaRPr lang="en-US" sz="1300" dirty="0"/>
          </a:p>
        </p:txBody>
      </p:sp>
      <p:sp>
        <p:nvSpPr>
          <p:cNvPr id="10" name="Rounded Rectangle 9">
            <a:extLst>
              <a:ext uri="{FF2B5EF4-FFF2-40B4-BE49-F238E27FC236}">
                <a16:creationId xmlns:a16="http://schemas.microsoft.com/office/drawing/2014/main" id="{0218A5FA-9A0C-13BE-6E18-5552296A2182}"/>
              </a:ext>
            </a:extLst>
          </p:cNvPr>
          <p:cNvSpPr/>
          <p:nvPr/>
        </p:nvSpPr>
        <p:spPr>
          <a:xfrm>
            <a:off x="7817710" y="1650232"/>
            <a:ext cx="4262511" cy="520504"/>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Does the patient exhibit confusion?</a:t>
            </a:r>
          </a:p>
        </p:txBody>
      </p:sp>
      <p:sp>
        <p:nvSpPr>
          <p:cNvPr id="11" name="TextBox 10">
            <a:extLst>
              <a:ext uri="{FF2B5EF4-FFF2-40B4-BE49-F238E27FC236}">
                <a16:creationId xmlns:a16="http://schemas.microsoft.com/office/drawing/2014/main" id="{CE13A197-451F-9B78-EC1F-3C888B55FCBD}"/>
              </a:ext>
            </a:extLst>
          </p:cNvPr>
          <p:cNvSpPr txBox="1"/>
          <p:nvPr/>
        </p:nvSpPr>
        <p:spPr>
          <a:xfrm>
            <a:off x="2998351" y="1299654"/>
            <a:ext cx="1603717" cy="369332"/>
          </a:xfrm>
          <a:prstGeom prst="rect">
            <a:avLst/>
          </a:prstGeom>
          <a:noFill/>
        </p:spPr>
        <p:txBody>
          <a:bodyPr wrap="square" rtlCol="0">
            <a:spAutoFit/>
          </a:bodyPr>
          <a:lstStyle/>
          <a:p>
            <a:r>
              <a:rPr lang="en-US" b="1" dirty="0"/>
              <a:t>CLINICAL NOTE</a:t>
            </a:r>
          </a:p>
        </p:txBody>
      </p:sp>
      <p:sp>
        <p:nvSpPr>
          <p:cNvPr id="12" name="TextBox 11">
            <a:extLst>
              <a:ext uri="{FF2B5EF4-FFF2-40B4-BE49-F238E27FC236}">
                <a16:creationId xmlns:a16="http://schemas.microsoft.com/office/drawing/2014/main" id="{57250F9F-41B6-3DD1-4469-9850991A2407}"/>
              </a:ext>
            </a:extLst>
          </p:cNvPr>
          <p:cNvSpPr txBox="1"/>
          <p:nvPr/>
        </p:nvSpPr>
        <p:spPr>
          <a:xfrm>
            <a:off x="8919839" y="1286430"/>
            <a:ext cx="2085451" cy="369332"/>
          </a:xfrm>
          <a:prstGeom prst="rect">
            <a:avLst/>
          </a:prstGeom>
          <a:noFill/>
        </p:spPr>
        <p:txBody>
          <a:bodyPr wrap="square" rtlCol="0">
            <a:spAutoFit/>
          </a:bodyPr>
          <a:lstStyle/>
          <a:p>
            <a:r>
              <a:rPr lang="en-US" b="1" dirty="0"/>
              <a:t>CONCEPT FEATURE</a:t>
            </a:r>
          </a:p>
        </p:txBody>
      </p:sp>
      <p:sp>
        <p:nvSpPr>
          <p:cNvPr id="3" name="TextBox 2">
            <a:extLst>
              <a:ext uri="{FF2B5EF4-FFF2-40B4-BE49-F238E27FC236}">
                <a16:creationId xmlns:a16="http://schemas.microsoft.com/office/drawing/2014/main" id="{0D785BD9-6BBC-41C0-62FC-5FE97A5B73E8}"/>
              </a:ext>
            </a:extLst>
          </p:cNvPr>
          <p:cNvSpPr txBox="1"/>
          <p:nvPr/>
        </p:nvSpPr>
        <p:spPr>
          <a:xfrm>
            <a:off x="9427427" y="3313416"/>
            <a:ext cx="1033755" cy="365765"/>
          </a:xfrm>
          <a:prstGeom prst="rect">
            <a:avLst/>
          </a:prstGeom>
          <a:noFill/>
        </p:spPr>
        <p:txBody>
          <a:bodyPr wrap="square" rtlCol="0">
            <a:spAutoFit/>
          </a:bodyPr>
          <a:lstStyle/>
          <a:p>
            <a:r>
              <a:rPr lang="en-US" b="1" dirty="0"/>
              <a:t>OUTPUT</a:t>
            </a:r>
          </a:p>
        </p:txBody>
      </p:sp>
      <p:sp>
        <p:nvSpPr>
          <p:cNvPr id="4" name="Oval 3">
            <a:extLst>
              <a:ext uri="{FF2B5EF4-FFF2-40B4-BE49-F238E27FC236}">
                <a16:creationId xmlns:a16="http://schemas.microsoft.com/office/drawing/2014/main" id="{F62E3F81-635D-23DA-C8E2-30D8E4510548}"/>
              </a:ext>
            </a:extLst>
          </p:cNvPr>
          <p:cNvSpPr/>
          <p:nvPr/>
        </p:nvSpPr>
        <p:spPr>
          <a:xfrm>
            <a:off x="7996129" y="4342416"/>
            <a:ext cx="708773" cy="71252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Yes</a:t>
            </a:r>
          </a:p>
        </p:txBody>
      </p:sp>
      <p:cxnSp>
        <p:nvCxnSpPr>
          <p:cNvPr id="15" name="Straight Arrow Connector 14">
            <a:extLst>
              <a:ext uri="{FF2B5EF4-FFF2-40B4-BE49-F238E27FC236}">
                <a16:creationId xmlns:a16="http://schemas.microsoft.com/office/drawing/2014/main" id="{F56EC3C8-DBDB-10A7-A5A3-2EEDEC9B60E1}"/>
              </a:ext>
            </a:extLst>
          </p:cNvPr>
          <p:cNvCxnSpPr>
            <a:cxnSpLocks/>
            <a:stCxn id="3" idx="2"/>
          </p:cNvCxnSpPr>
          <p:nvPr/>
        </p:nvCxnSpPr>
        <p:spPr>
          <a:xfrm flipH="1">
            <a:off x="8481169" y="3679181"/>
            <a:ext cx="1463136" cy="580107"/>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ounded Rectangle 7">
            <a:extLst>
              <a:ext uri="{FF2B5EF4-FFF2-40B4-BE49-F238E27FC236}">
                <a16:creationId xmlns:a16="http://schemas.microsoft.com/office/drawing/2014/main" id="{757EDEA6-27C0-1700-8A85-525B8E3DB4A4}"/>
              </a:ext>
            </a:extLst>
          </p:cNvPr>
          <p:cNvSpPr/>
          <p:nvPr/>
        </p:nvSpPr>
        <p:spPr>
          <a:xfrm>
            <a:off x="152118" y="2861642"/>
            <a:ext cx="7665592" cy="451774"/>
          </a:xfrm>
          <a:prstGeom prst="roundRect">
            <a:avLst/>
          </a:prstGeom>
          <a:noFill/>
          <a:ln w="317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807E3E3B-8CF8-6D91-C286-FCB7FFA72787}"/>
              </a:ext>
            </a:extLst>
          </p:cNvPr>
          <p:cNvSpPr>
            <a:spLocks noGrp="1"/>
          </p:cNvSpPr>
          <p:nvPr>
            <p:ph type="sldNum" sz="quarter" idx="12"/>
          </p:nvPr>
        </p:nvSpPr>
        <p:spPr/>
        <p:txBody>
          <a:bodyPr/>
          <a:lstStyle/>
          <a:p>
            <a:fld id="{BDA8D12A-5188-A74B-8183-7E806E12A340}" type="slidenum">
              <a:rPr lang="en-US" smtClean="0"/>
              <a:t>50</a:t>
            </a:fld>
            <a:endParaRPr lang="en-US"/>
          </a:p>
        </p:txBody>
      </p:sp>
    </p:spTree>
    <p:extLst>
      <p:ext uri="{BB962C8B-B14F-4D97-AF65-F5344CB8AC3E}">
        <p14:creationId xmlns:p14="http://schemas.microsoft.com/office/powerpoint/2010/main" val="23920726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D75DA-F8F7-0A17-214B-7ED0CBB73037}"/>
              </a:ext>
            </a:extLst>
          </p:cNvPr>
          <p:cNvSpPr>
            <a:spLocks noGrp="1"/>
          </p:cNvSpPr>
          <p:nvPr>
            <p:ph type="title"/>
          </p:nvPr>
        </p:nvSpPr>
        <p:spPr/>
        <p:txBody>
          <a:bodyPr>
            <a:normAutofit/>
          </a:bodyPr>
          <a:lstStyle/>
          <a:p>
            <a:r>
              <a:rPr lang="en-US" sz="3800" dirty="0"/>
              <a:t>Agreement Model Approaches</a:t>
            </a:r>
          </a:p>
        </p:txBody>
      </p:sp>
      <p:sp>
        <p:nvSpPr>
          <p:cNvPr id="3" name="Content Placeholder 2">
            <a:extLst>
              <a:ext uri="{FF2B5EF4-FFF2-40B4-BE49-F238E27FC236}">
                <a16:creationId xmlns:a16="http://schemas.microsoft.com/office/drawing/2014/main" id="{957410E3-912C-7713-5476-069DD83EED30}"/>
              </a:ext>
            </a:extLst>
          </p:cNvPr>
          <p:cNvSpPr>
            <a:spLocks noGrp="1"/>
          </p:cNvSpPr>
          <p:nvPr>
            <p:ph idx="1"/>
          </p:nvPr>
        </p:nvSpPr>
        <p:spPr/>
        <p:txBody>
          <a:bodyPr/>
          <a:lstStyle/>
          <a:p>
            <a:r>
              <a:rPr lang="en-US" dirty="0"/>
              <a:t>Three different agreement model approaches:</a:t>
            </a:r>
          </a:p>
          <a:p>
            <a:endParaRPr lang="en-US" dirty="0"/>
          </a:p>
          <a:p>
            <a:pPr lvl="1"/>
            <a:r>
              <a:rPr lang="en-US" dirty="0"/>
              <a:t>GPT-4 (Closed Source)</a:t>
            </a:r>
          </a:p>
          <a:p>
            <a:pPr lvl="1"/>
            <a:endParaRPr lang="en-US" dirty="0"/>
          </a:p>
          <a:p>
            <a:pPr lvl="1"/>
            <a:r>
              <a:rPr lang="en-US" dirty="0"/>
              <a:t>Llama 2 (Open Source)</a:t>
            </a:r>
          </a:p>
          <a:p>
            <a:pPr lvl="1"/>
            <a:endParaRPr lang="en-US" dirty="0"/>
          </a:p>
          <a:p>
            <a:pPr lvl="1"/>
            <a:r>
              <a:rPr lang="en-US" dirty="0"/>
              <a:t>GPT-4 with Text Embeddings (Closed Source)</a:t>
            </a:r>
          </a:p>
          <a:p>
            <a:pPr lvl="1"/>
            <a:endParaRPr lang="en-US" dirty="0"/>
          </a:p>
          <a:p>
            <a:pPr lvl="1"/>
            <a:endParaRPr lang="en-US" dirty="0"/>
          </a:p>
          <a:p>
            <a:pPr lvl="1"/>
            <a:endParaRPr lang="en-US" dirty="0"/>
          </a:p>
          <a:p>
            <a:endParaRPr lang="en-US" dirty="0"/>
          </a:p>
        </p:txBody>
      </p:sp>
      <p:sp>
        <p:nvSpPr>
          <p:cNvPr id="9" name="Slide Number Placeholder 8">
            <a:extLst>
              <a:ext uri="{FF2B5EF4-FFF2-40B4-BE49-F238E27FC236}">
                <a16:creationId xmlns:a16="http://schemas.microsoft.com/office/drawing/2014/main" id="{D5B186F2-9A6D-8334-0347-D19305712706}"/>
              </a:ext>
            </a:extLst>
          </p:cNvPr>
          <p:cNvSpPr>
            <a:spLocks noGrp="1"/>
          </p:cNvSpPr>
          <p:nvPr>
            <p:ph type="sldNum" sz="quarter" idx="12"/>
          </p:nvPr>
        </p:nvSpPr>
        <p:spPr/>
        <p:txBody>
          <a:bodyPr/>
          <a:lstStyle/>
          <a:p>
            <a:fld id="{BDA8D12A-5188-A74B-8183-7E806E12A340}" type="slidenum">
              <a:rPr lang="en-US" smtClean="0"/>
              <a:t>51</a:t>
            </a:fld>
            <a:endParaRPr lang="en-US"/>
          </a:p>
        </p:txBody>
      </p:sp>
    </p:spTree>
    <p:extLst>
      <p:ext uri="{BB962C8B-B14F-4D97-AF65-F5344CB8AC3E}">
        <p14:creationId xmlns:p14="http://schemas.microsoft.com/office/powerpoint/2010/main" val="40681490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6EF48-72A0-9FA6-2C0B-87715524FDC4}"/>
              </a:ext>
            </a:extLst>
          </p:cNvPr>
          <p:cNvSpPr>
            <a:spLocks noGrp="1"/>
          </p:cNvSpPr>
          <p:nvPr>
            <p:ph type="title"/>
          </p:nvPr>
        </p:nvSpPr>
        <p:spPr/>
        <p:txBody>
          <a:bodyPr>
            <a:normAutofit/>
          </a:bodyPr>
          <a:lstStyle/>
          <a:p>
            <a:r>
              <a:rPr lang="en-US" sz="3800" dirty="0"/>
              <a:t>Input for GPT-4 as Agreement Model</a:t>
            </a:r>
          </a:p>
        </p:txBody>
      </p:sp>
      <p:sp>
        <p:nvSpPr>
          <p:cNvPr id="4" name="Rounded Rectangle 3">
            <a:extLst>
              <a:ext uri="{FF2B5EF4-FFF2-40B4-BE49-F238E27FC236}">
                <a16:creationId xmlns:a16="http://schemas.microsoft.com/office/drawing/2014/main" id="{94D75EFB-78AD-151D-60DA-C797F484C770}"/>
              </a:ext>
            </a:extLst>
          </p:cNvPr>
          <p:cNvSpPr/>
          <p:nvPr/>
        </p:nvSpPr>
        <p:spPr>
          <a:xfrm>
            <a:off x="1214679" y="1823379"/>
            <a:ext cx="9762641" cy="1580827"/>
          </a:xfrm>
          <a:prstGeom prst="roundRect">
            <a:avLst/>
          </a:prstGeom>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t>You are a clinical research assistant. For the given clinical note, answer the question ("Concept Question") provided in the dictionary. Use "Definition", "Possible Responses", "Response Guide" and "Additional Response" to help better answer the question. Your response should be of the following format:</a:t>
            </a:r>
          </a:p>
          <a:p>
            <a:r>
              <a:rPr lang="en-US" sz="1600" dirty="0"/>
              <a:t>{"Response": Either 'Yes', 'No' or 'Uncertain',</a:t>
            </a:r>
          </a:p>
          <a:p>
            <a:r>
              <a:rPr lang="en-US" sz="1600" dirty="0"/>
              <a:t> "Supporting Information": If "Response" is either "Yes" or "Uncertain", provide supporting sentences from the clinical note. If "Response" is 'No', this should be "None"}</a:t>
            </a:r>
          </a:p>
        </p:txBody>
      </p:sp>
      <p:sp>
        <p:nvSpPr>
          <p:cNvPr id="5" name="TextBox 4">
            <a:extLst>
              <a:ext uri="{FF2B5EF4-FFF2-40B4-BE49-F238E27FC236}">
                <a16:creationId xmlns:a16="http://schemas.microsoft.com/office/drawing/2014/main" id="{DCE608E6-C5A2-0FF8-7AAC-E8FC95328CFB}"/>
              </a:ext>
            </a:extLst>
          </p:cNvPr>
          <p:cNvSpPr txBox="1"/>
          <p:nvPr/>
        </p:nvSpPr>
        <p:spPr>
          <a:xfrm>
            <a:off x="4556502" y="1361714"/>
            <a:ext cx="2541722" cy="461665"/>
          </a:xfrm>
          <a:prstGeom prst="rect">
            <a:avLst/>
          </a:prstGeom>
          <a:noFill/>
        </p:spPr>
        <p:txBody>
          <a:bodyPr wrap="square" rtlCol="0">
            <a:spAutoFit/>
          </a:bodyPr>
          <a:lstStyle/>
          <a:p>
            <a:r>
              <a:rPr lang="en-US" sz="2400" b="1" dirty="0"/>
              <a:t>System Prompt</a:t>
            </a:r>
          </a:p>
        </p:txBody>
      </p:sp>
      <p:sp>
        <p:nvSpPr>
          <p:cNvPr id="6" name="Rounded Rectangle 5">
            <a:extLst>
              <a:ext uri="{FF2B5EF4-FFF2-40B4-BE49-F238E27FC236}">
                <a16:creationId xmlns:a16="http://schemas.microsoft.com/office/drawing/2014/main" id="{073731B6-B56A-32D5-1497-80F8B4B3A478}"/>
              </a:ext>
            </a:extLst>
          </p:cNvPr>
          <p:cNvSpPr/>
          <p:nvPr/>
        </p:nvSpPr>
        <p:spPr>
          <a:xfrm>
            <a:off x="579248" y="3874576"/>
            <a:ext cx="3543301" cy="2774197"/>
          </a:xfrm>
          <a:prstGeom prst="roundRect">
            <a:avLst/>
          </a:prstGeom>
          <a:solidFill>
            <a:schemeClr val="accent6">
              <a:lumMod val="75000"/>
            </a:schemeClr>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Clinical Note</a:t>
            </a:r>
          </a:p>
        </p:txBody>
      </p:sp>
      <p:sp>
        <p:nvSpPr>
          <p:cNvPr id="7" name="TextBox 6">
            <a:extLst>
              <a:ext uri="{FF2B5EF4-FFF2-40B4-BE49-F238E27FC236}">
                <a16:creationId xmlns:a16="http://schemas.microsoft.com/office/drawing/2014/main" id="{121F0722-A0DC-D7A2-BAD1-1C830333CB67}"/>
              </a:ext>
            </a:extLst>
          </p:cNvPr>
          <p:cNvSpPr txBox="1"/>
          <p:nvPr/>
        </p:nvSpPr>
        <p:spPr>
          <a:xfrm>
            <a:off x="1307668" y="3432875"/>
            <a:ext cx="2086460" cy="461665"/>
          </a:xfrm>
          <a:prstGeom prst="rect">
            <a:avLst/>
          </a:prstGeom>
          <a:noFill/>
        </p:spPr>
        <p:txBody>
          <a:bodyPr wrap="square" rtlCol="0">
            <a:spAutoFit/>
          </a:bodyPr>
          <a:lstStyle/>
          <a:p>
            <a:r>
              <a:rPr lang="en-US" sz="2400" b="1" dirty="0"/>
              <a:t>Chat History</a:t>
            </a:r>
          </a:p>
        </p:txBody>
      </p:sp>
      <p:sp>
        <p:nvSpPr>
          <p:cNvPr id="8" name="Rounded Rectangle 7">
            <a:extLst>
              <a:ext uri="{FF2B5EF4-FFF2-40B4-BE49-F238E27FC236}">
                <a16:creationId xmlns:a16="http://schemas.microsoft.com/office/drawing/2014/main" id="{ED133982-EA5E-F0CF-AFAD-F5F1A30452C8}"/>
              </a:ext>
            </a:extLst>
          </p:cNvPr>
          <p:cNvSpPr/>
          <p:nvPr/>
        </p:nvSpPr>
        <p:spPr>
          <a:xfrm>
            <a:off x="6927744" y="4034792"/>
            <a:ext cx="3161654" cy="2103304"/>
          </a:xfrm>
          <a:prstGeom prst="roundRect">
            <a:avLst/>
          </a:prstGeom>
          <a:solidFill>
            <a:schemeClr val="accent2"/>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Feature Name: &lt;&gt;</a:t>
            </a:r>
          </a:p>
          <a:p>
            <a:r>
              <a:rPr lang="en-US" dirty="0"/>
              <a:t>Concept Question: &lt;&gt;</a:t>
            </a:r>
          </a:p>
          <a:p>
            <a:r>
              <a:rPr lang="en-US" dirty="0"/>
              <a:t>Definition: &lt;&gt;</a:t>
            </a:r>
          </a:p>
          <a:p>
            <a:r>
              <a:rPr lang="en-US" dirty="0"/>
              <a:t>Possible Responses: &lt;&gt;</a:t>
            </a:r>
          </a:p>
          <a:p>
            <a:r>
              <a:rPr lang="en-US" dirty="0"/>
              <a:t>Response Guide: &lt;&gt;</a:t>
            </a:r>
          </a:p>
          <a:p>
            <a:endParaRPr lang="en-US" dirty="0"/>
          </a:p>
        </p:txBody>
      </p:sp>
      <p:sp>
        <p:nvSpPr>
          <p:cNvPr id="9" name="TextBox 8">
            <a:extLst>
              <a:ext uri="{FF2B5EF4-FFF2-40B4-BE49-F238E27FC236}">
                <a16:creationId xmlns:a16="http://schemas.microsoft.com/office/drawing/2014/main" id="{2656AA06-71F4-7AEB-9B64-80B6451731D8}"/>
              </a:ext>
            </a:extLst>
          </p:cNvPr>
          <p:cNvSpPr txBox="1"/>
          <p:nvPr/>
        </p:nvSpPr>
        <p:spPr>
          <a:xfrm>
            <a:off x="7754644" y="3643743"/>
            <a:ext cx="2086460" cy="461665"/>
          </a:xfrm>
          <a:prstGeom prst="rect">
            <a:avLst/>
          </a:prstGeom>
          <a:noFill/>
        </p:spPr>
        <p:txBody>
          <a:bodyPr wrap="square" rtlCol="0">
            <a:spAutoFit/>
          </a:bodyPr>
          <a:lstStyle/>
          <a:p>
            <a:r>
              <a:rPr lang="en-US" sz="2400" b="1" dirty="0"/>
              <a:t>User Message</a:t>
            </a:r>
          </a:p>
        </p:txBody>
      </p:sp>
      <p:sp>
        <p:nvSpPr>
          <p:cNvPr id="14" name="Slide Number Placeholder 13">
            <a:extLst>
              <a:ext uri="{FF2B5EF4-FFF2-40B4-BE49-F238E27FC236}">
                <a16:creationId xmlns:a16="http://schemas.microsoft.com/office/drawing/2014/main" id="{7F714749-FB58-7E55-1C21-DC09ED1EB5B8}"/>
              </a:ext>
            </a:extLst>
          </p:cNvPr>
          <p:cNvSpPr>
            <a:spLocks noGrp="1"/>
          </p:cNvSpPr>
          <p:nvPr>
            <p:ph type="sldNum" sz="quarter" idx="12"/>
          </p:nvPr>
        </p:nvSpPr>
        <p:spPr/>
        <p:txBody>
          <a:bodyPr/>
          <a:lstStyle/>
          <a:p>
            <a:fld id="{BDA8D12A-5188-A74B-8183-7E806E12A340}" type="slidenum">
              <a:rPr lang="en-US" smtClean="0"/>
              <a:t>52</a:t>
            </a:fld>
            <a:endParaRPr lang="en-US"/>
          </a:p>
        </p:txBody>
      </p:sp>
    </p:spTree>
    <p:extLst>
      <p:ext uri="{BB962C8B-B14F-4D97-AF65-F5344CB8AC3E}">
        <p14:creationId xmlns:p14="http://schemas.microsoft.com/office/powerpoint/2010/main" val="23037051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82ADDBF4-7036-E62B-A036-AF5D2C966D7A}"/>
              </a:ext>
            </a:extLst>
          </p:cNvPr>
          <p:cNvSpPr/>
          <p:nvPr/>
        </p:nvSpPr>
        <p:spPr>
          <a:xfrm>
            <a:off x="1236133" y="1710266"/>
            <a:ext cx="10018793" cy="4893448"/>
          </a:xfrm>
          <a:prstGeom prst="roundRect">
            <a:avLst/>
          </a:prstGeom>
          <a:solidFill>
            <a:schemeClr val="accent2"/>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t>"</a:t>
            </a:r>
            <a:r>
              <a:rPr lang="en-US" sz="1600" b="1" dirty="0"/>
              <a:t>Feature Name</a:t>
            </a:r>
            <a:r>
              <a:rPr lang="en-US" sz="1600" dirty="0"/>
              <a:t>": "Binswanger's disease",</a:t>
            </a:r>
          </a:p>
          <a:p>
            <a:endParaRPr lang="en-US" sz="1600" dirty="0"/>
          </a:p>
          <a:p>
            <a:r>
              <a:rPr lang="en-US" sz="1600" dirty="0"/>
              <a:t>"</a:t>
            </a:r>
            <a:r>
              <a:rPr lang="en-US" sz="1600" b="1" dirty="0"/>
              <a:t>Concept Question</a:t>
            </a:r>
            <a:r>
              <a:rPr lang="en-US" sz="1600" dirty="0"/>
              <a:t>": "Can the following sentence be inferred from the clinical note?: 'The patient exhibits Binswanger's disease.’”,</a:t>
            </a:r>
          </a:p>
          <a:p>
            <a:endParaRPr lang="en-US" sz="1600" dirty="0"/>
          </a:p>
          <a:p>
            <a:r>
              <a:rPr lang="en-US" sz="1600" dirty="0"/>
              <a:t>"</a:t>
            </a:r>
            <a:r>
              <a:rPr lang="en-US" sz="1600" b="1" dirty="0"/>
              <a:t>Definition</a:t>
            </a:r>
            <a:r>
              <a:rPr lang="en-US" sz="1600" dirty="0"/>
              <a:t>": "Binswanger's disease, also known as subcortical vascular dementia, in a clinical setting refers to a form of dementia caused by damage to the white matter of the brain resulting from chronic, small blood vessel disease. The damage leads to progressive memory loss, decline in cognitive skills, and changes in mood or behavior. It is often associated with hypertension, diabetes, and other risk factors for vascular disease. Symptoms can also include slow, unsteady gait, urinary symptoms, and mood changes. Although the disease is progressive, managing the underlying vascular conditions can help slow its progress.",</a:t>
            </a:r>
          </a:p>
          <a:p>
            <a:endParaRPr lang="en-US" sz="1600" dirty="0"/>
          </a:p>
          <a:p>
            <a:r>
              <a:rPr lang="en-US" sz="1600" dirty="0"/>
              <a:t>"</a:t>
            </a:r>
            <a:r>
              <a:rPr lang="en-US" sz="1600" b="1" dirty="0"/>
              <a:t>Possible Responses</a:t>
            </a:r>
            <a:r>
              <a:rPr lang="en-US" sz="1600" dirty="0"/>
              <a:t>": "Yes, No, Uncertain",</a:t>
            </a:r>
          </a:p>
          <a:p>
            <a:endParaRPr lang="en-US" sz="1600" dirty="0"/>
          </a:p>
          <a:p>
            <a:r>
              <a:rPr lang="en-US" sz="1600" dirty="0"/>
              <a:t>"</a:t>
            </a:r>
            <a:r>
              <a:rPr lang="en-US" sz="1600" b="1" dirty="0"/>
              <a:t>Response Guide</a:t>
            </a:r>
            <a:r>
              <a:rPr lang="en-US" sz="1600" dirty="0"/>
              <a:t>": "Yes: The clinical note explicitly mentions that the patient has the clinical feature.\</a:t>
            </a:r>
            <a:r>
              <a:rPr lang="en-US" sz="1600" dirty="0" err="1"/>
              <a:t>nNo</a:t>
            </a:r>
            <a:r>
              <a:rPr lang="en-US" sz="1600" dirty="0"/>
              <a:t>: The clinical note does not explicitly mention that the patient has the clinical feature and there is also no information that might suggest the patient has the clinical feature.\</a:t>
            </a:r>
            <a:r>
              <a:rPr lang="en-US" sz="1600" dirty="0" err="1"/>
              <a:t>nUncertain</a:t>
            </a:r>
            <a:r>
              <a:rPr lang="en-US" sz="1600" dirty="0"/>
              <a:t>: The clinical note contains some information that might suggest the patient has the clinical feature (through correlations), but it is not explicitly stated."</a:t>
            </a:r>
          </a:p>
        </p:txBody>
      </p:sp>
      <p:sp>
        <p:nvSpPr>
          <p:cNvPr id="2" name="Title 1">
            <a:extLst>
              <a:ext uri="{FF2B5EF4-FFF2-40B4-BE49-F238E27FC236}">
                <a16:creationId xmlns:a16="http://schemas.microsoft.com/office/drawing/2014/main" id="{2DA38118-98FE-1B1E-6E3B-FCEA50AF445F}"/>
              </a:ext>
            </a:extLst>
          </p:cNvPr>
          <p:cNvSpPr>
            <a:spLocks noGrp="1"/>
          </p:cNvSpPr>
          <p:nvPr>
            <p:ph type="title"/>
          </p:nvPr>
        </p:nvSpPr>
        <p:spPr>
          <a:xfrm>
            <a:off x="838200" y="365125"/>
            <a:ext cx="10515600" cy="1325563"/>
          </a:xfrm>
        </p:spPr>
        <p:txBody>
          <a:bodyPr>
            <a:normAutofit/>
          </a:bodyPr>
          <a:lstStyle/>
          <a:p>
            <a:r>
              <a:rPr lang="en-US" sz="3800" dirty="0"/>
              <a:t>Input for GPT-4 as Agreement Model</a:t>
            </a:r>
          </a:p>
        </p:txBody>
      </p:sp>
      <p:sp>
        <p:nvSpPr>
          <p:cNvPr id="9" name="Slide Number Placeholder 8">
            <a:extLst>
              <a:ext uri="{FF2B5EF4-FFF2-40B4-BE49-F238E27FC236}">
                <a16:creationId xmlns:a16="http://schemas.microsoft.com/office/drawing/2014/main" id="{629E3E78-12BC-9320-8D11-05B52DA69C49}"/>
              </a:ext>
            </a:extLst>
          </p:cNvPr>
          <p:cNvSpPr>
            <a:spLocks noGrp="1"/>
          </p:cNvSpPr>
          <p:nvPr>
            <p:ph type="sldNum" sz="quarter" idx="12"/>
          </p:nvPr>
        </p:nvSpPr>
        <p:spPr/>
        <p:txBody>
          <a:bodyPr/>
          <a:lstStyle/>
          <a:p>
            <a:fld id="{BDA8D12A-5188-A74B-8183-7E806E12A340}" type="slidenum">
              <a:rPr lang="en-US" smtClean="0"/>
              <a:t>53</a:t>
            </a:fld>
            <a:endParaRPr lang="en-US"/>
          </a:p>
        </p:txBody>
      </p:sp>
    </p:spTree>
    <p:extLst>
      <p:ext uri="{BB962C8B-B14F-4D97-AF65-F5344CB8AC3E}">
        <p14:creationId xmlns:p14="http://schemas.microsoft.com/office/powerpoint/2010/main" val="17283877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34524-5D87-08A6-3367-F69E9F49D091}"/>
              </a:ext>
            </a:extLst>
          </p:cNvPr>
          <p:cNvSpPr>
            <a:spLocks noGrp="1"/>
          </p:cNvSpPr>
          <p:nvPr>
            <p:ph type="title"/>
          </p:nvPr>
        </p:nvSpPr>
        <p:spPr/>
        <p:txBody>
          <a:bodyPr>
            <a:normAutofit/>
          </a:bodyPr>
          <a:lstStyle/>
          <a:p>
            <a:r>
              <a:rPr lang="en-US" sz="3800" dirty="0"/>
              <a:t>GPT-4 as Agreement Model: Results</a:t>
            </a:r>
          </a:p>
        </p:txBody>
      </p:sp>
      <p:graphicFrame>
        <p:nvGraphicFramePr>
          <p:cNvPr id="4" name="Content Placeholder 3">
            <a:extLst>
              <a:ext uri="{FF2B5EF4-FFF2-40B4-BE49-F238E27FC236}">
                <a16:creationId xmlns:a16="http://schemas.microsoft.com/office/drawing/2014/main" id="{C8867A0F-F08F-FADD-1D64-A91D54E09E8D}"/>
              </a:ext>
            </a:extLst>
          </p:cNvPr>
          <p:cNvGraphicFramePr>
            <a:graphicFrameLocks noGrp="1"/>
          </p:cNvGraphicFramePr>
          <p:nvPr>
            <p:ph idx="1"/>
            <p:extLst>
              <p:ext uri="{D42A27DB-BD31-4B8C-83A1-F6EECF244321}">
                <p14:modId xmlns:p14="http://schemas.microsoft.com/office/powerpoint/2010/main" val="3040907243"/>
              </p:ext>
            </p:extLst>
          </p:nvPr>
        </p:nvGraphicFramePr>
        <p:xfrm>
          <a:off x="6096000" y="1945640"/>
          <a:ext cx="5630333" cy="1483360"/>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1989667">
                  <a:extLst>
                    <a:ext uri="{9D8B030D-6E8A-4147-A177-3AD203B41FA5}">
                      <a16:colId xmlns:a16="http://schemas.microsoft.com/office/drawing/2014/main" val="2293845519"/>
                    </a:ext>
                  </a:extLst>
                </a:gridCol>
                <a:gridCol w="1862666">
                  <a:extLst>
                    <a:ext uri="{9D8B030D-6E8A-4147-A177-3AD203B41FA5}">
                      <a16:colId xmlns:a16="http://schemas.microsoft.com/office/drawing/2014/main" val="2067951748"/>
                    </a:ext>
                  </a:extLst>
                </a:gridCol>
                <a:gridCol w="1778000">
                  <a:extLst>
                    <a:ext uri="{9D8B030D-6E8A-4147-A177-3AD203B41FA5}">
                      <a16:colId xmlns:a16="http://schemas.microsoft.com/office/drawing/2014/main" val="3737542418"/>
                    </a:ext>
                  </a:extLst>
                </a:gridCol>
              </a:tblGrid>
              <a:tr h="370840">
                <a:tc>
                  <a:txBody>
                    <a:bodyPr/>
                    <a:lstStyle/>
                    <a:p>
                      <a:r>
                        <a:rPr lang="en-US" dirty="0"/>
                        <a:t>Agreement Model</a:t>
                      </a:r>
                    </a:p>
                  </a:txBody>
                  <a:tcPr/>
                </a:tc>
                <a:tc>
                  <a:txBody>
                    <a:bodyPr/>
                    <a:lstStyle/>
                    <a:p>
                      <a:r>
                        <a:rPr lang="en-US" dirty="0"/>
                        <a:t>Concept Accuracy</a:t>
                      </a:r>
                    </a:p>
                  </a:txBody>
                  <a:tcPr/>
                </a:tc>
                <a:tc>
                  <a:txBody>
                    <a:bodyPr/>
                    <a:lstStyle/>
                    <a:p>
                      <a:r>
                        <a:rPr lang="en-US" dirty="0"/>
                        <a:t>Concept F1</a:t>
                      </a:r>
                    </a:p>
                  </a:txBody>
                  <a:tcPr/>
                </a:tc>
                <a:extLst>
                  <a:ext uri="{0D108BD9-81ED-4DB2-BD59-A6C34878D82A}">
                    <a16:rowId xmlns:a16="http://schemas.microsoft.com/office/drawing/2014/main" val="3241480216"/>
                  </a:ext>
                </a:extLst>
              </a:tr>
              <a:tr h="370840">
                <a:tc>
                  <a:txBody>
                    <a:bodyPr/>
                    <a:lstStyle/>
                    <a:p>
                      <a:r>
                        <a:rPr lang="en-US" dirty="0"/>
                        <a:t>Random Baseline</a:t>
                      </a:r>
                    </a:p>
                  </a:txBody>
                  <a:tcPr/>
                </a:tc>
                <a:tc>
                  <a:txBody>
                    <a:bodyPr/>
                    <a:lstStyle/>
                    <a:p>
                      <a:r>
                        <a:rPr lang="en-US" dirty="0"/>
                        <a:t>0.31</a:t>
                      </a:r>
                    </a:p>
                  </a:txBody>
                  <a:tcPr/>
                </a:tc>
                <a:tc>
                  <a:txBody>
                    <a:bodyPr/>
                    <a:lstStyle/>
                    <a:p>
                      <a:r>
                        <a:rPr lang="en-US" dirty="0"/>
                        <a:t>0.35</a:t>
                      </a:r>
                    </a:p>
                  </a:txBody>
                  <a:tcPr/>
                </a:tc>
                <a:extLst>
                  <a:ext uri="{0D108BD9-81ED-4DB2-BD59-A6C34878D82A}">
                    <a16:rowId xmlns:a16="http://schemas.microsoft.com/office/drawing/2014/main" val="104109052"/>
                  </a:ext>
                </a:extLst>
              </a:tr>
              <a:tr h="370840">
                <a:tc>
                  <a:txBody>
                    <a:bodyPr/>
                    <a:lstStyle/>
                    <a:p>
                      <a:r>
                        <a:rPr lang="en-US" dirty="0"/>
                        <a:t>Majority Baseline</a:t>
                      </a:r>
                    </a:p>
                  </a:txBody>
                  <a:tcPr/>
                </a:tc>
                <a:tc>
                  <a:txBody>
                    <a:bodyPr/>
                    <a:lstStyle/>
                    <a:p>
                      <a:r>
                        <a:rPr lang="en-US" dirty="0"/>
                        <a:t>0.65</a:t>
                      </a:r>
                    </a:p>
                  </a:txBody>
                  <a:tcPr/>
                </a:tc>
                <a:tc>
                  <a:txBody>
                    <a:bodyPr/>
                    <a:lstStyle/>
                    <a:p>
                      <a:r>
                        <a:rPr lang="en-US" dirty="0"/>
                        <a:t>0.51</a:t>
                      </a:r>
                    </a:p>
                  </a:txBody>
                  <a:tcPr/>
                </a:tc>
                <a:extLst>
                  <a:ext uri="{0D108BD9-81ED-4DB2-BD59-A6C34878D82A}">
                    <a16:rowId xmlns:a16="http://schemas.microsoft.com/office/drawing/2014/main" val="979366003"/>
                  </a:ext>
                </a:extLst>
              </a:tr>
              <a:tr h="370840">
                <a:tc>
                  <a:txBody>
                    <a:bodyPr/>
                    <a:lstStyle/>
                    <a:p>
                      <a:r>
                        <a:rPr lang="en-US" b="1" dirty="0"/>
                        <a:t>GPT-4</a:t>
                      </a:r>
                    </a:p>
                  </a:txBody>
                  <a:tcPr/>
                </a:tc>
                <a:tc>
                  <a:txBody>
                    <a:bodyPr/>
                    <a:lstStyle/>
                    <a:p>
                      <a:r>
                        <a:rPr lang="en-US" b="1" dirty="0"/>
                        <a:t>0.86</a:t>
                      </a:r>
                    </a:p>
                  </a:txBody>
                  <a:tcPr/>
                </a:tc>
                <a:tc>
                  <a:txBody>
                    <a:bodyPr/>
                    <a:lstStyle/>
                    <a:p>
                      <a:r>
                        <a:rPr lang="en-US" b="1" dirty="0"/>
                        <a:t>0.84</a:t>
                      </a:r>
                    </a:p>
                  </a:txBody>
                  <a:tcPr/>
                </a:tc>
                <a:extLst>
                  <a:ext uri="{0D108BD9-81ED-4DB2-BD59-A6C34878D82A}">
                    <a16:rowId xmlns:a16="http://schemas.microsoft.com/office/drawing/2014/main" val="2353274869"/>
                  </a:ext>
                </a:extLst>
              </a:tr>
            </a:tbl>
          </a:graphicData>
        </a:graphic>
      </p:graphicFrame>
      <p:sp>
        <p:nvSpPr>
          <p:cNvPr id="7" name="TextBox 6">
            <a:extLst>
              <a:ext uri="{FF2B5EF4-FFF2-40B4-BE49-F238E27FC236}">
                <a16:creationId xmlns:a16="http://schemas.microsoft.com/office/drawing/2014/main" id="{441EEA97-C2D0-4B93-B6CE-2B47C6BF74A7}"/>
              </a:ext>
            </a:extLst>
          </p:cNvPr>
          <p:cNvSpPr txBox="1"/>
          <p:nvPr/>
        </p:nvSpPr>
        <p:spPr>
          <a:xfrm>
            <a:off x="643467" y="1945639"/>
            <a:ext cx="4995333" cy="1200329"/>
          </a:xfrm>
          <a:prstGeom prst="rect">
            <a:avLst/>
          </a:prstGeom>
          <a:noFill/>
        </p:spPr>
        <p:txBody>
          <a:bodyPr wrap="square" rtlCol="0">
            <a:spAutoFit/>
          </a:bodyPr>
          <a:lstStyle/>
          <a:p>
            <a:pPr marL="285750" indent="-285750">
              <a:buFont typeface="Arial" panose="020B0604020202020204" pitchFamily="34" charset="0"/>
              <a:buChar char="•"/>
            </a:pPr>
            <a:r>
              <a:rPr lang="en-US" dirty="0"/>
              <a:t>Dementia dataset: 7,450 patient notes + 254 clinical features.</a:t>
            </a:r>
          </a:p>
          <a:p>
            <a:pPr marL="285750" indent="-285750">
              <a:buFont typeface="Arial" panose="020B0604020202020204" pitchFamily="34" charset="0"/>
              <a:buChar char="•"/>
            </a:pPr>
            <a:r>
              <a:rPr lang="en-US" dirty="0"/>
              <a:t>1.9 million (7,450 x 254) </a:t>
            </a:r>
            <a:r>
              <a:rPr lang="en-US" i="1" dirty="0"/>
              <a:t>patient note</a:t>
            </a:r>
            <a:r>
              <a:rPr lang="en-US" dirty="0"/>
              <a:t> – </a:t>
            </a:r>
            <a:r>
              <a:rPr lang="en-US" i="1" dirty="0"/>
              <a:t>concept feature</a:t>
            </a:r>
            <a:r>
              <a:rPr lang="en-US" dirty="0"/>
              <a:t> pairs containing 7.9 billion tokens.</a:t>
            </a:r>
          </a:p>
        </p:txBody>
      </p:sp>
      <p:sp>
        <p:nvSpPr>
          <p:cNvPr id="8" name="TextBox 7">
            <a:extLst>
              <a:ext uri="{FF2B5EF4-FFF2-40B4-BE49-F238E27FC236}">
                <a16:creationId xmlns:a16="http://schemas.microsoft.com/office/drawing/2014/main" id="{2C379F81-7B83-65F7-5A88-5E3FDEE44E5A}"/>
              </a:ext>
            </a:extLst>
          </p:cNvPr>
          <p:cNvSpPr txBox="1"/>
          <p:nvPr/>
        </p:nvSpPr>
        <p:spPr>
          <a:xfrm>
            <a:off x="643467" y="3524639"/>
            <a:ext cx="9719733" cy="1754326"/>
          </a:xfrm>
          <a:prstGeom prst="rect">
            <a:avLst/>
          </a:prstGeom>
          <a:noFill/>
        </p:spPr>
        <p:txBody>
          <a:bodyPr wrap="square" rtlCol="0">
            <a:spAutoFit/>
          </a:bodyPr>
          <a:lstStyle/>
          <a:p>
            <a:r>
              <a:rPr lang="en-US" dirty="0"/>
              <a:t>Technical Challenges of using GPT-4 to annotate all pairs:</a:t>
            </a:r>
          </a:p>
          <a:p>
            <a:pPr marL="742950" lvl="1" indent="-285750">
              <a:buFont typeface="Arial" panose="020B0604020202020204" pitchFamily="34" charset="0"/>
              <a:buChar char="•"/>
            </a:pPr>
            <a:r>
              <a:rPr lang="en-US" b="1" dirty="0"/>
              <a:t>Time</a:t>
            </a:r>
            <a:r>
              <a:rPr lang="en-US" dirty="0"/>
              <a:t>: It took over 40 days for GPT-4 to annotate all pairs!</a:t>
            </a:r>
          </a:p>
          <a:p>
            <a:pPr marL="742950" lvl="1" indent="-285750">
              <a:buFont typeface="Arial" panose="020B0604020202020204" pitchFamily="34" charset="0"/>
              <a:buChar char="•"/>
            </a:pPr>
            <a:r>
              <a:rPr lang="en-US" b="1" dirty="0"/>
              <a:t>Cost</a:t>
            </a:r>
            <a:r>
              <a:rPr lang="en-US" dirty="0"/>
              <a:t>: The cost of using the synchronous GPT-4 API as of June 2024 for our dataset was $240,540.</a:t>
            </a:r>
            <a:endParaRPr lang="en-US" b="1" dirty="0"/>
          </a:p>
          <a:p>
            <a:pPr marL="1200150" lvl="2" indent="-285750">
              <a:buFont typeface="Arial" panose="020B0604020202020204" pitchFamily="34" charset="0"/>
              <a:buChar char="•"/>
            </a:pPr>
            <a:r>
              <a:rPr lang="en-US" dirty="0"/>
              <a:t>7.9 billion input tokens ($30/1M input tokens)</a:t>
            </a:r>
          </a:p>
          <a:p>
            <a:pPr marL="1200150" lvl="2" indent="-285750">
              <a:buFont typeface="Arial" panose="020B0604020202020204" pitchFamily="34" charset="0"/>
              <a:buChar char="•"/>
            </a:pPr>
            <a:r>
              <a:rPr lang="en-US" dirty="0"/>
              <a:t>59 million output tokens ($60/1M output tokens)</a:t>
            </a:r>
          </a:p>
        </p:txBody>
      </p:sp>
      <p:sp>
        <p:nvSpPr>
          <p:cNvPr id="9" name="TextBox 8">
            <a:extLst>
              <a:ext uri="{FF2B5EF4-FFF2-40B4-BE49-F238E27FC236}">
                <a16:creationId xmlns:a16="http://schemas.microsoft.com/office/drawing/2014/main" id="{C52FE9CD-E337-4524-4FC2-F58612E7C138}"/>
              </a:ext>
            </a:extLst>
          </p:cNvPr>
          <p:cNvSpPr txBox="1"/>
          <p:nvPr/>
        </p:nvSpPr>
        <p:spPr>
          <a:xfrm>
            <a:off x="643467" y="5374604"/>
            <a:ext cx="9618133" cy="923330"/>
          </a:xfrm>
          <a:prstGeom prst="rect">
            <a:avLst/>
          </a:prstGeom>
          <a:noFill/>
        </p:spPr>
        <p:txBody>
          <a:bodyPr wrap="square" rtlCol="0">
            <a:spAutoFit/>
          </a:bodyPr>
          <a:lstStyle/>
          <a:p>
            <a:r>
              <a:rPr lang="en-US" dirty="0"/>
              <a:t>More efficient agreement models?</a:t>
            </a:r>
          </a:p>
          <a:p>
            <a:pPr marL="285750" indent="-285750">
              <a:buFont typeface="Arial" panose="020B0604020202020204" pitchFamily="34" charset="0"/>
              <a:buChar char="•"/>
            </a:pPr>
            <a:r>
              <a:rPr lang="en-US" dirty="0"/>
              <a:t>Open-Source Model: Llama2</a:t>
            </a:r>
          </a:p>
          <a:p>
            <a:pPr marL="285750" indent="-285750">
              <a:buFont typeface="Arial" panose="020B0604020202020204" pitchFamily="34" charset="0"/>
              <a:buChar char="•"/>
            </a:pPr>
            <a:r>
              <a:rPr lang="en-US" dirty="0"/>
              <a:t>GPT4 with Text Embeddings</a:t>
            </a:r>
          </a:p>
        </p:txBody>
      </p:sp>
      <p:sp>
        <p:nvSpPr>
          <p:cNvPr id="3" name="Slide Number Placeholder 2">
            <a:extLst>
              <a:ext uri="{FF2B5EF4-FFF2-40B4-BE49-F238E27FC236}">
                <a16:creationId xmlns:a16="http://schemas.microsoft.com/office/drawing/2014/main" id="{0081131B-7C44-C61A-0BB3-5F22100D5ED4}"/>
              </a:ext>
            </a:extLst>
          </p:cNvPr>
          <p:cNvSpPr>
            <a:spLocks noGrp="1"/>
          </p:cNvSpPr>
          <p:nvPr>
            <p:ph type="sldNum" sz="quarter" idx="12"/>
          </p:nvPr>
        </p:nvSpPr>
        <p:spPr/>
        <p:txBody>
          <a:bodyPr/>
          <a:lstStyle/>
          <a:p>
            <a:fld id="{BDA8D12A-5188-A74B-8183-7E806E12A340}" type="slidenum">
              <a:rPr lang="en-US" smtClean="0"/>
              <a:t>54</a:t>
            </a:fld>
            <a:endParaRPr lang="en-US"/>
          </a:p>
        </p:txBody>
      </p:sp>
    </p:spTree>
    <p:extLst>
      <p:ext uri="{BB962C8B-B14F-4D97-AF65-F5344CB8AC3E}">
        <p14:creationId xmlns:p14="http://schemas.microsoft.com/office/powerpoint/2010/main" val="28493721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4410D-AA02-CCA0-74B8-63CC69AC5E84}"/>
              </a:ext>
            </a:extLst>
          </p:cNvPr>
          <p:cNvSpPr>
            <a:spLocks noGrp="1"/>
          </p:cNvSpPr>
          <p:nvPr>
            <p:ph type="title"/>
          </p:nvPr>
        </p:nvSpPr>
        <p:spPr/>
        <p:txBody>
          <a:bodyPr>
            <a:normAutofit/>
          </a:bodyPr>
          <a:lstStyle/>
          <a:p>
            <a:r>
              <a:rPr lang="en-US" sz="3800" dirty="0"/>
              <a:t>Llama-2 as Agreement Model</a:t>
            </a:r>
          </a:p>
        </p:txBody>
      </p:sp>
      <p:sp>
        <p:nvSpPr>
          <p:cNvPr id="3" name="Content Placeholder 2">
            <a:extLst>
              <a:ext uri="{FF2B5EF4-FFF2-40B4-BE49-F238E27FC236}">
                <a16:creationId xmlns:a16="http://schemas.microsoft.com/office/drawing/2014/main" id="{C274EDBE-CA08-EDD9-6418-826B43505BD8}"/>
              </a:ext>
            </a:extLst>
          </p:cNvPr>
          <p:cNvSpPr>
            <a:spLocks noGrp="1"/>
          </p:cNvSpPr>
          <p:nvPr>
            <p:ph idx="1"/>
          </p:nvPr>
        </p:nvSpPr>
        <p:spPr>
          <a:xfrm>
            <a:off x="838201" y="1825625"/>
            <a:ext cx="11161294" cy="1603375"/>
          </a:xfrm>
        </p:spPr>
        <p:txBody>
          <a:bodyPr>
            <a:normAutofit fontScale="70000" lnSpcReduction="20000"/>
          </a:bodyPr>
          <a:lstStyle/>
          <a:p>
            <a:r>
              <a:rPr lang="en-US" dirty="0"/>
              <a:t>Although GPT-4 performs well across different tasks, high costs and limited accessibility makes it less attainable for individuals and smaller organizations.</a:t>
            </a:r>
          </a:p>
          <a:p>
            <a:r>
              <a:rPr lang="en-US" dirty="0"/>
              <a:t>Finetune Llama-2 using Knowledge Distillation</a:t>
            </a:r>
          </a:p>
          <a:p>
            <a:pPr lvl="1"/>
            <a:r>
              <a:rPr lang="en-US" dirty="0"/>
              <a:t>First, GPT-4 is used to create a training set of 125,000 (</a:t>
            </a:r>
            <a:r>
              <a:rPr lang="en-US" i="1" dirty="0"/>
              <a:t>patient note</a:t>
            </a:r>
            <a:r>
              <a:rPr lang="en-US" dirty="0"/>
              <a:t>, </a:t>
            </a:r>
            <a:r>
              <a:rPr lang="en-US" i="1" dirty="0"/>
              <a:t>clinical feature</a:t>
            </a:r>
            <a:r>
              <a:rPr lang="en-US" dirty="0"/>
              <a:t>) pairs with </a:t>
            </a:r>
            <a:r>
              <a:rPr lang="en-US" i="1" dirty="0"/>
              <a:t>Yes</a:t>
            </a:r>
            <a:r>
              <a:rPr lang="en-US" dirty="0"/>
              <a:t>, </a:t>
            </a:r>
            <a:r>
              <a:rPr lang="en-US" i="1" dirty="0"/>
              <a:t>Uncertain</a:t>
            </a:r>
            <a:r>
              <a:rPr lang="en-US" dirty="0"/>
              <a:t> and </a:t>
            </a:r>
            <a:r>
              <a:rPr lang="en-US" i="1" dirty="0"/>
              <a:t>No</a:t>
            </a:r>
            <a:r>
              <a:rPr lang="en-US" dirty="0"/>
              <a:t> labels.</a:t>
            </a:r>
          </a:p>
          <a:p>
            <a:pPr lvl="1"/>
            <a:r>
              <a:rPr lang="en-US" dirty="0"/>
              <a:t>We finetune a 7B and 13B Llama2 model using </a:t>
            </a:r>
            <a:r>
              <a:rPr lang="en-US" dirty="0" err="1"/>
              <a:t>LoRA</a:t>
            </a:r>
            <a:r>
              <a:rPr lang="en-US" dirty="0"/>
              <a:t>, 4-bit precision and gradient accumulation.</a:t>
            </a:r>
          </a:p>
          <a:p>
            <a:pPr lvl="1"/>
            <a:endParaRPr lang="en-US" dirty="0"/>
          </a:p>
        </p:txBody>
      </p:sp>
      <p:graphicFrame>
        <p:nvGraphicFramePr>
          <p:cNvPr id="4" name="Content Placeholder 3">
            <a:extLst>
              <a:ext uri="{FF2B5EF4-FFF2-40B4-BE49-F238E27FC236}">
                <a16:creationId xmlns:a16="http://schemas.microsoft.com/office/drawing/2014/main" id="{0A01D743-98F7-C4C7-99C3-6C3034E36C9B}"/>
              </a:ext>
            </a:extLst>
          </p:cNvPr>
          <p:cNvGraphicFramePr>
            <a:graphicFrameLocks/>
          </p:cNvGraphicFramePr>
          <p:nvPr>
            <p:extLst>
              <p:ext uri="{D42A27DB-BD31-4B8C-83A1-F6EECF244321}">
                <p14:modId xmlns:p14="http://schemas.microsoft.com/office/powerpoint/2010/main" val="646336133"/>
              </p:ext>
            </p:extLst>
          </p:nvPr>
        </p:nvGraphicFramePr>
        <p:xfrm>
          <a:off x="2901727" y="3429000"/>
          <a:ext cx="6713399" cy="2219960"/>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2702872">
                  <a:extLst>
                    <a:ext uri="{9D8B030D-6E8A-4147-A177-3AD203B41FA5}">
                      <a16:colId xmlns:a16="http://schemas.microsoft.com/office/drawing/2014/main" val="2293845519"/>
                    </a:ext>
                  </a:extLst>
                </a:gridCol>
                <a:gridCol w="2614863">
                  <a:extLst>
                    <a:ext uri="{9D8B030D-6E8A-4147-A177-3AD203B41FA5}">
                      <a16:colId xmlns:a16="http://schemas.microsoft.com/office/drawing/2014/main" val="2067951748"/>
                    </a:ext>
                  </a:extLst>
                </a:gridCol>
                <a:gridCol w="1395664">
                  <a:extLst>
                    <a:ext uri="{9D8B030D-6E8A-4147-A177-3AD203B41FA5}">
                      <a16:colId xmlns:a16="http://schemas.microsoft.com/office/drawing/2014/main" val="3737542418"/>
                    </a:ext>
                  </a:extLst>
                </a:gridCol>
              </a:tblGrid>
              <a:tr h="327259">
                <a:tc>
                  <a:txBody>
                    <a:bodyPr/>
                    <a:lstStyle/>
                    <a:p>
                      <a:r>
                        <a:rPr lang="en-US" dirty="0"/>
                        <a:t>Agreement Model</a:t>
                      </a:r>
                    </a:p>
                  </a:txBody>
                  <a:tcPr/>
                </a:tc>
                <a:tc>
                  <a:txBody>
                    <a:bodyPr/>
                    <a:lstStyle/>
                    <a:p>
                      <a:r>
                        <a:rPr lang="en-US" dirty="0"/>
                        <a:t>Concept Accuracy</a:t>
                      </a:r>
                    </a:p>
                  </a:txBody>
                  <a:tcPr/>
                </a:tc>
                <a:tc>
                  <a:txBody>
                    <a:bodyPr/>
                    <a:lstStyle/>
                    <a:p>
                      <a:r>
                        <a:rPr lang="en-US" dirty="0"/>
                        <a:t>Concept F1</a:t>
                      </a:r>
                    </a:p>
                  </a:txBody>
                  <a:tcPr/>
                </a:tc>
                <a:extLst>
                  <a:ext uri="{0D108BD9-81ED-4DB2-BD59-A6C34878D82A}">
                    <a16:rowId xmlns:a16="http://schemas.microsoft.com/office/drawing/2014/main" val="3241480216"/>
                  </a:ext>
                </a:extLst>
              </a:tr>
              <a:tr h="370840">
                <a:tc>
                  <a:txBody>
                    <a:bodyPr/>
                    <a:lstStyle/>
                    <a:p>
                      <a:r>
                        <a:rPr lang="en-US" dirty="0"/>
                        <a:t>Random Baseline</a:t>
                      </a:r>
                    </a:p>
                  </a:txBody>
                  <a:tcPr/>
                </a:tc>
                <a:tc>
                  <a:txBody>
                    <a:bodyPr/>
                    <a:lstStyle/>
                    <a:p>
                      <a:r>
                        <a:rPr lang="en-US" dirty="0"/>
                        <a:t>0.31</a:t>
                      </a:r>
                    </a:p>
                  </a:txBody>
                  <a:tcPr/>
                </a:tc>
                <a:tc>
                  <a:txBody>
                    <a:bodyPr/>
                    <a:lstStyle/>
                    <a:p>
                      <a:r>
                        <a:rPr lang="en-US" dirty="0"/>
                        <a:t>0.35</a:t>
                      </a:r>
                    </a:p>
                  </a:txBody>
                  <a:tcPr/>
                </a:tc>
                <a:extLst>
                  <a:ext uri="{0D108BD9-81ED-4DB2-BD59-A6C34878D82A}">
                    <a16:rowId xmlns:a16="http://schemas.microsoft.com/office/drawing/2014/main" val="104109052"/>
                  </a:ext>
                </a:extLst>
              </a:tr>
              <a:tr h="370840">
                <a:tc>
                  <a:txBody>
                    <a:bodyPr/>
                    <a:lstStyle/>
                    <a:p>
                      <a:r>
                        <a:rPr lang="en-US" dirty="0"/>
                        <a:t>Majority Baseline</a:t>
                      </a:r>
                    </a:p>
                  </a:txBody>
                  <a:tcPr/>
                </a:tc>
                <a:tc>
                  <a:txBody>
                    <a:bodyPr/>
                    <a:lstStyle/>
                    <a:p>
                      <a:r>
                        <a:rPr lang="en-US" dirty="0"/>
                        <a:t>0.65</a:t>
                      </a:r>
                    </a:p>
                  </a:txBody>
                  <a:tcPr/>
                </a:tc>
                <a:tc>
                  <a:txBody>
                    <a:bodyPr/>
                    <a:lstStyle/>
                    <a:p>
                      <a:r>
                        <a:rPr lang="en-US" dirty="0"/>
                        <a:t>0.51</a:t>
                      </a:r>
                    </a:p>
                  </a:txBody>
                  <a:tcPr/>
                </a:tc>
                <a:extLst>
                  <a:ext uri="{0D108BD9-81ED-4DB2-BD59-A6C34878D82A}">
                    <a16:rowId xmlns:a16="http://schemas.microsoft.com/office/drawing/2014/main" val="979366003"/>
                  </a:ext>
                </a:extLst>
              </a:tr>
              <a:tr h="370840">
                <a:tc>
                  <a:txBody>
                    <a:bodyPr/>
                    <a:lstStyle/>
                    <a:p>
                      <a:r>
                        <a:rPr lang="en-US" b="0" dirty="0"/>
                        <a:t>GPT-4</a:t>
                      </a:r>
                    </a:p>
                  </a:txBody>
                  <a:tcPr/>
                </a:tc>
                <a:tc>
                  <a:txBody>
                    <a:bodyPr/>
                    <a:lstStyle/>
                    <a:p>
                      <a:r>
                        <a:rPr lang="en-US" b="0" dirty="0"/>
                        <a:t>0.86</a:t>
                      </a:r>
                    </a:p>
                  </a:txBody>
                  <a:tcPr/>
                </a:tc>
                <a:tc>
                  <a:txBody>
                    <a:bodyPr/>
                    <a:lstStyle/>
                    <a:p>
                      <a:r>
                        <a:rPr lang="en-US" b="0" dirty="0"/>
                        <a:t>0.84</a:t>
                      </a:r>
                    </a:p>
                  </a:txBody>
                  <a:tcPr/>
                </a:tc>
                <a:extLst>
                  <a:ext uri="{0D108BD9-81ED-4DB2-BD59-A6C34878D82A}">
                    <a16:rowId xmlns:a16="http://schemas.microsoft.com/office/drawing/2014/main" val="2353274869"/>
                  </a:ext>
                </a:extLst>
              </a:tr>
              <a:tr h="370840">
                <a:tc>
                  <a:txBody>
                    <a:bodyPr/>
                    <a:lstStyle/>
                    <a:p>
                      <a:r>
                        <a:rPr lang="en-US" b="1" dirty="0"/>
                        <a:t>Llama2 – 7B</a:t>
                      </a:r>
                    </a:p>
                  </a:txBody>
                  <a:tcPr/>
                </a:tc>
                <a:tc>
                  <a:txBody>
                    <a:bodyPr/>
                    <a:lstStyle/>
                    <a:p>
                      <a:r>
                        <a:rPr lang="en-US" b="1" dirty="0"/>
                        <a:t>0.43</a:t>
                      </a:r>
                    </a:p>
                  </a:txBody>
                  <a:tcPr/>
                </a:tc>
                <a:tc>
                  <a:txBody>
                    <a:bodyPr/>
                    <a:lstStyle/>
                    <a:p>
                      <a:r>
                        <a:rPr lang="en-US" b="1" dirty="0"/>
                        <a:t>0.38</a:t>
                      </a:r>
                    </a:p>
                  </a:txBody>
                  <a:tcPr/>
                </a:tc>
                <a:extLst>
                  <a:ext uri="{0D108BD9-81ED-4DB2-BD59-A6C34878D82A}">
                    <a16:rowId xmlns:a16="http://schemas.microsoft.com/office/drawing/2014/main" val="4202738622"/>
                  </a:ext>
                </a:extLst>
              </a:tr>
              <a:tr h="370840">
                <a:tc>
                  <a:txBody>
                    <a:bodyPr/>
                    <a:lstStyle/>
                    <a:p>
                      <a:r>
                        <a:rPr lang="en-US" b="1" dirty="0"/>
                        <a:t>Llama2 – 13B</a:t>
                      </a:r>
                    </a:p>
                  </a:txBody>
                  <a:tcPr/>
                </a:tc>
                <a:tc>
                  <a:txBody>
                    <a:bodyPr/>
                    <a:lstStyle/>
                    <a:p>
                      <a:r>
                        <a:rPr lang="en-US" b="1" dirty="0"/>
                        <a:t>0.47</a:t>
                      </a:r>
                    </a:p>
                  </a:txBody>
                  <a:tcPr/>
                </a:tc>
                <a:tc>
                  <a:txBody>
                    <a:bodyPr/>
                    <a:lstStyle/>
                    <a:p>
                      <a:r>
                        <a:rPr lang="en-US" b="1" dirty="0"/>
                        <a:t>0.50</a:t>
                      </a:r>
                    </a:p>
                  </a:txBody>
                  <a:tcPr/>
                </a:tc>
                <a:extLst>
                  <a:ext uri="{0D108BD9-81ED-4DB2-BD59-A6C34878D82A}">
                    <a16:rowId xmlns:a16="http://schemas.microsoft.com/office/drawing/2014/main" val="1505498999"/>
                  </a:ext>
                </a:extLst>
              </a:tr>
            </a:tbl>
          </a:graphicData>
        </a:graphic>
      </p:graphicFrame>
      <p:sp>
        <p:nvSpPr>
          <p:cNvPr id="6" name="TextBox 5">
            <a:extLst>
              <a:ext uri="{FF2B5EF4-FFF2-40B4-BE49-F238E27FC236}">
                <a16:creationId xmlns:a16="http://schemas.microsoft.com/office/drawing/2014/main" id="{80B6CF0E-4C7B-0E9C-CA46-D4B9E8A16293}"/>
              </a:ext>
            </a:extLst>
          </p:cNvPr>
          <p:cNvSpPr txBox="1"/>
          <p:nvPr/>
        </p:nvSpPr>
        <p:spPr>
          <a:xfrm>
            <a:off x="947854" y="6010507"/>
            <a:ext cx="5632889" cy="369332"/>
          </a:xfrm>
          <a:prstGeom prst="rect">
            <a:avLst/>
          </a:prstGeom>
          <a:noFill/>
        </p:spPr>
        <p:txBody>
          <a:bodyPr wrap="none" rtlCol="0">
            <a:spAutoFit/>
          </a:bodyPr>
          <a:lstStyle/>
          <a:p>
            <a:r>
              <a:rPr lang="en-US" dirty="0"/>
              <a:t>Can we use the GPT-4 agreement model more efficiently? </a:t>
            </a:r>
          </a:p>
        </p:txBody>
      </p:sp>
      <p:sp>
        <p:nvSpPr>
          <p:cNvPr id="7" name="Slide Number Placeholder 6">
            <a:extLst>
              <a:ext uri="{FF2B5EF4-FFF2-40B4-BE49-F238E27FC236}">
                <a16:creationId xmlns:a16="http://schemas.microsoft.com/office/drawing/2014/main" id="{C92863AB-BBCD-597E-7921-BDD53CD9162D}"/>
              </a:ext>
            </a:extLst>
          </p:cNvPr>
          <p:cNvSpPr>
            <a:spLocks noGrp="1"/>
          </p:cNvSpPr>
          <p:nvPr>
            <p:ph type="sldNum" sz="quarter" idx="12"/>
          </p:nvPr>
        </p:nvSpPr>
        <p:spPr/>
        <p:txBody>
          <a:bodyPr/>
          <a:lstStyle/>
          <a:p>
            <a:fld id="{BDA8D12A-5188-A74B-8183-7E806E12A340}" type="slidenum">
              <a:rPr lang="en-US" smtClean="0"/>
              <a:t>55</a:t>
            </a:fld>
            <a:endParaRPr lang="en-US"/>
          </a:p>
        </p:txBody>
      </p:sp>
    </p:spTree>
    <p:extLst>
      <p:ext uri="{BB962C8B-B14F-4D97-AF65-F5344CB8AC3E}">
        <p14:creationId xmlns:p14="http://schemas.microsoft.com/office/powerpoint/2010/main" val="24837177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0F96F-CC7A-7AAE-FE9E-5DE14F99A1C5}"/>
              </a:ext>
            </a:extLst>
          </p:cNvPr>
          <p:cNvSpPr>
            <a:spLocks noGrp="1"/>
          </p:cNvSpPr>
          <p:nvPr>
            <p:ph type="title"/>
          </p:nvPr>
        </p:nvSpPr>
        <p:spPr/>
        <p:txBody>
          <a:bodyPr>
            <a:normAutofit/>
          </a:bodyPr>
          <a:lstStyle/>
          <a:p>
            <a:r>
              <a:rPr lang="en-US" sz="3800" dirty="0"/>
              <a:t>GPT-4 with Text Embeddings as Agreement Model</a:t>
            </a:r>
          </a:p>
        </p:txBody>
      </p:sp>
      <p:sp>
        <p:nvSpPr>
          <p:cNvPr id="3" name="Content Placeholder 2">
            <a:extLst>
              <a:ext uri="{FF2B5EF4-FFF2-40B4-BE49-F238E27FC236}">
                <a16:creationId xmlns:a16="http://schemas.microsoft.com/office/drawing/2014/main" id="{BACAAD28-B7F7-FB9B-E28E-B76AA9BCD9C3}"/>
              </a:ext>
            </a:extLst>
          </p:cNvPr>
          <p:cNvSpPr>
            <a:spLocks noGrp="1"/>
          </p:cNvSpPr>
          <p:nvPr>
            <p:ph idx="1"/>
          </p:nvPr>
        </p:nvSpPr>
        <p:spPr/>
        <p:txBody>
          <a:bodyPr/>
          <a:lstStyle/>
          <a:p>
            <a:r>
              <a:rPr lang="en-US" dirty="0"/>
              <a:t>Reduce number of (</a:t>
            </a:r>
            <a:r>
              <a:rPr lang="en-US" i="1" dirty="0"/>
              <a:t>patient note, concept feature</a:t>
            </a:r>
            <a:r>
              <a:rPr lang="en-US" dirty="0"/>
              <a:t>) pairs that GPT-4 must label.</a:t>
            </a:r>
          </a:p>
          <a:p>
            <a:pPr marL="0" indent="0">
              <a:buNone/>
            </a:pPr>
            <a:endParaRPr lang="en-US" dirty="0"/>
          </a:p>
          <a:p>
            <a:r>
              <a:rPr lang="en-US" dirty="0"/>
              <a:t>Some concepts are less common than others, occurring in only a fraction of the patient notes.</a:t>
            </a:r>
          </a:p>
          <a:p>
            <a:endParaRPr lang="en-US" dirty="0"/>
          </a:p>
          <a:p>
            <a:r>
              <a:rPr lang="en-US" dirty="0"/>
              <a:t>Text Embeddings </a:t>
            </a:r>
            <a:r>
              <a:rPr lang="en-US" dirty="0">
                <a:sym typeface="Wingdings" pitchFamily="2" charset="2"/>
              </a:rPr>
              <a:t></a:t>
            </a:r>
            <a:r>
              <a:rPr lang="en-US" dirty="0"/>
              <a:t> identify pairs where the </a:t>
            </a:r>
            <a:r>
              <a:rPr lang="en-US" i="1" dirty="0"/>
              <a:t>patient notes </a:t>
            </a:r>
            <a:r>
              <a:rPr lang="en-US" dirty="0"/>
              <a:t>are likely to have the corresponding </a:t>
            </a:r>
            <a:r>
              <a:rPr lang="en-US" i="1" dirty="0"/>
              <a:t>concept feature </a:t>
            </a:r>
            <a:r>
              <a:rPr lang="en-US" dirty="0"/>
              <a:t>activated.</a:t>
            </a:r>
            <a:endParaRPr lang="en-US" i="1" dirty="0"/>
          </a:p>
        </p:txBody>
      </p:sp>
      <p:sp>
        <p:nvSpPr>
          <p:cNvPr id="9" name="Slide Number Placeholder 8">
            <a:extLst>
              <a:ext uri="{FF2B5EF4-FFF2-40B4-BE49-F238E27FC236}">
                <a16:creationId xmlns:a16="http://schemas.microsoft.com/office/drawing/2014/main" id="{D7923769-1DD8-18C6-B084-C5598C053E90}"/>
              </a:ext>
            </a:extLst>
          </p:cNvPr>
          <p:cNvSpPr>
            <a:spLocks noGrp="1"/>
          </p:cNvSpPr>
          <p:nvPr>
            <p:ph type="sldNum" sz="quarter" idx="12"/>
          </p:nvPr>
        </p:nvSpPr>
        <p:spPr/>
        <p:txBody>
          <a:bodyPr/>
          <a:lstStyle/>
          <a:p>
            <a:fld id="{BDA8D12A-5188-A74B-8183-7E806E12A340}" type="slidenum">
              <a:rPr lang="en-US" smtClean="0"/>
              <a:t>56</a:t>
            </a:fld>
            <a:endParaRPr lang="en-US"/>
          </a:p>
        </p:txBody>
      </p:sp>
    </p:spTree>
    <p:extLst>
      <p:ext uri="{BB962C8B-B14F-4D97-AF65-F5344CB8AC3E}">
        <p14:creationId xmlns:p14="http://schemas.microsoft.com/office/powerpoint/2010/main" val="18954071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B31F4-D1BE-5E58-C342-2ED6C6ED98BF}"/>
              </a:ext>
            </a:extLst>
          </p:cNvPr>
          <p:cNvSpPr>
            <a:spLocks noGrp="1"/>
          </p:cNvSpPr>
          <p:nvPr>
            <p:ph type="title"/>
          </p:nvPr>
        </p:nvSpPr>
        <p:spPr/>
        <p:txBody>
          <a:bodyPr>
            <a:normAutofit/>
          </a:bodyPr>
          <a:lstStyle/>
          <a:p>
            <a:r>
              <a:rPr lang="en-US" sz="2800" dirty="0"/>
              <a:t>GPT-4 with Text Embeddings as Agreement Model: Pipeline Overview</a:t>
            </a:r>
          </a:p>
        </p:txBody>
      </p:sp>
      <p:pic>
        <p:nvPicPr>
          <p:cNvPr id="4" name="Picture 3">
            <a:extLst>
              <a:ext uri="{FF2B5EF4-FFF2-40B4-BE49-F238E27FC236}">
                <a16:creationId xmlns:a16="http://schemas.microsoft.com/office/drawing/2014/main" id="{ABA9B04A-12AD-6C3B-7BB8-EEA0C317CBB7}"/>
              </a:ext>
            </a:extLst>
          </p:cNvPr>
          <p:cNvPicPr>
            <a:picLocks noChangeAspect="1"/>
          </p:cNvPicPr>
          <p:nvPr/>
        </p:nvPicPr>
        <p:blipFill>
          <a:blip r:embed="rId2"/>
          <a:stretch>
            <a:fillRect/>
          </a:stretch>
        </p:blipFill>
        <p:spPr>
          <a:xfrm>
            <a:off x="994611" y="1410640"/>
            <a:ext cx="10359189" cy="5299038"/>
          </a:xfrm>
          <a:prstGeom prst="rect">
            <a:avLst/>
          </a:prstGeom>
          <a:effectLst>
            <a:outerShdw blurRad="63500" sx="102000" sy="102000" algn="ctr" rotWithShape="0">
              <a:prstClr val="black">
                <a:alpha val="40000"/>
              </a:prstClr>
            </a:outerShdw>
          </a:effectLst>
        </p:spPr>
      </p:pic>
      <p:sp>
        <p:nvSpPr>
          <p:cNvPr id="10" name="Slide Number Placeholder 9">
            <a:extLst>
              <a:ext uri="{FF2B5EF4-FFF2-40B4-BE49-F238E27FC236}">
                <a16:creationId xmlns:a16="http://schemas.microsoft.com/office/drawing/2014/main" id="{C0665002-B149-18E2-D8C5-297FDB3943F0}"/>
              </a:ext>
            </a:extLst>
          </p:cNvPr>
          <p:cNvSpPr>
            <a:spLocks noGrp="1"/>
          </p:cNvSpPr>
          <p:nvPr>
            <p:ph type="sldNum" sz="quarter" idx="12"/>
          </p:nvPr>
        </p:nvSpPr>
        <p:spPr/>
        <p:txBody>
          <a:bodyPr/>
          <a:lstStyle/>
          <a:p>
            <a:fld id="{BDA8D12A-5188-A74B-8183-7E806E12A340}" type="slidenum">
              <a:rPr lang="en-US" smtClean="0"/>
              <a:t>57</a:t>
            </a:fld>
            <a:endParaRPr lang="en-US"/>
          </a:p>
        </p:txBody>
      </p:sp>
    </p:spTree>
    <p:extLst>
      <p:ext uri="{BB962C8B-B14F-4D97-AF65-F5344CB8AC3E}">
        <p14:creationId xmlns:p14="http://schemas.microsoft.com/office/powerpoint/2010/main" val="578815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B31F4-D1BE-5E58-C342-2ED6C6ED98BF}"/>
              </a:ext>
            </a:extLst>
          </p:cNvPr>
          <p:cNvSpPr>
            <a:spLocks noGrp="1"/>
          </p:cNvSpPr>
          <p:nvPr>
            <p:ph type="title"/>
          </p:nvPr>
        </p:nvSpPr>
        <p:spPr/>
        <p:txBody>
          <a:bodyPr>
            <a:normAutofit/>
          </a:bodyPr>
          <a:lstStyle/>
          <a:p>
            <a:r>
              <a:rPr lang="en-US" sz="2800" dirty="0"/>
              <a:t>GPT-4 with Text Embeddings as Agreement Model: Pipeline Overview</a:t>
            </a:r>
          </a:p>
        </p:txBody>
      </p:sp>
      <p:pic>
        <p:nvPicPr>
          <p:cNvPr id="4" name="Picture 3">
            <a:extLst>
              <a:ext uri="{FF2B5EF4-FFF2-40B4-BE49-F238E27FC236}">
                <a16:creationId xmlns:a16="http://schemas.microsoft.com/office/drawing/2014/main" id="{ABA9B04A-12AD-6C3B-7BB8-EEA0C317CBB7}"/>
              </a:ext>
            </a:extLst>
          </p:cNvPr>
          <p:cNvPicPr>
            <a:picLocks noChangeAspect="1"/>
          </p:cNvPicPr>
          <p:nvPr/>
        </p:nvPicPr>
        <p:blipFill>
          <a:blip r:embed="rId2"/>
          <a:stretch>
            <a:fillRect/>
          </a:stretch>
        </p:blipFill>
        <p:spPr>
          <a:xfrm>
            <a:off x="994611" y="1410640"/>
            <a:ext cx="10359189" cy="5299038"/>
          </a:xfrm>
          <a:prstGeom prst="rect">
            <a:avLst/>
          </a:prstGeom>
          <a:effectLst>
            <a:outerShdw blurRad="63500" sx="102000" sy="102000" algn="ctr" rotWithShape="0">
              <a:prstClr val="black">
                <a:alpha val="40000"/>
              </a:prstClr>
            </a:outerShdw>
          </a:effectLst>
        </p:spPr>
      </p:pic>
      <p:sp>
        <p:nvSpPr>
          <p:cNvPr id="3" name="Rounded Rectangle 2">
            <a:extLst>
              <a:ext uri="{FF2B5EF4-FFF2-40B4-BE49-F238E27FC236}">
                <a16:creationId xmlns:a16="http://schemas.microsoft.com/office/drawing/2014/main" id="{BE22EA36-1F8F-DB72-7ABF-4E2F114B2C60}"/>
              </a:ext>
            </a:extLst>
          </p:cNvPr>
          <p:cNvSpPr/>
          <p:nvPr/>
        </p:nvSpPr>
        <p:spPr>
          <a:xfrm>
            <a:off x="838200" y="1520456"/>
            <a:ext cx="2989521" cy="4444409"/>
          </a:xfrm>
          <a:prstGeom prst="roundRect">
            <a:avLst/>
          </a:prstGeom>
          <a:noFill/>
          <a:ln w="317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FFDA07C9-8563-E4D0-35F2-4DAFFC5AF079}"/>
              </a:ext>
            </a:extLst>
          </p:cNvPr>
          <p:cNvSpPr>
            <a:spLocks noGrp="1"/>
          </p:cNvSpPr>
          <p:nvPr>
            <p:ph type="sldNum" sz="quarter" idx="12"/>
          </p:nvPr>
        </p:nvSpPr>
        <p:spPr/>
        <p:txBody>
          <a:bodyPr/>
          <a:lstStyle/>
          <a:p>
            <a:fld id="{BDA8D12A-5188-A74B-8183-7E806E12A340}" type="slidenum">
              <a:rPr lang="en-US" smtClean="0"/>
              <a:t>58</a:t>
            </a:fld>
            <a:endParaRPr lang="en-US"/>
          </a:p>
        </p:txBody>
      </p:sp>
    </p:spTree>
    <p:extLst>
      <p:ext uri="{BB962C8B-B14F-4D97-AF65-F5344CB8AC3E}">
        <p14:creationId xmlns:p14="http://schemas.microsoft.com/office/powerpoint/2010/main" val="30708871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B31F4-D1BE-5E58-C342-2ED6C6ED98BF}"/>
              </a:ext>
            </a:extLst>
          </p:cNvPr>
          <p:cNvSpPr>
            <a:spLocks noGrp="1"/>
          </p:cNvSpPr>
          <p:nvPr>
            <p:ph type="title"/>
          </p:nvPr>
        </p:nvSpPr>
        <p:spPr/>
        <p:txBody>
          <a:bodyPr>
            <a:normAutofit/>
          </a:bodyPr>
          <a:lstStyle/>
          <a:p>
            <a:r>
              <a:rPr lang="en-US" sz="2800" dirty="0"/>
              <a:t>GPT-4 with Text Embeddings as Agreement Model: Pipeline Overview</a:t>
            </a:r>
          </a:p>
        </p:txBody>
      </p:sp>
      <p:pic>
        <p:nvPicPr>
          <p:cNvPr id="4" name="Picture 3">
            <a:extLst>
              <a:ext uri="{FF2B5EF4-FFF2-40B4-BE49-F238E27FC236}">
                <a16:creationId xmlns:a16="http://schemas.microsoft.com/office/drawing/2014/main" id="{ABA9B04A-12AD-6C3B-7BB8-EEA0C317CBB7}"/>
              </a:ext>
            </a:extLst>
          </p:cNvPr>
          <p:cNvPicPr>
            <a:picLocks noChangeAspect="1"/>
          </p:cNvPicPr>
          <p:nvPr/>
        </p:nvPicPr>
        <p:blipFill>
          <a:blip r:embed="rId2"/>
          <a:stretch>
            <a:fillRect/>
          </a:stretch>
        </p:blipFill>
        <p:spPr>
          <a:xfrm>
            <a:off x="994611" y="1410640"/>
            <a:ext cx="10359189" cy="5299038"/>
          </a:xfrm>
          <a:prstGeom prst="rect">
            <a:avLst/>
          </a:prstGeom>
          <a:effectLst>
            <a:outerShdw blurRad="63500" sx="102000" sy="102000" algn="ctr" rotWithShape="0">
              <a:prstClr val="black">
                <a:alpha val="40000"/>
              </a:prstClr>
            </a:outerShdw>
          </a:effectLst>
        </p:spPr>
      </p:pic>
      <p:sp>
        <p:nvSpPr>
          <p:cNvPr id="3" name="Rounded Rectangle 2">
            <a:extLst>
              <a:ext uri="{FF2B5EF4-FFF2-40B4-BE49-F238E27FC236}">
                <a16:creationId xmlns:a16="http://schemas.microsoft.com/office/drawing/2014/main" id="{BE22EA36-1F8F-DB72-7ABF-4E2F114B2C60}"/>
              </a:ext>
            </a:extLst>
          </p:cNvPr>
          <p:cNvSpPr/>
          <p:nvPr/>
        </p:nvSpPr>
        <p:spPr>
          <a:xfrm>
            <a:off x="2433084" y="1509823"/>
            <a:ext cx="4520609" cy="4444409"/>
          </a:xfrm>
          <a:prstGeom prst="roundRect">
            <a:avLst/>
          </a:prstGeom>
          <a:noFill/>
          <a:ln w="317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1C80B57B-18CF-9CBE-7891-7BDCA4EE4C27}"/>
              </a:ext>
            </a:extLst>
          </p:cNvPr>
          <p:cNvSpPr/>
          <p:nvPr/>
        </p:nvSpPr>
        <p:spPr>
          <a:xfrm>
            <a:off x="994611" y="5954233"/>
            <a:ext cx="7777249" cy="616688"/>
          </a:xfrm>
          <a:prstGeom prst="roundRect">
            <a:avLst/>
          </a:prstGeom>
          <a:noFill/>
          <a:ln w="317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14D3457A-4DCE-54AC-A837-1EAA1453E751}"/>
              </a:ext>
            </a:extLst>
          </p:cNvPr>
          <p:cNvSpPr>
            <a:spLocks noGrp="1"/>
          </p:cNvSpPr>
          <p:nvPr>
            <p:ph type="sldNum" sz="quarter" idx="12"/>
          </p:nvPr>
        </p:nvSpPr>
        <p:spPr/>
        <p:txBody>
          <a:bodyPr/>
          <a:lstStyle/>
          <a:p>
            <a:fld id="{BDA8D12A-5188-A74B-8183-7E806E12A340}" type="slidenum">
              <a:rPr lang="en-US" smtClean="0"/>
              <a:t>59</a:t>
            </a:fld>
            <a:endParaRPr lang="en-US"/>
          </a:p>
        </p:txBody>
      </p:sp>
    </p:spTree>
    <p:extLst>
      <p:ext uri="{BB962C8B-B14F-4D97-AF65-F5344CB8AC3E}">
        <p14:creationId xmlns:p14="http://schemas.microsoft.com/office/powerpoint/2010/main" val="18913598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B31F4-D1BE-5E58-C342-2ED6C6ED98BF}"/>
              </a:ext>
            </a:extLst>
          </p:cNvPr>
          <p:cNvSpPr>
            <a:spLocks noGrp="1"/>
          </p:cNvSpPr>
          <p:nvPr>
            <p:ph type="title"/>
          </p:nvPr>
        </p:nvSpPr>
        <p:spPr/>
        <p:txBody>
          <a:bodyPr>
            <a:normAutofit/>
          </a:bodyPr>
          <a:lstStyle/>
          <a:p>
            <a:r>
              <a:rPr lang="en-US" sz="2800" dirty="0"/>
              <a:t>GPT-4 with Text Embeddings as Agreement Model: Pipeline Overview</a:t>
            </a:r>
          </a:p>
        </p:txBody>
      </p:sp>
      <p:pic>
        <p:nvPicPr>
          <p:cNvPr id="4" name="Picture 3">
            <a:extLst>
              <a:ext uri="{FF2B5EF4-FFF2-40B4-BE49-F238E27FC236}">
                <a16:creationId xmlns:a16="http://schemas.microsoft.com/office/drawing/2014/main" id="{ABA9B04A-12AD-6C3B-7BB8-EEA0C317CBB7}"/>
              </a:ext>
            </a:extLst>
          </p:cNvPr>
          <p:cNvPicPr>
            <a:picLocks noChangeAspect="1"/>
          </p:cNvPicPr>
          <p:nvPr/>
        </p:nvPicPr>
        <p:blipFill>
          <a:blip r:embed="rId2"/>
          <a:stretch>
            <a:fillRect/>
          </a:stretch>
        </p:blipFill>
        <p:spPr>
          <a:xfrm>
            <a:off x="994611" y="1410640"/>
            <a:ext cx="10359189" cy="5299038"/>
          </a:xfrm>
          <a:prstGeom prst="rect">
            <a:avLst/>
          </a:prstGeom>
          <a:effectLst>
            <a:outerShdw blurRad="63500" sx="102000" sy="102000" algn="ctr" rotWithShape="0">
              <a:prstClr val="black">
                <a:alpha val="40000"/>
              </a:prstClr>
            </a:outerShdw>
          </a:effectLst>
        </p:spPr>
      </p:pic>
      <p:sp>
        <p:nvSpPr>
          <p:cNvPr id="3" name="Rounded Rectangle 2">
            <a:extLst>
              <a:ext uri="{FF2B5EF4-FFF2-40B4-BE49-F238E27FC236}">
                <a16:creationId xmlns:a16="http://schemas.microsoft.com/office/drawing/2014/main" id="{BE22EA36-1F8F-DB72-7ABF-4E2F114B2C60}"/>
              </a:ext>
            </a:extLst>
          </p:cNvPr>
          <p:cNvSpPr/>
          <p:nvPr/>
        </p:nvSpPr>
        <p:spPr>
          <a:xfrm>
            <a:off x="5337544" y="1552353"/>
            <a:ext cx="3052694" cy="4940522"/>
          </a:xfrm>
          <a:prstGeom prst="roundRect">
            <a:avLst/>
          </a:prstGeom>
          <a:noFill/>
          <a:ln w="317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E7F507C1-C7D9-96D4-0E53-1477D31E79CC}"/>
              </a:ext>
            </a:extLst>
          </p:cNvPr>
          <p:cNvSpPr>
            <a:spLocks noGrp="1"/>
          </p:cNvSpPr>
          <p:nvPr>
            <p:ph type="sldNum" sz="quarter" idx="12"/>
          </p:nvPr>
        </p:nvSpPr>
        <p:spPr/>
        <p:txBody>
          <a:bodyPr/>
          <a:lstStyle/>
          <a:p>
            <a:fld id="{BDA8D12A-5188-A74B-8183-7E806E12A340}" type="slidenum">
              <a:rPr lang="en-US" smtClean="0"/>
              <a:t>60</a:t>
            </a:fld>
            <a:endParaRPr lang="en-US"/>
          </a:p>
        </p:txBody>
      </p:sp>
    </p:spTree>
    <p:extLst>
      <p:ext uri="{BB962C8B-B14F-4D97-AF65-F5344CB8AC3E}">
        <p14:creationId xmlns:p14="http://schemas.microsoft.com/office/powerpoint/2010/main" val="22004462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B31F4-D1BE-5E58-C342-2ED6C6ED98BF}"/>
              </a:ext>
            </a:extLst>
          </p:cNvPr>
          <p:cNvSpPr>
            <a:spLocks noGrp="1"/>
          </p:cNvSpPr>
          <p:nvPr>
            <p:ph type="title"/>
          </p:nvPr>
        </p:nvSpPr>
        <p:spPr/>
        <p:txBody>
          <a:bodyPr>
            <a:normAutofit/>
          </a:bodyPr>
          <a:lstStyle/>
          <a:p>
            <a:r>
              <a:rPr lang="en-US" sz="2800" dirty="0"/>
              <a:t>GPT-4 with Text Embeddings as Agreement Model: Pipeline Overview</a:t>
            </a:r>
          </a:p>
        </p:txBody>
      </p:sp>
      <p:pic>
        <p:nvPicPr>
          <p:cNvPr id="4" name="Picture 3">
            <a:extLst>
              <a:ext uri="{FF2B5EF4-FFF2-40B4-BE49-F238E27FC236}">
                <a16:creationId xmlns:a16="http://schemas.microsoft.com/office/drawing/2014/main" id="{ABA9B04A-12AD-6C3B-7BB8-EEA0C317CBB7}"/>
              </a:ext>
            </a:extLst>
          </p:cNvPr>
          <p:cNvPicPr>
            <a:picLocks noChangeAspect="1"/>
          </p:cNvPicPr>
          <p:nvPr/>
        </p:nvPicPr>
        <p:blipFill>
          <a:blip r:embed="rId2"/>
          <a:stretch>
            <a:fillRect/>
          </a:stretch>
        </p:blipFill>
        <p:spPr>
          <a:xfrm>
            <a:off x="994611" y="1410640"/>
            <a:ext cx="10359189" cy="5299038"/>
          </a:xfrm>
          <a:prstGeom prst="rect">
            <a:avLst/>
          </a:prstGeom>
          <a:effectLst>
            <a:outerShdw blurRad="63500" sx="102000" sy="102000" algn="ctr" rotWithShape="0">
              <a:prstClr val="black">
                <a:alpha val="40000"/>
              </a:prstClr>
            </a:outerShdw>
          </a:effectLst>
        </p:spPr>
      </p:pic>
      <p:sp>
        <p:nvSpPr>
          <p:cNvPr id="3" name="Rounded Rectangle 2">
            <a:extLst>
              <a:ext uri="{FF2B5EF4-FFF2-40B4-BE49-F238E27FC236}">
                <a16:creationId xmlns:a16="http://schemas.microsoft.com/office/drawing/2014/main" id="{BE22EA36-1F8F-DB72-7ABF-4E2F114B2C60}"/>
              </a:ext>
            </a:extLst>
          </p:cNvPr>
          <p:cNvSpPr/>
          <p:nvPr/>
        </p:nvSpPr>
        <p:spPr>
          <a:xfrm flipH="1">
            <a:off x="6953693" y="1509823"/>
            <a:ext cx="4400107" cy="4444409"/>
          </a:xfrm>
          <a:prstGeom prst="roundRect">
            <a:avLst/>
          </a:prstGeom>
          <a:noFill/>
          <a:ln w="317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18DEF5F1-E2E7-B06E-CEF3-26C5C74029B7}"/>
              </a:ext>
            </a:extLst>
          </p:cNvPr>
          <p:cNvSpPr>
            <a:spLocks noGrp="1"/>
          </p:cNvSpPr>
          <p:nvPr>
            <p:ph type="sldNum" sz="quarter" idx="12"/>
          </p:nvPr>
        </p:nvSpPr>
        <p:spPr/>
        <p:txBody>
          <a:bodyPr/>
          <a:lstStyle/>
          <a:p>
            <a:fld id="{BDA8D12A-5188-A74B-8183-7E806E12A340}" type="slidenum">
              <a:rPr lang="en-US" smtClean="0"/>
              <a:t>61</a:t>
            </a:fld>
            <a:endParaRPr lang="en-US"/>
          </a:p>
        </p:txBody>
      </p:sp>
    </p:spTree>
    <p:extLst>
      <p:ext uri="{BB962C8B-B14F-4D97-AF65-F5344CB8AC3E}">
        <p14:creationId xmlns:p14="http://schemas.microsoft.com/office/powerpoint/2010/main" val="25525389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35781-E315-0B88-B5BC-944EE508CB83}"/>
              </a:ext>
            </a:extLst>
          </p:cNvPr>
          <p:cNvSpPr>
            <a:spLocks noGrp="1"/>
          </p:cNvSpPr>
          <p:nvPr>
            <p:ph type="title"/>
          </p:nvPr>
        </p:nvSpPr>
        <p:spPr/>
        <p:txBody>
          <a:bodyPr>
            <a:normAutofit/>
          </a:bodyPr>
          <a:lstStyle/>
          <a:p>
            <a:r>
              <a:rPr lang="en-US" sz="3800" dirty="0"/>
              <a:t>GPT-4 with Text Embeddings as Agreement Model</a:t>
            </a:r>
          </a:p>
        </p:txBody>
      </p:sp>
      <p:sp>
        <p:nvSpPr>
          <p:cNvPr id="3" name="Content Placeholder 2">
            <a:extLst>
              <a:ext uri="{FF2B5EF4-FFF2-40B4-BE49-F238E27FC236}">
                <a16:creationId xmlns:a16="http://schemas.microsoft.com/office/drawing/2014/main" id="{6D4B5AD0-EF7D-0B2D-635B-344BA0333ACB}"/>
              </a:ext>
            </a:extLst>
          </p:cNvPr>
          <p:cNvSpPr>
            <a:spLocks noGrp="1"/>
          </p:cNvSpPr>
          <p:nvPr>
            <p:ph idx="1"/>
          </p:nvPr>
        </p:nvSpPr>
        <p:spPr/>
        <p:txBody>
          <a:bodyPr>
            <a:normAutofit lnSpcReduction="10000"/>
          </a:bodyPr>
          <a:lstStyle/>
          <a:p>
            <a:pPr lvl="1"/>
            <a:r>
              <a:rPr lang="en-US" b="1" dirty="0"/>
              <a:t>Clinical Note Segmentation</a:t>
            </a:r>
            <a:r>
              <a:rPr lang="en-US" dirty="0"/>
              <a:t>:</a:t>
            </a:r>
          </a:p>
          <a:p>
            <a:pPr lvl="2"/>
            <a:r>
              <a:rPr lang="en-US" dirty="0"/>
              <a:t>1,2,3,4,5-sentence chunks of the clinical notes.</a:t>
            </a:r>
          </a:p>
          <a:p>
            <a:pPr lvl="2"/>
            <a:r>
              <a:rPr lang="en-US" i="1" dirty="0"/>
              <a:t>2-sentence chunks</a:t>
            </a:r>
            <a:r>
              <a:rPr lang="en-US" dirty="0"/>
              <a:t> work best.</a:t>
            </a:r>
          </a:p>
          <a:p>
            <a:pPr lvl="1"/>
            <a:r>
              <a:rPr lang="en-US" b="1" dirty="0"/>
              <a:t>Text Embedding Model</a:t>
            </a:r>
            <a:r>
              <a:rPr lang="en-US" dirty="0"/>
              <a:t>: </a:t>
            </a:r>
          </a:p>
          <a:p>
            <a:pPr lvl="2"/>
            <a:r>
              <a:rPr lang="en-US" dirty="0" err="1"/>
              <a:t>OpenAI</a:t>
            </a:r>
            <a:r>
              <a:rPr lang="en-US" dirty="0"/>
              <a:t> models (text-embedding-ada-002, text-embedding-3-small, text-embedding-3-large) and INSTRUCTOR models. </a:t>
            </a:r>
          </a:p>
          <a:p>
            <a:pPr lvl="2"/>
            <a:r>
              <a:rPr lang="en-US" i="1" dirty="0"/>
              <a:t>text-embedding-3-large</a:t>
            </a:r>
            <a:r>
              <a:rPr lang="en-US" dirty="0"/>
              <a:t> works best.</a:t>
            </a:r>
          </a:p>
          <a:p>
            <a:pPr lvl="1"/>
            <a:r>
              <a:rPr lang="en-US" b="1" dirty="0"/>
              <a:t>Top-k Sampling</a:t>
            </a:r>
            <a:r>
              <a:rPr lang="en-US" dirty="0"/>
              <a:t>: Extrapolation</a:t>
            </a:r>
          </a:p>
          <a:p>
            <a:pPr lvl="2"/>
            <a:r>
              <a:rPr lang="en-US" dirty="0"/>
              <a:t>Randomly select 300 patient notes from our dementia dataset</a:t>
            </a:r>
          </a:p>
          <a:p>
            <a:pPr lvl="2"/>
            <a:r>
              <a:rPr lang="en-US" dirty="0"/>
              <a:t>Use GPT-4 to annotate the presence of each of the 254 concept features.</a:t>
            </a:r>
          </a:p>
          <a:p>
            <a:pPr lvl="2"/>
            <a:r>
              <a:rPr lang="en-US" dirty="0"/>
              <a:t>Based on concept-frequency in the 300-note subset, extrapolate to 7,450 notes</a:t>
            </a:r>
          </a:p>
          <a:p>
            <a:pPr marL="1371600" lvl="3" indent="0">
              <a:buNone/>
            </a:pPr>
            <a:r>
              <a:rPr lang="en-US" dirty="0"/>
              <a:t>For example, if the concept feature “The patient exhibits multiple lesions” occurs 60 times in the 300-note subset, then roughly 1,500 patient notes will contain it in the entire 7,450 dementia dataset.</a:t>
            </a:r>
          </a:p>
          <a:p>
            <a:pPr lvl="1"/>
            <a:endParaRPr lang="en-US" dirty="0"/>
          </a:p>
        </p:txBody>
      </p:sp>
      <p:sp>
        <p:nvSpPr>
          <p:cNvPr id="9" name="Slide Number Placeholder 8">
            <a:extLst>
              <a:ext uri="{FF2B5EF4-FFF2-40B4-BE49-F238E27FC236}">
                <a16:creationId xmlns:a16="http://schemas.microsoft.com/office/drawing/2014/main" id="{870E1943-C691-1AAE-1CDD-2A15BB95FD29}"/>
              </a:ext>
            </a:extLst>
          </p:cNvPr>
          <p:cNvSpPr>
            <a:spLocks noGrp="1"/>
          </p:cNvSpPr>
          <p:nvPr>
            <p:ph type="sldNum" sz="quarter" idx="12"/>
          </p:nvPr>
        </p:nvSpPr>
        <p:spPr/>
        <p:txBody>
          <a:bodyPr/>
          <a:lstStyle/>
          <a:p>
            <a:fld id="{BDA8D12A-5188-A74B-8183-7E806E12A340}" type="slidenum">
              <a:rPr lang="en-US" smtClean="0"/>
              <a:t>62</a:t>
            </a:fld>
            <a:endParaRPr lang="en-US"/>
          </a:p>
        </p:txBody>
      </p:sp>
    </p:spTree>
    <p:extLst>
      <p:ext uri="{BB962C8B-B14F-4D97-AF65-F5344CB8AC3E}">
        <p14:creationId xmlns:p14="http://schemas.microsoft.com/office/powerpoint/2010/main" val="18088609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D1EF3-9FB7-F4BA-6433-65BF95DCA977}"/>
              </a:ext>
            </a:extLst>
          </p:cNvPr>
          <p:cNvSpPr>
            <a:spLocks noGrp="1"/>
          </p:cNvSpPr>
          <p:nvPr>
            <p:ph type="title"/>
          </p:nvPr>
        </p:nvSpPr>
        <p:spPr/>
        <p:txBody>
          <a:bodyPr>
            <a:normAutofit/>
          </a:bodyPr>
          <a:lstStyle/>
          <a:p>
            <a:r>
              <a:rPr lang="en-US" sz="3200" dirty="0"/>
              <a:t>GPT-4 with Text Embeddings as Agreement Model: Results</a:t>
            </a:r>
          </a:p>
        </p:txBody>
      </p:sp>
      <p:graphicFrame>
        <p:nvGraphicFramePr>
          <p:cNvPr id="4" name="Content Placeholder 3">
            <a:extLst>
              <a:ext uri="{FF2B5EF4-FFF2-40B4-BE49-F238E27FC236}">
                <a16:creationId xmlns:a16="http://schemas.microsoft.com/office/drawing/2014/main" id="{D201DC02-4222-2059-FFFD-CC98B9482894}"/>
              </a:ext>
            </a:extLst>
          </p:cNvPr>
          <p:cNvGraphicFramePr>
            <a:graphicFrameLocks noGrp="1"/>
          </p:cNvGraphicFramePr>
          <p:nvPr>
            <p:ph idx="1"/>
            <p:extLst>
              <p:ext uri="{D42A27DB-BD31-4B8C-83A1-F6EECF244321}">
                <p14:modId xmlns:p14="http://schemas.microsoft.com/office/powerpoint/2010/main" val="1995328022"/>
              </p:ext>
            </p:extLst>
          </p:nvPr>
        </p:nvGraphicFramePr>
        <p:xfrm>
          <a:off x="6154152" y="2176581"/>
          <a:ext cx="5630333" cy="2123440"/>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1989667">
                  <a:extLst>
                    <a:ext uri="{9D8B030D-6E8A-4147-A177-3AD203B41FA5}">
                      <a16:colId xmlns:a16="http://schemas.microsoft.com/office/drawing/2014/main" val="2293845519"/>
                    </a:ext>
                  </a:extLst>
                </a:gridCol>
                <a:gridCol w="1862666">
                  <a:extLst>
                    <a:ext uri="{9D8B030D-6E8A-4147-A177-3AD203B41FA5}">
                      <a16:colId xmlns:a16="http://schemas.microsoft.com/office/drawing/2014/main" val="2067951748"/>
                    </a:ext>
                  </a:extLst>
                </a:gridCol>
                <a:gridCol w="1778000">
                  <a:extLst>
                    <a:ext uri="{9D8B030D-6E8A-4147-A177-3AD203B41FA5}">
                      <a16:colId xmlns:a16="http://schemas.microsoft.com/office/drawing/2014/main" val="3737542418"/>
                    </a:ext>
                  </a:extLst>
                </a:gridCol>
              </a:tblGrid>
              <a:tr h="370840">
                <a:tc>
                  <a:txBody>
                    <a:bodyPr/>
                    <a:lstStyle/>
                    <a:p>
                      <a:r>
                        <a:rPr lang="en-US" dirty="0"/>
                        <a:t>Agreement Model</a:t>
                      </a:r>
                    </a:p>
                  </a:txBody>
                  <a:tcPr/>
                </a:tc>
                <a:tc>
                  <a:txBody>
                    <a:bodyPr/>
                    <a:lstStyle/>
                    <a:p>
                      <a:r>
                        <a:rPr lang="en-US" dirty="0"/>
                        <a:t>Concept Accuracy</a:t>
                      </a:r>
                    </a:p>
                  </a:txBody>
                  <a:tcPr/>
                </a:tc>
                <a:tc>
                  <a:txBody>
                    <a:bodyPr/>
                    <a:lstStyle/>
                    <a:p>
                      <a:r>
                        <a:rPr lang="en-US" dirty="0"/>
                        <a:t>Concept F1</a:t>
                      </a:r>
                    </a:p>
                  </a:txBody>
                  <a:tcPr/>
                </a:tc>
                <a:extLst>
                  <a:ext uri="{0D108BD9-81ED-4DB2-BD59-A6C34878D82A}">
                    <a16:rowId xmlns:a16="http://schemas.microsoft.com/office/drawing/2014/main" val="3241480216"/>
                  </a:ext>
                </a:extLst>
              </a:tr>
              <a:tr h="370840">
                <a:tc>
                  <a:txBody>
                    <a:bodyPr/>
                    <a:lstStyle/>
                    <a:p>
                      <a:r>
                        <a:rPr lang="en-US" dirty="0"/>
                        <a:t>Random Baseline</a:t>
                      </a:r>
                    </a:p>
                  </a:txBody>
                  <a:tcPr/>
                </a:tc>
                <a:tc>
                  <a:txBody>
                    <a:bodyPr/>
                    <a:lstStyle/>
                    <a:p>
                      <a:r>
                        <a:rPr lang="en-US" dirty="0"/>
                        <a:t>0.31</a:t>
                      </a:r>
                    </a:p>
                  </a:txBody>
                  <a:tcPr/>
                </a:tc>
                <a:tc>
                  <a:txBody>
                    <a:bodyPr/>
                    <a:lstStyle/>
                    <a:p>
                      <a:r>
                        <a:rPr lang="en-US" dirty="0"/>
                        <a:t>0.35</a:t>
                      </a:r>
                    </a:p>
                  </a:txBody>
                  <a:tcPr/>
                </a:tc>
                <a:extLst>
                  <a:ext uri="{0D108BD9-81ED-4DB2-BD59-A6C34878D82A}">
                    <a16:rowId xmlns:a16="http://schemas.microsoft.com/office/drawing/2014/main" val="104109052"/>
                  </a:ext>
                </a:extLst>
              </a:tr>
              <a:tr h="370840">
                <a:tc>
                  <a:txBody>
                    <a:bodyPr/>
                    <a:lstStyle/>
                    <a:p>
                      <a:r>
                        <a:rPr lang="en-US" dirty="0"/>
                        <a:t>Majority Baseline</a:t>
                      </a:r>
                    </a:p>
                  </a:txBody>
                  <a:tcPr/>
                </a:tc>
                <a:tc>
                  <a:txBody>
                    <a:bodyPr/>
                    <a:lstStyle/>
                    <a:p>
                      <a:r>
                        <a:rPr lang="en-US" dirty="0"/>
                        <a:t>0.65</a:t>
                      </a:r>
                    </a:p>
                  </a:txBody>
                  <a:tcPr/>
                </a:tc>
                <a:tc>
                  <a:txBody>
                    <a:bodyPr/>
                    <a:lstStyle/>
                    <a:p>
                      <a:r>
                        <a:rPr lang="en-US" dirty="0"/>
                        <a:t>0.51</a:t>
                      </a:r>
                    </a:p>
                  </a:txBody>
                  <a:tcPr/>
                </a:tc>
                <a:extLst>
                  <a:ext uri="{0D108BD9-81ED-4DB2-BD59-A6C34878D82A}">
                    <a16:rowId xmlns:a16="http://schemas.microsoft.com/office/drawing/2014/main" val="979366003"/>
                  </a:ext>
                </a:extLst>
              </a:tr>
              <a:tr h="370840">
                <a:tc>
                  <a:txBody>
                    <a:bodyPr/>
                    <a:lstStyle/>
                    <a:p>
                      <a:r>
                        <a:rPr lang="en-US" b="0" dirty="0"/>
                        <a:t>GPT-4</a:t>
                      </a:r>
                    </a:p>
                  </a:txBody>
                  <a:tcPr/>
                </a:tc>
                <a:tc>
                  <a:txBody>
                    <a:bodyPr/>
                    <a:lstStyle/>
                    <a:p>
                      <a:r>
                        <a:rPr lang="en-US" b="0" dirty="0"/>
                        <a:t>0.86</a:t>
                      </a:r>
                    </a:p>
                  </a:txBody>
                  <a:tcPr/>
                </a:tc>
                <a:tc>
                  <a:txBody>
                    <a:bodyPr/>
                    <a:lstStyle/>
                    <a:p>
                      <a:r>
                        <a:rPr lang="en-US" b="0" dirty="0"/>
                        <a:t>0.84</a:t>
                      </a:r>
                    </a:p>
                  </a:txBody>
                  <a:tcPr/>
                </a:tc>
                <a:extLst>
                  <a:ext uri="{0D108BD9-81ED-4DB2-BD59-A6C34878D82A}">
                    <a16:rowId xmlns:a16="http://schemas.microsoft.com/office/drawing/2014/main" val="2353274869"/>
                  </a:ext>
                </a:extLst>
              </a:tr>
              <a:tr h="370840">
                <a:tc>
                  <a:txBody>
                    <a:bodyPr/>
                    <a:lstStyle/>
                    <a:p>
                      <a:r>
                        <a:rPr lang="en-US" b="1" dirty="0"/>
                        <a:t>GPT-4 + Text Embeddings</a:t>
                      </a:r>
                    </a:p>
                  </a:txBody>
                  <a:tcPr/>
                </a:tc>
                <a:tc>
                  <a:txBody>
                    <a:bodyPr/>
                    <a:lstStyle/>
                    <a:p>
                      <a:r>
                        <a:rPr lang="en-US" b="1" dirty="0"/>
                        <a:t>0.82</a:t>
                      </a:r>
                    </a:p>
                  </a:txBody>
                  <a:tcPr/>
                </a:tc>
                <a:tc>
                  <a:txBody>
                    <a:bodyPr/>
                    <a:lstStyle/>
                    <a:p>
                      <a:r>
                        <a:rPr lang="en-US" b="1" dirty="0"/>
                        <a:t>0.78</a:t>
                      </a:r>
                    </a:p>
                  </a:txBody>
                  <a:tcPr/>
                </a:tc>
                <a:extLst>
                  <a:ext uri="{0D108BD9-81ED-4DB2-BD59-A6C34878D82A}">
                    <a16:rowId xmlns:a16="http://schemas.microsoft.com/office/drawing/2014/main" val="522804422"/>
                  </a:ext>
                </a:extLst>
              </a:tr>
            </a:tbl>
          </a:graphicData>
        </a:graphic>
      </p:graphicFrame>
      <p:sp>
        <p:nvSpPr>
          <p:cNvPr id="7" name="TextBox 6">
            <a:extLst>
              <a:ext uri="{FF2B5EF4-FFF2-40B4-BE49-F238E27FC236}">
                <a16:creationId xmlns:a16="http://schemas.microsoft.com/office/drawing/2014/main" id="{F1BBE8C4-C114-41DC-A43A-81366878E515}"/>
              </a:ext>
            </a:extLst>
          </p:cNvPr>
          <p:cNvSpPr txBox="1"/>
          <p:nvPr/>
        </p:nvSpPr>
        <p:spPr>
          <a:xfrm>
            <a:off x="838200" y="1945640"/>
            <a:ext cx="5017168" cy="2585323"/>
          </a:xfrm>
          <a:prstGeom prst="rect">
            <a:avLst/>
          </a:prstGeom>
          <a:noFill/>
        </p:spPr>
        <p:txBody>
          <a:bodyPr wrap="square" rtlCol="0">
            <a:spAutoFit/>
          </a:bodyPr>
          <a:lstStyle/>
          <a:p>
            <a:r>
              <a:rPr lang="en-US" dirty="0"/>
              <a:t>While the GPT-4 + text embedding approach shows slightly lower performance, the following advantages are seen:</a:t>
            </a:r>
          </a:p>
          <a:p>
            <a:endParaRPr lang="en-US" dirty="0"/>
          </a:p>
          <a:p>
            <a:pPr marL="285750" indent="-285750">
              <a:buFont typeface="Arial" panose="020B0604020202020204" pitchFamily="34" charset="0"/>
              <a:buChar char="•"/>
            </a:pPr>
            <a:r>
              <a:rPr lang="en-US" dirty="0"/>
              <a:t>Total time required was 2 days (compared to over 40 days without text embeddings)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Total cost was $7,276 (compared to $240,540 without text embeddings)</a:t>
            </a:r>
          </a:p>
        </p:txBody>
      </p:sp>
      <p:sp>
        <p:nvSpPr>
          <p:cNvPr id="8" name="TextBox 7">
            <a:extLst>
              <a:ext uri="{FF2B5EF4-FFF2-40B4-BE49-F238E27FC236}">
                <a16:creationId xmlns:a16="http://schemas.microsoft.com/office/drawing/2014/main" id="{9ACF7063-3C39-46E4-2E3B-010E45F91711}"/>
              </a:ext>
            </a:extLst>
          </p:cNvPr>
          <p:cNvSpPr txBox="1"/>
          <p:nvPr/>
        </p:nvSpPr>
        <p:spPr>
          <a:xfrm>
            <a:off x="838200" y="5138842"/>
            <a:ext cx="10631905" cy="923330"/>
          </a:xfrm>
          <a:prstGeom prst="rect">
            <a:avLst/>
          </a:prstGeom>
          <a:noFill/>
        </p:spPr>
        <p:txBody>
          <a:bodyPr wrap="square" rtlCol="0">
            <a:spAutoFit/>
          </a:bodyPr>
          <a:lstStyle/>
          <a:p>
            <a:r>
              <a:rPr lang="en-US" dirty="0"/>
              <a:t>This approach makes it more efficient to scale up to larger datasets and other clinical outcomes while keeping cost and runtime low.</a:t>
            </a:r>
          </a:p>
          <a:p>
            <a:endParaRPr lang="en-US" dirty="0"/>
          </a:p>
        </p:txBody>
      </p:sp>
      <p:sp>
        <p:nvSpPr>
          <p:cNvPr id="14" name="Slide Number Placeholder 13">
            <a:extLst>
              <a:ext uri="{FF2B5EF4-FFF2-40B4-BE49-F238E27FC236}">
                <a16:creationId xmlns:a16="http://schemas.microsoft.com/office/drawing/2014/main" id="{2CF4303D-9570-F19E-6CA1-EF650310F28C}"/>
              </a:ext>
            </a:extLst>
          </p:cNvPr>
          <p:cNvSpPr>
            <a:spLocks noGrp="1"/>
          </p:cNvSpPr>
          <p:nvPr>
            <p:ph type="sldNum" sz="quarter" idx="12"/>
          </p:nvPr>
        </p:nvSpPr>
        <p:spPr/>
        <p:txBody>
          <a:bodyPr/>
          <a:lstStyle/>
          <a:p>
            <a:fld id="{BDA8D12A-5188-A74B-8183-7E806E12A340}" type="slidenum">
              <a:rPr lang="en-US" smtClean="0"/>
              <a:t>63</a:t>
            </a:fld>
            <a:endParaRPr lang="en-US"/>
          </a:p>
        </p:txBody>
      </p:sp>
    </p:spTree>
    <p:extLst>
      <p:ext uri="{BB962C8B-B14F-4D97-AF65-F5344CB8AC3E}">
        <p14:creationId xmlns:p14="http://schemas.microsoft.com/office/powerpoint/2010/main" val="29571343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B6F7B-A5FF-38EE-81E9-085422C85FE2}"/>
              </a:ext>
            </a:extLst>
          </p:cNvPr>
          <p:cNvSpPr>
            <a:spLocks noGrp="1"/>
          </p:cNvSpPr>
          <p:nvPr>
            <p:ph type="title"/>
          </p:nvPr>
        </p:nvSpPr>
        <p:spPr/>
        <p:txBody>
          <a:bodyPr>
            <a:normAutofit/>
          </a:bodyPr>
          <a:lstStyle/>
          <a:p>
            <a:r>
              <a:rPr lang="en-US" sz="3200" dirty="0"/>
              <a:t>Additional Advantage of using Text Embeddings with GPT-4</a:t>
            </a:r>
          </a:p>
        </p:txBody>
      </p:sp>
      <p:sp>
        <p:nvSpPr>
          <p:cNvPr id="5" name="Rounded Rectangle 4">
            <a:extLst>
              <a:ext uri="{FF2B5EF4-FFF2-40B4-BE49-F238E27FC236}">
                <a16:creationId xmlns:a16="http://schemas.microsoft.com/office/drawing/2014/main" id="{9DDF15D4-2502-ABBC-3CF3-8A3CDC80F86F}"/>
              </a:ext>
            </a:extLst>
          </p:cNvPr>
          <p:cNvSpPr/>
          <p:nvPr/>
        </p:nvSpPr>
        <p:spPr>
          <a:xfrm>
            <a:off x="545432" y="1945438"/>
            <a:ext cx="3785936" cy="3845762"/>
          </a:xfrm>
          <a:prstGeom prst="roundRect">
            <a:avLst/>
          </a:prstGeom>
          <a:solidFill>
            <a:srgbClr val="92D050"/>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 our Text Embedding + GPT-4 approach, we can additionally find note sentences that correspond to an activated concept.</a:t>
            </a:r>
          </a:p>
          <a:p>
            <a:endParaRPr lang="en-US" dirty="0">
              <a:solidFill>
                <a:schemeClr val="tx1"/>
              </a:solidFill>
            </a:endParaRPr>
          </a:p>
          <a:p>
            <a:endParaRPr lang="en-US" dirty="0">
              <a:solidFill>
                <a:schemeClr val="tx1"/>
              </a:solidFill>
            </a:endParaRPr>
          </a:p>
          <a:p>
            <a:r>
              <a:rPr lang="en-US" dirty="0">
                <a:solidFill>
                  <a:schemeClr val="tx1"/>
                </a:solidFill>
              </a:rPr>
              <a:t>This provides an additional layer of transparency that makes it easier to control for quality.</a:t>
            </a:r>
          </a:p>
        </p:txBody>
      </p:sp>
      <p:graphicFrame>
        <p:nvGraphicFramePr>
          <p:cNvPr id="8" name="Table 7">
            <a:extLst>
              <a:ext uri="{FF2B5EF4-FFF2-40B4-BE49-F238E27FC236}">
                <a16:creationId xmlns:a16="http://schemas.microsoft.com/office/drawing/2014/main" id="{F423F2E1-A41D-9011-5DF5-75D14D7BE270}"/>
              </a:ext>
            </a:extLst>
          </p:cNvPr>
          <p:cNvGraphicFramePr>
            <a:graphicFrameLocks noGrp="1"/>
          </p:cNvGraphicFramePr>
          <p:nvPr>
            <p:extLst>
              <p:ext uri="{D42A27DB-BD31-4B8C-83A1-F6EECF244321}">
                <p14:modId xmlns:p14="http://schemas.microsoft.com/office/powerpoint/2010/main" val="707749389"/>
              </p:ext>
            </p:extLst>
          </p:nvPr>
        </p:nvGraphicFramePr>
        <p:xfrm>
          <a:off x="4665578" y="1850491"/>
          <a:ext cx="6980990" cy="4309975"/>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2329179">
                  <a:extLst>
                    <a:ext uri="{9D8B030D-6E8A-4147-A177-3AD203B41FA5}">
                      <a16:colId xmlns:a16="http://schemas.microsoft.com/office/drawing/2014/main" val="2240567382"/>
                    </a:ext>
                  </a:extLst>
                </a:gridCol>
                <a:gridCol w="4651811">
                  <a:extLst>
                    <a:ext uri="{9D8B030D-6E8A-4147-A177-3AD203B41FA5}">
                      <a16:colId xmlns:a16="http://schemas.microsoft.com/office/drawing/2014/main" val="2904096652"/>
                    </a:ext>
                  </a:extLst>
                </a:gridCol>
              </a:tblGrid>
              <a:tr h="347575">
                <a:tc>
                  <a:txBody>
                    <a:bodyPr/>
                    <a:lstStyle/>
                    <a:p>
                      <a:pPr algn="ctr"/>
                      <a:r>
                        <a:rPr lang="en-US" sz="1400" dirty="0"/>
                        <a:t>Concept Feature</a:t>
                      </a:r>
                    </a:p>
                  </a:txBody>
                  <a:tcPr/>
                </a:tc>
                <a:tc>
                  <a:txBody>
                    <a:bodyPr/>
                    <a:lstStyle/>
                    <a:p>
                      <a:pPr algn="ctr"/>
                      <a:r>
                        <a:rPr lang="en-US" sz="1400" dirty="0"/>
                        <a:t>Sentence in Clinical Note</a:t>
                      </a:r>
                    </a:p>
                  </a:txBody>
                  <a:tcPr/>
                </a:tc>
                <a:extLst>
                  <a:ext uri="{0D108BD9-81ED-4DB2-BD59-A6C34878D82A}">
                    <a16:rowId xmlns:a16="http://schemas.microsoft.com/office/drawing/2014/main" val="2295175988"/>
                  </a:ext>
                </a:extLst>
              </a:tr>
              <a:tr h="246199">
                <a:tc rowSpan="2">
                  <a:txBody>
                    <a:bodyPr/>
                    <a:lstStyle/>
                    <a:p>
                      <a:r>
                        <a:rPr lang="en-US" sz="1600" dirty="0"/>
                        <a:t>infarcts involving multiple main arterial territories</a:t>
                      </a:r>
                    </a:p>
                  </a:txBody>
                  <a:tcPr/>
                </a:tc>
                <a:tc>
                  <a:txBody>
                    <a:bodyPr/>
                    <a:lstStyle/>
                    <a:p>
                      <a:r>
                        <a:rPr lang="en-US" sz="1600" dirty="0"/>
                        <a:t>Head CT showed multiple old infarcts but no new lesion.</a:t>
                      </a:r>
                    </a:p>
                  </a:txBody>
                  <a:tcPr/>
                </a:tc>
                <a:extLst>
                  <a:ext uri="{0D108BD9-81ED-4DB2-BD59-A6C34878D82A}">
                    <a16:rowId xmlns:a16="http://schemas.microsoft.com/office/drawing/2014/main" val="3919600304"/>
                  </a:ext>
                </a:extLst>
              </a:tr>
              <a:tr h="246199">
                <a:tc vMerge="1">
                  <a:txBody>
                    <a:bodyPr/>
                    <a:lstStyle/>
                    <a:p>
                      <a:endParaRPr lang="en-US" dirty="0"/>
                    </a:p>
                  </a:txBody>
                  <a:tcPr/>
                </a:tc>
                <a:tc>
                  <a:txBody>
                    <a:bodyPr/>
                    <a:lstStyle/>
                    <a:p>
                      <a:r>
                        <a:rPr lang="en-US" sz="1600" dirty="0"/>
                        <a:t>Past Medical History: Right temporal \&amp; left parietal infarcts</a:t>
                      </a:r>
                    </a:p>
                  </a:txBody>
                  <a:tcPr/>
                </a:tc>
                <a:extLst>
                  <a:ext uri="{0D108BD9-81ED-4DB2-BD59-A6C34878D82A}">
                    <a16:rowId xmlns:a16="http://schemas.microsoft.com/office/drawing/2014/main" val="4247884220"/>
                  </a:ext>
                </a:extLst>
              </a:tr>
              <a:tr h="246199">
                <a:tc rowSpan="2">
                  <a:txBody>
                    <a:bodyPr/>
                    <a:lstStyle/>
                    <a:p>
                      <a:r>
                        <a:rPr lang="en-US" sz="1600" dirty="0"/>
                        <a:t>history of atherosclerotic risk factors</a:t>
                      </a:r>
                    </a:p>
                  </a:txBody>
                  <a:tcPr/>
                </a:tc>
                <a:tc>
                  <a:txBody>
                    <a:bodyPr/>
                    <a:lstStyle/>
                    <a:p>
                      <a:r>
                        <a:rPr lang="en-US" sz="1600" dirty="0"/>
                        <a:t>Past Medical History: Idiopathic peripheral neuropathy (per family), HTN...</a:t>
                      </a:r>
                    </a:p>
                  </a:txBody>
                  <a:tcPr/>
                </a:tc>
                <a:extLst>
                  <a:ext uri="{0D108BD9-81ED-4DB2-BD59-A6C34878D82A}">
                    <a16:rowId xmlns:a16="http://schemas.microsoft.com/office/drawing/2014/main" val="890566703"/>
                  </a:ext>
                </a:extLst>
              </a:tr>
              <a:tr h="246199">
                <a:tc vMerge="1">
                  <a:txBody>
                    <a:bodyPr/>
                    <a:lstStyle/>
                    <a:p>
                      <a:endParaRPr lang="en-US" dirty="0"/>
                    </a:p>
                  </a:txBody>
                  <a:tcPr/>
                </a:tc>
                <a:tc>
                  <a:txBody>
                    <a:bodyPr/>
                    <a:lstStyle/>
                    <a:p>
                      <a:r>
                        <a:rPr lang="en-US" sz="1600" dirty="0"/>
                        <a:t>Past Medical History: - hypertension. Social History: She is a former smoker</a:t>
                      </a:r>
                    </a:p>
                  </a:txBody>
                  <a:tcPr/>
                </a:tc>
                <a:extLst>
                  <a:ext uri="{0D108BD9-81ED-4DB2-BD59-A6C34878D82A}">
                    <a16:rowId xmlns:a16="http://schemas.microsoft.com/office/drawing/2014/main" val="2963195238"/>
                  </a:ext>
                </a:extLst>
              </a:tr>
              <a:tr h="405504">
                <a:tc rowSpan="2">
                  <a:txBody>
                    <a:bodyPr/>
                    <a:lstStyle/>
                    <a:p>
                      <a:r>
                        <a:rPr lang="en-US" sz="1600" dirty="0"/>
                        <a:t>decreased reflexes</a:t>
                      </a:r>
                    </a:p>
                  </a:txBody>
                  <a:tcPr/>
                </a:tc>
                <a:tc>
                  <a:txBody>
                    <a:bodyPr/>
                    <a:lstStyle/>
                    <a:p>
                      <a:r>
                        <a:rPr lang="en-US" sz="1600" dirty="0"/>
                        <a:t>Her reflexes revealed she was </a:t>
                      </a:r>
                      <a:r>
                        <a:rPr lang="en-US" sz="1600" dirty="0" err="1"/>
                        <a:t>hyporeflexic</a:t>
                      </a:r>
                      <a:r>
                        <a:rPr lang="en-US" sz="1600" dirty="0"/>
                        <a:t> in the lower extremities and </a:t>
                      </a:r>
                      <a:r>
                        <a:rPr lang="en-US" sz="1600" dirty="0" err="1"/>
                        <a:t>hyperreflexic</a:t>
                      </a:r>
                      <a:r>
                        <a:rPr lang="en-US" sz="1600" dirty="0"/>
                        <a:t> in the upper extremities.</a:t>
                      </a:r>
                    </a:p>
                  </a:txBody>
                  <a:tcPr/>
                </a:tc>
                <a:extLst>
                  <a:ext uri="{0D108BD9-81ED-4DB2-BD59-A6C34878D82A}">
                    <a16:rowId xmlns:a16="http://schemas.microsoft.com/office/drawing/2014/main" val="3775675825"/>
                  </a:ext>
                </a:extLst>
              </a:tr>
              <a:tr h="405504">
                <a:tc vMerge="1">
                  <a:txBody>
                    <a:bodyPr/>
                    <a:lstStyle/>
                    <a:p>
                      <a:endParaRPr lang="en-US" dirty="0"/>
                    </a:p>
                  </a:txBody>
                  <a:tcPr/>
                </a:tc>
                <a:tc>
                  <a:txBody>
                    <a:bodyPr/>
                    <a:lstStyle/>
                    <a:p>
                      <a:r>
                        <a:rPr lang="en-US" sz="1600" dirty="0"/>
                        <a:t>Reflexes: Brisk in the upper extremities, normal at patellae and reduced at </a:t>
                      </a:r>
                      <a:r>
                        <a:rPr lang="en-US" sz="1600" dirty="0" err="1"/>
                        <a:t>achilles</a:t>
                      </a:r>
                      <a:r>
                        <a:rPr lang="en-US" sz="1600" dirty="0"/>
                        <a:t>. The </a:t>
                      </a:r>
                      <a:r>
                        <a:rPr lang="en-US" sz="1600" dirty="0" err="1"/>
                        <a:t>plantars</a:t>
                      </a:r>
                      <a:r>
                        <a:rPr lang="en-US" sz="1600" dirty="0"/>
                        <a:t> are mute bilaterally.</a:t>
                      </a:r>
                    </a:p>
                  </a:txBody>
                  <a:tcPr/>
                </a:tc>
                <a:extLst>
                  <a:ext uri="{0D108BD9-81ED-4DB2-BD59-A6C34878D82A}">
                    <a16:rowId xmlns:a16="http://schemas.microsoft.com/office/drawing/2014/main" val="2161149935"/>
                  </a:ext>
                </a:extLst>
              </a:tr>
            </a:tbl>
          </a:graphicData>
        </a:graphic>
      </p:graphicFrame>
      <p:sp>
        <p:nvSpPr>
          <p:cNvPr id="14" name="Slide Number Placeholder 13">
            <a:extLst>
              <a:ext uri="{FF2B5EF4-FFF2-40B4-BE49-F238E27FC236}">
                <a16:creationId xmlns:a16="http://schemas.microsoft.com/office/drawing/2014/main" id="{759A9476-6503-1475-7EF4-9011C2E977E4}"/>
              </a:ext>
            </a:extLst>
          </p:cNvPr>
          <p:cNvSpPr>
            <a:spLocks noGrp="1"/>
          </p:cNvSpPr>
          <p:nvPr>
            <p:ph type="sldNum" sz="quarter" idx="12"/>
          </p:nvPr>
        </p:nvSpPr>
        <p:spPr/>
        <p:txBody>
          <a:bodyPr/>
          <a:lstStyle/>
          <a:p>
            <a:fld id="{BDA8D12A-5188-A74B-8183-7E806E12A340}" type="slidenum">
              <a:rPr lang="en-US" smtClean="0"/>
              <a:t>64</a:t>
            </a:fld>
            <a:endParaRPr lang="en-US"/>
          </a:p>
        </p:txBody>
      </p:sp>
    </p:spTree>
    <p:extLst>
      <p:ext uri="{BB962C8B-B14F-4D97-AF65-F5344CB8AC3E}">
        <p14:creationId xmlns:p14="http://schemas.microsoft.com/office/powerpoint/2010/main" val="15623162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37869-119D-5042-AD60-AB49132B6A40}"/>
              </a:ext>
            </a:extLst>
          </p:cNvPr>
          <p:cNvSpPr>
            <a:spLocks noGrp="1"/>
          </p:cNvSpPr>
          <p:nvPr>
            <p:ph type="title"/>
          </p:nvPr>
        </p:nvSpPr>
        <p:spPr/>
        <p:txBody>
          <a:bodyPr>
            <a:normAutofit/>
          </a:bodyPr>
          <a:lstStyle/>
          <a:p>
            <a:r>
              <a:rPr lang="en-US" sz="3800" dirty="0"/>
              <a:t>Pipeline Overview</a:t>
            </a:r>
          </a:p>
        </p:txBody>
      </p:sp>
      <p:pic>
        <p:nvPicPr>
          <p:cNvPr id="90" name="Picture 89">
            <a:extLst>
              <a:ext uri="{FF2B5EF4-FFF2-40B4-BE49-F238E27FC236}">
                <a16:creationId xmlns:a16="http://schemas.microsoft.com/office/drawing/2014/main" id="{E6B6D2FE-8999-CDF8-D997-D5A11F0E9A4F}"/>
              </a:ext>
            </a:extLst>
          </p:cNvPr>
          <p:cNvPicPr>
            <a:picLocks noChangeAspect="1"/>
          </p:cNvPicPr>
          <p:nvPr/>
        </p:nvPicPr>
        <p:blipFill>
          <a:blip r:embed="rId2"/>
          <a:stretch>
            <a:fillRect/>
          </a:stretch>
        </p:blipFill>
        <p:spPr>
          <a:xfrm>
            <a:off x="1347950" y="1490446"/>
            <a:ext cx="9845567" cy="5150912"/>
          </a:xfrm>
          <a:prstGeom prst="rect">
            <a:avLst/>
          </a:prstGeom>
          <a:effectLst>
            <a:outerShdw blurRad="63500" sx="102000" sy="102000" algn="ctr" rotWithShape="0">
              <a:prstClr val="black">
                <a:alpha val="40000"/>
              </a:prstClr>
            </a:outerShdw>
          </a:effectLst>
        </p:spPr>
      </p:pic>
      <p:sp>
        <p:nvSpPr>
          <p:cNvPr id="3" name="Rounded Rectangle 2">
            <a:extLst>
              <a:ext uri="{FF2B5EF4-FFF2-40B4-BE49-F238E27FC236}">
                <a16:creationId xmlns:a16="http://schemas.microsoft.com/office/drawing/2014/main" id="{0E7B5A30-5D45-8730-2A4D-3E53C8DE9843}"/>
              </a:ext>
            </a:extLst>
          </p:cNvPr>
          <p:cNvSpPr/>
          <p:nvPr/>
        </p:nvSpPr>
        <p:spPr>
          <a:xfrm>
            <a:off x="1187668" y="1371600"/>
            <a:ext cx="6876832" cy="3568699"/>
          </a:xfrm>
          <a:prstGeom prst="roundRect">
            <a:avLst/>
          </a:prstGeom>
          <a:noFill/>
          <a:ln w="317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1C1BD12A-FF67-A4AD-E02A-04443B06A3DE}"/>
              </a:ext>
            </a:extLst>
          </p:cNvPr>
          <p:cNvSpPr>
            <a:spLocks noGrp="1"/>
          </p:cNvSpPr>
          <p:nvPr>
            <p:ph type="sldNum" sz="quarter" idx="12"/>
          </p:nvPr>
        </p:nvSpPr>
        <p:spPr/>
        <p:txBody>
          <a:bodyPr/>
          <a:lstStyle/>
          <a:p>
            <a:fld id="{BDA8D12A-5188-A74B-8183-7E806E12A340}" type="slidenum">
              <a:rPr lang="en-US" smtClean="0"/>
              <a:t>65</a:t>
            </a:fld>
            <a:endParaRPr lang="en-US"/>
          </a:p>
        </p:txBody>
      </p:sp>
    </p:spTree>
    <p:extLst>
      <p:ext uri="{BB962C8B-B14F-4D97-AF65-F5344CB8AC3E}">
        <p14:creationId xmlns:p14="http://schemas.microsoft.com/office/powerpoint/2010/main" val="26874302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37869-119D-5042-AD60-AB49132B6A40}"/>
              </a:ext>
            </a:extLst>
          </p:cNvPr>
          <p:cNvSpPr>
            <a:spLocks noGrp="1"/>
          </p:cNvSpPr>
          <p:nvPr>
            <p:ph type="title"/>
          </p:nvPr>
        </p:nvSpPr>
        <p:spPr/>
        <p:txBody>
          <a:bodyPr>
            <a:normAutofit/>
          </a:bodyPr>
          <a:lstStyle/>
          <a:p>
            <a:r>
              <a:rPr lang="en-US" sz="3800" dirty="0"/>
              <a:t>Pipeline Overview</a:t>
            </a:r>
          </a:p>
        </p:txBody>
      </p:sp>
      <p:pic>
        <p:nvPicPr>
          <p:cNvPr id="90" name="Picture 89">
            <a:extLst>
              <a:ext uri="{FF2B5EF4-FFF2-40B4-BE49-F238E27FC236}">
                <a16:creationId xmlns:a16="http://schemas.microsoft.com/office/drawing/2014/main" id="{E6B6D2FE-8999-CDF8-D997-D5A11F0E9A4F}"/>
              </a:ext>
            </a:extLst>
          </p:cNvPr>
          <p:cNvPicPr>
            <a:picLocks noChangeAspect="1"/>
          </p:cNvPicPr>
          <p:nvPr/>
        </p:nvPicPr>
        <p:blipFill>
          <a:blip r:embed="rId2"/>
          <a:stretch>
            <a:fillRect/>
          </a:stretch>
        </p:blipFill>
        <p:spPr>
          <a:xfrm>
            <a:off x="1347950" y="1490446"/>
            <a:ext cx="9845567" cy="5150912"/>
          </a:xfrm>
          <a:prstGeom prst="rect">
            <a:avLst/>
          </a:prstGeom>
          <a:effectLst>
            <a:outerShdw blurRad="63500" sx="102000" sy="102000" algn="ctr" rotWithShape="0">
              <a:prstClr val="black">
                <a:alpha val="40000"/>
              </a:prstClr>
            </a:outerShdw>
          </a:effectLst>
        </p:spPr>
      </p:pic>
      <p:sp>
        <p:nvSpPr>
          <p:cNvPr id="3" name="Rounded Rectangle 2">
            <a:extLst>
              <a:ext uri="{FF2B5EF4-FFF2-40B4-BE49-F238E27FC236}">
                <a16:creationId xmlns:a16="http://schemas.microsoft.com/office/drawing/2014/main" id="{0E7B5A30-5D45-8730-2A4D-3E53C8DE9843}"/>
              </a:ext>
            </a:extLst>
          </p:cNvPr>
          <p:cNvSpPr/>
          <p:nvPr/>
        </p:nvSpPr>
        <p:spPr>
          <a:xfrm>
            <a:off x="5901070" y="1371600"/>
            <a:ext cx="5039832" cy="3568699"/>
          </a:xfrm>
          <a:prstGeom prst="roundRect">
            <a:avLst/>
          </a:prstGeom>
          <a:noFill/>
          <a:ln w="317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84E193BF-C4F2-147A-B48F-F143A358D1A5}"/>
              </a:ext>
            </a:extLst>
          </p:cNvPr>
          <p:cNvSpPr>
            <a:spLocks noGrp="1"/>
          </p:cNvSpPr>
          <p:nvPr>
            <p:ph type="sldNum" sz="quarter" idx="12"/>
          </p:nvPr>
        </p:nvSpPr>
        <p:spPr/>
        <p:txBody>
          <a:bodyPr/>
          <a:lstStyle/>
          <a:p>
            <a:fld id="{BDA8D12A-5188-A74B-8183-7E806E12A340}" type="slidenum">
              <a:rPr lang="en-US" smtClean="0"/>
              <a:t>66</a:t>
            </a:fld>
            <a:endParaRPr lang="en-US"/>
          </a:p>
        </p:txBody>
      </p:sp>
    </p:spTree>
    <p:extLst>
      <p:ext uri="{BB962C8B-B14F-4D97-AF65-F5344CB8AC3E}">
        <p14:creationId xmlns:p14="http://schemas.microsoft.com/office/powerpoint/2010/main" val="105536962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E8C79-54D0-0414-A00A-310AAB8C2340}"/>
              </a:ext>
            </a:extLst>
          </p:cNvPr>
          <p:cNvSpPr>
            <a:spLocks noGrp="1"/>
          </p:cNvSpPr>
          <p:nvPr>
            <p:ph type="title"/>
          </p:nvPr>
        </p:nvSpPr>
        <p:spPr/>
        <p:txBody>
          <a:bodyPr>
            <a:normAutofit/>
          </a:bodyPr>
          <a:lstStyle/>
          <a:p>
            <a:r>
              <a:rPr lang="en-US" sz="3800" dirty="0"/>
              <a:t>Dementia Prediction using Patient Concept Vectors</a:t>
            </a:r>
          </a:p>
        </p:txBody>
      </p:sp>
      <p:sp>
        <p:nvSpPr>
          <p:cNvPr id="3" name="Content Placeholder 2">
            <a:extLst>
              <a:ext uri="{FF2B5EF4-FFF2-40B4-BE49-F238E27FC236}">
                <a16:creationId xmlns:a16="http://schemas.microsoft.com/office/drawing/2014/main" id="{94E7145C-D3C6-74D7-CC57-0955C1C23E0B}"/>
              </a:ext>
            </a:extLst>
          </p:cNvPr>
          <p:cNvSpPr>
            <a:spLocks noGrp="1"/>
          </p:cNvSpPr>
          <p:nvPr>
            <p:ph idx="1"/>
          </p:nvPr>
        </p:nvSpPr>
        <p:spPr/>
        <p:txBody>
          <a:bodyPr>
            <a:normAutofit fontScale="92500" lnSpcReduction="20000"/>
          </a:bodyPr>
          <a:lstStyle/>
          <a:p>
            <a:r>
              <a:rPr lang="en-US" dirty="0"/>
              <a:t>Every patient note </a:t>
            </a:r>
            <a:r>
              <a:rPr lang="en-US" dirty="0">
                <a:sym typeface="Wingdings" pitchFamily="2" charset="2"/>
              </a:rPr>
              <a:t> C</a:t>
            </a:r>
            <a:r>
              <a:rPr lang="en-US" dirty="0"/>
              <a:t>oncept Vector using the Agreement Model.</a:t>
            </a:r>
          </a:p>
          <a:p>
            <a:pPr lvl="1"/>
            <a:r>
              <a:rPr lang="en-US" dirty="0"/>
              <a:t>each vector index corresponds to one of 254 unique concepts features</a:t>
            </a:r>
          </a:p>
          <a:p>
            <a:endParaRPr lang="en-US" dirty="0"/>
          </a:p>
          <a:p>
            <a:r>
              <a:rPr lang="en-US" dirty="0"/>
              <a:t>We divide the 7,450 notes in our dementia into train-</a:t>
            </a:r>
            <a:r>
              <a:rPr lang="en-US" dirty="0" err="1"/>
              <a:t>val</a:t>
            </a:r>
            <a:r>
              <a:rPr lang="en-US" dirty="0"/>
              <a:t>-test (0.90/0.05/0.05)</a:t>
            </a:r>
          </a:p>
          <a:p>
            <a:endParaRPr lang="en-US" dirty="0"/>
          </a:p>
          <a:p>
            <a:r>
              <a:rPr lang="en-US" dirty="0"/>
              <a:t>Finally, we train a linear model (Logistic Regression) to predict dementia type.</a:t>
            </a:r>
          </a:p>
          <a:p>
            <a:endParaRPr lang="en-US" dirty="0"/>
          </a:p>
          <a:p>
            <a:r>
              <a:rPr lang="en-US" dirty="0"/>
              <a:t>We also compare our approach to 2 baselines: GPT-4 and ngram-logistic regression.</a:t>
            </a:r>
          </a:p>
          <a:p>
            <a:endParaRPr lang="en-US" dirty="0"/>
          </a:p>
          <a:p>
            <a:endParaRPr lang="en-US" dirty="0"/>
          </a:p>
        </p:txBody>
      </p:sp>
      <p:sp>
        <p:nvSpPr>
          <p:cNvPr id="9" name="Slide Number Placeholder 8">
            <a:extLst>
              <a:ext uri="{FF2B5EF4-FFF2-40B4-BE49-F238E27FC236}">
                <a16:creationId xmlns:a16="http://schemas.microsoft.com/office/drawing/2014/main" id="{39F2004D-601A-E9BE-43FC-38E06D96CEFF}"/>
              </a:ext>
            </a:extLst>
          </p:cNvPr>
          <p:cNvSpPr>
            <a:spLocks noGrp="1"/>
          </p:cNvSpPr>
          <p:nvPr>
            <p:ph type="sldNum" sz="quarter" idx="12"/>
          </p:nvPr>
        </p:nvSpPr>
        <p:spPr/>
        <p:txBody>
          <a:bodyPr/>
          <a:lstStyle/>
          <a:p>
            <a:fld id="{BDA8D12A-5188-A74B-8183-7E806E12A340}" type="slidenum">
              <a:rPr lang="en-US" smtClean="0"/>
              <a:t>67</a:t>
            </a:fld>
            <a:endParaRPr lang="en-US"/>
          </a:p>
        </p:txBody>
      </p:sp>
    </p:spTree>
    <p:extLst>
      <p:ext uri="{BB962C8B-B14F-4D97-AF65-F5344CB8AC3E}">
        <p14:creationId xmlns:p14="http://schemas.microsoft.com/office/powerpoint/2010/main" val="42097084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9EC53-345C-E35C-C5D3-C15A3EE86CAD}"/>
              </a:ext>
            </a:extLst>
          </p:cNvPr>
          <p:cNvSpPr>
            <a:spLocks noGrp="1"/>
          </p:cNvSpPr>
          <p:nvPr>
            <p:ph type="title"/>
          </p:nvPr>
        </p:nvSpPr>
        <p:spPr/>
        <p:txBody>
          <a:bodyPr>
            <a:normAutofit/>
          </a:bodyPr>
          <a:lstStyle/>
          <a:p>
            <a:r>
              <a:rPr lang="en-US" sz="3800" dirty="0"/>
              <a:t>Dementia Prediction: Results</a:t>
            </a:r>
          </a:p>
        </p:txBody>
      </p:sp>
      <p:pic>
        <p:nvPicPr>
          <p:cNvPr id="2050" name="Picture 2">
            <a:extLst>
              <a:ext uri="{FF2B5EF4-FFF2-40B4-BE49-F238E27FC236}">
                <a16:creationId xmlns:a16="http://schemas.microsoft.com/office/drawing/2014/main" id="{092604D8-36A2-FAB2-9E2D-5063CB6983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154" y="1542632"/>
            <a:ext cx="7180847" cy="478723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0CB4674-A027-F0A1-F588-E9F39BE544B7}"/>
              </a:ext>
            </a:extLst>
          </p:cNvPr>
          <p:cNvSpPr txBox="1"/>
          <p:nvPr/>
        </p:nvSpPr>
        <p:spPr>
          <a:xfrm>
            <a:off x="7347284" y="2133600"/>
            <a:ext cx="4459705" cy="646331"/>
          </a:xfrm>
          <a:prstGeom prst="rect">
            <a:avLst/>
          </a:prstGeom>
          <a:noFill/>
        </p:spPr>
        <p:txBody>
          <a:bodyPr wrap="square" rtlCol="0">
            <a:spAutoFit/>
          </a:bodyPr>
          <a:lstStyle/>
          <a:p>
            <a:r>
              <a:rPr lang="en-US" dirty="0"/>
              <a:t>Our approach achieves a higher accuracy and F1 score compared to the baselines.</a:t>
            </a:r>
          </a:p>
        </p:txBody>
      </p:sp>
      <p:sp>
        <p:nvSpPr>
          <p:cNvPr id="5" name="TextBox 4">
            <a:extLst>
              <a:ext uri="{FF2B5EF4-FFF2-40B4-BE49-F238E27FC236}">
                <a16:creationId xmlns:a16="http://schemas.microsoft.com/office/drawing/2014/main" id="{4E5CAA54-22D6-9D6D-4629-C25FCA48DEA9}"/>
              </a:ext>
            </a:extLst>
          </p:cNvPr>
          <p:cNvSpPr txBox="1"/>
          <p:nvPr/>
        </p:nvSpPr>
        <p:spPr>
          <a:xfrm>
            <a:off x="7347283" y="3765700"/>
            <a:ext cx="4459705" cy="646331"/>
          </a:xfrm>
          <a:prstGeom prst="rect">
            <a:avLst/>
          </a:prstGeom>
          <a:noFill/>
        </p:spPr>
        <p:txBody>
          <a:bodyPr wrap="square" rtlCol="0">
            <a:spAutoFit/>
          </a:bodyPr>
          <a:lstStyle/>
          <a:p>
            <a:r>
              <a:rPr lang="en-US" dirty="0"/>
              <a:t>Our approach also utilizes high level clinical concepts to predict dementia type.</a:t>
            </a:r>
          </a:p>
        </p:txBody>
      </p:sp>
      <p:sp>
        <p:nvSpPr>
          <p:cNvPr id="11" name="Slide Number Placeholder 10">
            <a:extLst>
              <a:ext uri="{FF2B5EF4-FFF2-40B4-BE49-F238E27FC236}">
                <a16:creationId xmlns:a16="http://schemas.microsoft.com/office/drawing/2014/main" id="{B947DA6F-5CE4-142D-BBC6-1D7EA78DA8F8}"/>
              </a:ext>
            </a:extLst>
          </p:cNvPr>
          <p:cNvSpPr>
            <a:spLocks noGrp="1"/>
          </p:cNvSpPr>
          <p:nvPr>
            <p:ph type="sldNum" sz="quarter" idx="12"/>
          </p:nvPr>
        </p:nvSpPr>
        <p:spPr/>
        <p:txBody>
          <a:bodyPr/>
          <a:lstStyle/>
          <a:p>
            <a:fld id="{BDA8D12A-5188-A74B-8183-7E806E12A340}" type="slidenum">
              <a:rPr lang="en-US" smtClean="0"/>
              <a:t>68</a:t>
            </a:fld>
            <a:endParaRPr lang="en-US"/>
          </a:p>
        </p:txBody>
      </p:sp>
    </p:spTree>
    <p:extLst>
      <p:ext uri="{BB962C8B-B14F-4D97-AF65-F5344CB8AC3E}">
        <p14:creationId xmlns:p14="http://schemas.microsoft.com/office/powerpoint/2010/main" val="8961578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8A401-4C90-03E3-08A4-8D43031B64EF}"/>
              </a:ext>
            </a:extLst>
          </p:cNvPr>
          <p:cNvSpPr>
            <a:spLocks noGrp="1"/>
          </p:cNvSpPr>
          <p:nvPr>
            <p:ph type="title"/>
          </p:nvPr>
        </p:nvSpPr>
        <p:spPr/>
        <p:txBody>
          <a:bodyPr>
            <a:normAutofit/>
          </a:bodyPr>
          <a:lstStyle/>
          <a:p>
            <a:r>
              <a:rPr lang="en-US" sz="3200" dirty="0"/>
              <a:t>Top Predictive Features of our Concept Bottleneck Approach</a:t>
            </a:r>
          </a:p>
        </p:txBody>
      </p:sp>
      <p:pic>
        <p:nvPicPr>
          <p:cNvPr id="3" name="Picture 2">
            <a:extLst>
              <a:ext uri="{FF2B5EF4-FFF2-40B4-BE49-F238E27FC236}">
                <a16:creationId xmlns:a16="http://schemas.microsoft.com/office/drawing/2014/main" id="{E0AF6775-5B9D-2DBD-834C-A30CFC8620BE}"/>
              </a:ext>
            </a:extLst>
          </p:cNvPr>
          <p:cNvPicPr>
            <a:picLocks noChangeAspect="1"/>
          </p:cNvPicPr>
          <p:nvPr/>
        </p:nvPicPr>
        <p:blipFill>
          <a:blip r:embed="rId2"/>
          <a:stretch>
            <a:fillRect/>
          </a:stretch>
        </p:blipFill>
        <p:spPr>
          <a:xfrm>
            <a:off x="705948" y="1487761"/>
            <a:ext cx="6293565" cy="5264580"/>
          </a:xfrm>
          <a:prstGeom prst="rect">
            <a:avLst/>
          </a:prstGeom>
        </p:spPr>
      </p:pic>
      <p:sp>
        <p:nvSpPr>
          <p:cNvPr id="6" name="Rectangle 5">
            <a:extLst>
              <a:ext uri="{FF2B5EF4-FFF2-40B4-BE49-F238E27FC236}">
                <a16:creationId xmlns:a16="http://schemas.microsoft.com/office/drawing/2014/main" id="{5A708BF2-A624-EB0E-5FB7-F1E2B68C08F4}"/>
              </a:ext>
            </a:extLst>
          </p:cNvPr>
          <p:cNvSpPr/>
          <p:nvPr/>
        </p:nvSpPr>
        <p:spPr>
          <a:xfrm>
            <a:off x="8675980" y="3837578"/>
            <a:ext cx="210312" cy="210312"/>
          </a:xfrm>
          <a:prstGeom prst="rect">
            <a:avLst/>
          </a:prstGeom>
          <a:solidFill>
            <a:srgbClr val="FFBFBF"/>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8C9DEB08-F99A-9C0C-D847-9ED19B5A0C4E}"/>
              </a:ext>
            </a:extLst>
          </p:cNvPr>
          <p:cNvSpPr/>
          <p:nvPr/>
        </p:nvSpPr>
        <p:spPr>
          <a:xfrm>
            <a:off x="8675980" y="4385544"/>
            <a:ext cx="210312" cy="210312"/>
          </a:xfrm>
          <a:prstGeom prst="rect">
            <a:avLst/>
          </a:prstGeom>
          <a:solidFill>
            <a:srgbClr val="BFFFBF"/>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850AF82D-9645-DB77-4A73-1CE448CB3632}"/>
              </a:ext>
            </a:extLst>
          </p:cNvPr>
          <p:cNvSpPr/>
          <p:nvPr/>
        </p:nvSpPr>
        <p:spPr>
          <a:xfrm>
            <a:off x="8675980" y="4933510"/>
            <a:ext cx="210312" cy="210312"/>
          </a:xfrm>
          <a:prstGeom prst="rect">
            <a:avLst/>
          </a:prstGeom>
          <a:solidFill>
            <a:srgbClr val="FFF9CF"/>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TextBox 8">
            <a:extLst>
              <a:ext uri="{FF2B5EF4-FFF2-40B4-BE49-F238E27FC236}">
                <a16:creationId xmlns:a16="http://schemas.microsoft.com/office/drawing/2014/main" id="{7B680E1C-AED0-F216-E0B0-DBCE40B7238C}"/>
              </a:ext>
            </a:extLst>
          </p:cNvPr>
          <p:cNvSpPr txBox="1"/>
          <p:nvPr/>
        </p:nvSpPr>
        <p:spPr>
          <a:xfrm>
            <a:off x="8968731" y="3776774"/>
            <a:ext cx="2114550" cy="307777"/>
          </a:xfrm>
          <a:prstGeom prst="rect">
            <a:avLst/>
          </a:prstGeom>
          <a:noFill/>
        </p:spPr>
        <p:txBody>
          <a:bodyPr wrap="square" rtlCol="0">
            <a:spAutoFit/>
          </a:bodyPr>
          <a:lstStyle/>
          <a:p>
            <a:r>
              <a:rPr lang="en-US" sz="1400" dirty="0"/>
              <a:t>Feature is absent</a:t>
            </a:r>
          </a:p>
        </p:txBody>
      </p:sp>
      <p:sp>
        <p:nvSpPr>
          <p:cNvPr id="10" name="TextBox 9">
            <a:extLst>
              <a:ext uri="{FF2B5EF4-FFF2-40B4-BE49-F238E27FC236}">
                <a16:creationId xmlns:a16="http://schemas.microsoft.com/office/drawing/2014/main" id="{9A90BFC1-804C-6CC0-A27B-143A1F124111}"/>
              </a:ext>
            </a:extLst>
          </p:cNvPr>
          <p:cNvSpPr txBox="1"/>
          <p:nvPr/>
        </p:nvSpPr>
        <p:spPr>
          <a:xfrm>
            <a:off x="8968731" y="4313121"/>
            <a:ext cx="2114550" cy="307777"/>
          </a:xfrm>
          <a:prstGeom prst="rect">
            <a:avLst/>
          </a:prstGeom>
          <a:noFill/>
        </p:spPr>
        <p:txBody>
          <a:bodyPr wrap="square" rtlCol="0">
            <a:spAutoFit/>
          </a:bodyPr>
          <a:lstStyle/>
          <a:p>
            <a:r>
              <a:rPr lang="en-US" sz="1400" dirty="0"/>
              <a:t>Feature is present</a:t>
            </a:r>
          </a:p>
        </p:txBody>
      </p:sp>
      <p:sp>
        <p:nvSpPr>
          <p:cNvPr id="11" name="TextBox 10">
            <a:extLst>
              <a:ext uri="{FF2B5EF4-FFF2-40B4-BE49-F238E27FC236}">
                <a16:creationId xmlns:a16="http://schemas.microsoft.com/office/drawing/2014/main" id="{E7141D54-01F9-6654-FD40-42900FE788CC}"/>
              </a:ext>
            </a:extLst>
          </p:cNvPr>
          <p:cNvSpPr txBox="1"/>
          <p:nvPr/>
        </p:nvSpPr>
        <p:spPr>
          <a:xfrm>
            <a:off x="8968731" y="4884777"/>
            <a:ext cx="2550675" cy="307777"/>
          </a:xfrm>
          <a:prstGeom prst="rect">
            <a:avLst/>
          </a:prstGeom>
          <a:noFill/>
        </p:spPr>
        <p:txBody>
          <a:bodyPr wrap="square" rtlCol="0">
            <a:spAutoFit/>
          </a:bodyPr>
          <a:lstStyle/>
          <a:p>
            <a:r>
              <a:rPr lang="en-US" sz="1400" dirty="0"/>
              <a:t>Presence of feature is uncertain</a:t>
            </a:r>
          </a:p>
        </p:txBody>
      </p:sp>
      <p:sp>
        <p:nvSpPr>
          <p:cNvPr id="12" name="TextBox 11">
            <a:extLst>
              <a:ext uri="{FF2B5EF4-FFF2-40B4-BE49-F238E27FC236}">
                <a16:creationId xmlns:a16="http://schemas.microsoft.com/office/drawing/2014/main" id="{0BC326DA-8C74-6A04-F3A7-361651F22514}"/>
              </a:ext>
            </a:extLst>
          </p:cNvPr>
          <p:cNvSpPr txBox="1"/>
          <p:nvPr/>
        </p:nvSpPr>
        <p:spPr>
          <a:xfrm>
            <a:off x="9159325" y="3244334"/>
            <a:ext cx="1275337" cy="369332"/>
          </a:xfrm>
          <a:prstGeom prst="rect">
            <a:avLst/>
          </a:prstGeom>
          <a:noFill/>
        </p:spPr>
        <p:txBody>
          <a:bodyPr wrap="square" rtlCol="0">
            <a:spAutoFit/>
          </a:bodyPr>
          <a:lstStyle/>
          <a:p>
            <a:r>
              <a:rPr lang="en-US" b="1" dirty="0"/>
              <a:t>LEGEND</a:t>
            </a:r>
          </a:p>
        </p:txBody>
      </p:sp>
      <p:sp>
        <p:nvSpPr>
          <p:cNvPr id="13" name="TextBox 12">
            <a:extLst>
              <a:ext uri="{FF2B5EF4-FFF2-40B4-BE49-F238E27FC236}">
                <a16:creationId xmlns:a16="http://schemas.microsoft.com/office/drawing/2014/main" id="{C546D9DF-05CF-3ADA-FBF8-A99ED3BB66DF}"/>
              </a:ext>
            </a:extLst>
          </p:cNvPr>
          <p:cNvSpPr txBox="1"/>
          <p:nvPr/>
        </p:nvSpPr>
        <p:spPr>
          <a:xfrm>
            <a:off x="7702686" y="2157172"/>
            <a:ext cx="4042610" cy="646331"/>
          </a:xfrm>
          <a:prstGeom prst="rect">
            <a:avLst/>
          </a:prstGeom>
          <a:noFill/>
        </p:spPr>
        <p:txBody>
          <a:bodyPr wrap="square" rtlCol="0">
            <a:spAutoFit/>
          </a:bodyPr>
          <a:lstStyle/>
          <a:p>
            <a:r>
              <a:rPr lang="en-US" dirty="0"/>
              <a:t>Each cell in the table contains a concept of the form “The patient exhibits ____.”</a:t>
            </a:r>
          </a:p>
        </p:txBody>
      </p:sp>
      <p:sp>
        <p:nvSpPr>
          <p:cNvPr id="19" name="Slide Number Placeholder 18">
            <a:extLst>
              <a:ext uri="{FF2B5EF4-FFF2-40B4-BE49-F238E27FC236}">
                <a16:creationId xmlns:a16="http://schemas.microsoft.com/office/drawing/2014/main" id="{1D425118-C897-6235-6F90-7EFD1B9820C3}"/>
              </a:ext>
            </a:extLst>
          </p:cNvPr>
          <p:cNvSpPr>
            <a:spLocks noGrp="1"/>
          </p:cNvSpPr>
          <p:nvPr>
            <p:ph type="sldNum" sz="quarter" idx="12"/>
          </p:nvPr>
        </p:nvSpPr>
        <p:spPr/>
        <p:txBody>
          <a:bodyPr/>
          <a:lstStyle/>
          <a:p>
            <a:fld id="{BDA8D12A-5188-A74B-8183-7E806E12A340}" type="slidenum">
              <a:rPr lang="en-US" smtClean="0"/>
              <a:t>69</a:t>
            </a:fld>
            <a:endParaRPr lang="en-US"/>
          </a:p>
        </p:txBody>
      </p:sp>
    </p:spTree>
    <p:extLst>
      <p:ext uri="{BB962C8B-B14F-4D97-AF65-F5344CB8AC3E}">
        <p14:creationId xmlns:p14="http://schemas.microsoft.com/office/powerpoint/2010/main" val="143513426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54E1F-3D0A-720E-B093-A6D31F58873E}"/>
              </a:ext>
            </a:extLst>
          </p:cNvPr>
          <p:cNvSpPr>
            <a:spLocks noGrp="1"/>
          </p:cNvSpPr>
          <p:nvPr>
            <p:ph type="title"/>
          </p:nvPr>
        </p:nvSpPr>
        <p:spPr/>
        <p:txBody>
          <a:bodyPr>
            <a:normAutofit/>
          </a:bodyPr>
          <a:lstStyle/>
          <a:p>
            <a:r>
              <a:rPr lang="en-US" sz="3200" dirty="0"/>
              <a:t>Exploring Gradient Tree Boosting as Final Classification Model</a:t>
            </a:r>
          </a:p>
        </p:txBody>
      </p:sp>
      <p:sp>
        <p:nvSpPr>
          <p:cNvPr id="3" name="Content Placeholder 2">
            <a:extLst>
              <a:ext uri="{FF2B5EF4-FFF2-40B4-BE49-F238E27FC236}">
                <a16:creationId xmlns:a16="http://schemas.microsoft.com/office/drawing/2014/main" id="{C5B121E2-8CDD-CAA7-F15D-E8EFC6CF9541}"/>
              </a:ext>
            </a:extLst>
          </p:cNvPr>
          <p:cNvSpPr>
            <a:spLocks noGrp="1"/>
          </p:cNvSpPr>
          <p:nvPr>
            <p:ph idx="1"/>
          </p:nvPr>
        </p:nvSpPr>
        <p:spPr>
          <a:xfrm>
            <a:off x="838200" y="1825625"/>
            <a:ext cx="10515600" cy="3120777"/>
          </a:xfrm>
        </p:spPr>
        <p:txBody>
          <a:bodyPr>
            <a:normAutofit/>
          </a:bodyPr>
          <a:lstStyle/>
          <a:p>
            <a:r>
              <a:rPr lang="en-US" dirty="0"/>
              <a:t>Disadvantage of Logistic Regression as the final classification layer:</a:t>
            </a:r>
          </a:p>
          <a:p>
            <a:pPr lvl="1"/>
            <a:r>
              <a:rPr lang="en-US" dirty="0"/>
              <a:t>Cannot handle interacting features automatically</a:t>
            </a:r>
          </a:p>
          <a:p>
            <a:endParaRPr lang="en-US" dirty="0"/>
          </a:p>
          <a:p>
            <a:r>
              <a:rPr lang="en-US" dirty="0"/>
              <a:t>Gradient Tree Boosting as final layer:</a:t>
            </a:r>
          </a:p>
          <a:p>
            <a:pPr lvl="1"/>
            <a:r>
              <a:rPr lang="en-US" dirty="0"/>
              <a:t>Can automatically handle interacting features (up-to a maximum depth of the Decision Tree weak learner used)</a:t>
            </a:r>
          </a:p>
          <a:p>
            <a:pPr lvl="1"/>
            <a:endParaRPr lang="en-US" dirty="0"/>
          </a:p>
        </p:txBody>
      </p:sp>
      <p:graphicFrame>
        <p:nvGraphicFramePr>
          <p:cNvPr id="4" name="Table 3">
            <a:extLst>
              <a:ext uri="{FF2B5EF4-FFF2-40B4-BE49-F238E27FC236}">
                <a16:creationId xmlns:a16="http://schemas.microsoft.com/office/drawing/2014/main" id="{0B591EC9-DAC8-8446-F28B-21B3898496A6}"/>
              </a:ext>
            </a:extLst>
          </p:cNvPr>
          <p:cNvGraphicFramePr>
            <a:graphicFrameLocks noGrp="1"/>
          </p:cNvGraphicFramePr>
          <p:nvPr>
            <p:extLst>
              <p:ext uri="{D42A27DB-BD31-4B8C-83A1-F6EECF244321}">
                <p14:modId xmlns:p14="http://schemas.microsoft.com/office/powerpoint/2010/main" val="1647706266"/>
              </p:ext>
            </p:extLst>
          </p:nvPr>
        </p:nvGraphicFramePr>
        <p:xfrm>
          <a:off x="1675541" y="4946402"/>
          <a:ext cx="8127999" cy="1112520"/>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2709333">
                  <a:extLst>
                    <a:ext uri="{9D8B030D-6E8A-4147-A177-3AD203B41FA5}">
                      <a16:colId xmlns:a16="http://schemas.microsoft.com/office/drawing/2014/main" val="3330144104"/>
                    </a:ext>
                  </a:extLst>
                </a:gridCol>
                <a:gridCol w="2709333">
                  <a:extLst>
                    <a:ext uri="{9D8B030D-6E8A-4147-A177-3AD203B41FA5}">
                      <a16:colId xmlns:a16="http://schemas.microsoft.com/office/drawing/2014/main" val="3381219613"/>
                    </a:ext>
                  </a:extLst>
                </a:gridCol>
                <a:gridCol w="2709333">
                  <a:extLst>
                    <a:ext uri="{9D8B030D-6E8A-4147-A177-3AD203B41FA5}">
                      <a16:colId xmlns:a16="http://schemas.microsoft.com/office/drawing/2014/main" val="2283532951"/>
                    </a:ext>
                  </a:extLst>
                </a:gridCol>
              </a:tblGrid>
              <a:tr h="370840">
                <a:tc>
                  <a:txBody>
                    <a:bodyPr/>
                    <a:lstStyle/>
                    <a:p>
                      <a:r>
                        <a:rPr lang="en-US" dirty="0">
                          <a:solidFill>
                            <a:schemeClr val="tx1"/>
                          </a:solidFill>
                        </a:rPr>
                        <a:t>Final Classifier</a:t>
                      </a:r>
                    </a:p>
                  </a:txBody>
                  <a:tcPr>
                    <a:blipFill>
                      <a:blip r:embed="rId2"/>
                      <a:tile tx="0" ty="0" sx="100000" sy="100000" flip="none" algn="tl"/>
                    </a:blipFill>
                  </a:tcPr>
                </a:tc>
                <a:tc>
                  <a:txBody>
                    <a:bodyPr/>
                    <a:lstStyle/>
                    <a:p>
                      <a:r>
                        <a:rPr lang="en-US" dirty="0">
                          <a:solidFill>
                            <a:schemeClr val="tx1"/>
                          </a:solidFill>
                        </a:rPr>
                        <a:t>Test Accuracy</a:t>
                      </a:r>
                    </a:p>
                  </a:txBody>
                  <a:tcPr>
                    <a:blipFill>
                      <a:blip r:embed="rId2"/>
                      <a:tile tx="0" ty="0" sx="100000" sy="100000" flip="none" algn="tl"/>
                    </a:blipFill>
                  </a:tcPr>
                </a:tc>
                <a:tc>
                  <a:txBody>
                    <a:bodyPr/>
                    <a:lstStyle/>
                    <a:p>
                      <a:r>
                        <a:rPr lang="en-US" dirty="0">
                          <a:solidFill>
                            <a:schemeClr val="tx1"/>
                          </a:solidFill>
                        </a:rPr>
                        <a:t>Test F1</a:t>
                      </a:r>
                    </a:p>
                  </a:txBody>
                  <a:tcPr>
                    <a:blipFill>
                      <a:blip r:embed="rId2"/>
                      <a:tile tx="0" ty="0" sx="100000" sy="100000" flip="none" algn="tl"/>
                    </a:blipFill>
                  </a:tcPr>
                </a:tc>
                <a:extLst>
                  <a:ext uri="{0D108BD9-81ED-4DB2-BD59-A6C34878D82A}">
                    <a16:rowId xmlns:a16="http://schemas.microsoft.com/office/drawing/2014/main" val="1636161683"/>
                  </a:ext>
                </a:extLst>
              </a:tr>
              <a:tr h="370840">
                <a:tc>
                  <a:txBody>
                    <a:bodyPr/>
                    <a:lstStyle/>
                    <a:p>
                      <a:r>
                        <a:rPr lang="en-US" dirty="0"/>
                        <a:t>Logistic Regression</a:t>
                      </a:r>
                    </a:p>
                  </a:txBody>
                  <a:tcPr>
                    <a:blipFill>
                      <a:blip r:embed="rId2"/>
                      <a:tile tx="0" ty="0" sx="100000" sy="100000" flip="none" algn="tl"/>
                    </a:blipFill>
                  </a:tcPr>
                </a:tc>
                <a:tc>
                  <a:txBody>
                    <a:bodyPr/>
                    <a:lstStyle/>
                    <a:p>
                      <a:r>
                        <a:rPr lang="en-US" dirty="0"/>
                        <a:t>0.71</a:t>
                      </a:r>
                    </a:p>
                  </a:txBody>
                  <a:tcPr>
                    <a:blipFill>
                      <a:blip r:embed="rId2"/>
                      <a:tile tx="0" ty="0" sx="100000" sy="100000" flip="none" algn="tl"/>
                    </a:blipFill>
                  </a:tcPr>
                </a:tc>
                <a:tc>
                  <a:txBody>
                    <a:bodyPr/>
                    <a:lstStyle/>
                    <a:p>
                      <a:r>
                        <a:rPr lang="en-US" dirty="0"/>
                        <a:t>0.70</a:t>
                      </a:r>
                    </a:p>
                  </a:txBody>
                  <a:tcPr>
                    <a:blipFill>
                      <a:blip r:embed="rId2"/>
                      <a:tile tx="0" ty="0" sx="100000" sy="100000" flip="none" algn="tl"/>
                    </a:blipFill>
                  </a:tcPr>
                </a:tc>
                <a:extLst>
                  <a:ext uri="{0D108BD9-81ED-4DB2-BD59-A6C34878D82A}">
                    <a16:rowId xmlns:a16="http://schemas.microsoft.com/office/drawing/2014/main" val="4029199822"/>
                  </a:ext>
                </a:extLst>
              </a:tr>
              <a:tr h="370840">
                <a:tc>
                  <a:txBody>
                    <a:bodyPr/>
                    <a:lstStyle/>
                    <a:p>
                      <a:r>
                        <a:rPr lang="en-US" dirty="0"/>
                        <a:t>Gradient Tree Boosting</a:t>
                      </a:r>
                    </a:p>
                  </a:txBody>
                  <a:tcPr>
                    <a:blipFill>
                      <a:blip r:embed="rId2"/>
                      <a:tile tx="0" ty="0" sx="100000" sy="100000" flip="none" algn="tl"/>
                    </a:blipFill>
                  </a:tcPr>
                </a:tc>
                <a:tc>
                  <a:txBody>
                    <a:bodyPr/>
                    <a:lstStyle/>
                    <a:p>
                      <a:r>
                        <a:rPr lang="en-US" dirty="0"/>
                        <a:t>0.72</a:t>
                      </a:r>
                    </a:p>
                  </a:txBody>
                  <a:tcPr>
                    <a:blipFill>
                      <a:blip r:embed="rId2"/>
                      <a:tile tx="0" ty="0" sx="100000" sy="100000" flip="none" algn="tl"/>
                    </a:blipFill>
                  </a:tcPr>
                </a:tc>
                <a:tc>
                  <a:txBody>
                    <a:bodyPr/>
                    <a:lstStyle/>
                    <a:p>
                      <a:r>
                        <a:rPr lang="en-US" dirty="0"/>
                        <a:t>0.71</a:t>
                      </a:r>
                    </a:p>
                  </a:txBody>
                  <a:tcPr>
                    <a:blipFill>
                      <a:blip r:embed="rId2"/>
                      <a:tile tx="0" ty="0" sx="100000" sy="100000" flip="none" algn="tl"/>
                    </a:blipFill>
                  </a:tcPr>
                </a:tc>
                <a:extLst>
                  <a:ext uri="{0D108BD9-81ED-4DB2-BD59-A6C34878D82A}">
                    <a16:rowId xmlns:a16="http://schemas.microsoft.com/office/drawing/2014/main" val="3525669359"/>
                  </a:ext>
                </a:extLst>
              </a:tr>
            </a:tbl>
          </a:graphicData>
        </a:graphic>
      </p:graphicFrame>
      <p:sp>
        <p:nvSpPr>
          <p:cNvPr id="10" name="Slide Number Placeholder 9">
            <a:extLst>
              <a:ext uri="{FF2B5EF4-FFF2-40B4-BE49-F238E27FC236}">
                <a16:creationId xmlns:a16="http://schemas.microsoft.com/office/drawing/2014/main" id="{D7D7B25E-0502-CFDF-B23C-902FD26BAA75}"/>
              </a:ext>
            </a:extLst>
          </p:cNvPr>
          <p:cNvSpPr>
            <a:spLocks noGrp="1"/>
          </p:cNvSpPr>
          <p:nvPr>
            <p:ph type="sldNum" sz="quarter" idx="12"/>
          </p:nvPr>
        </p:nvSpPr>
        <p:spPr/>
        <p:txBody>
          <a:bodyPr/>
          <a:lstStyle/>
          <a:p>
            <a:fld id="{BDA8D12A-5188-A74B-8183-7E806E12A340}" type="slidenum">
              <a:rPr lang="en-US" smtClean="0"/>
              <a:t>70</a:t>
            </a:fld>
            <a:endParaRPr lang="en-US"/>
          </a:p>
        </p:txBody>
      </p:sp>
    </p:spTree>
    <p:extLst>
      <p:ext uri="{BB962C8B-B14F-4D97-AF65-F5344CB8AC3E}">
        <p14:creationId xmlns:p14="http://schemas.microsoft.com/office/powerpoint/2010/main" val="116813098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F4D1F-64BA-B197-A4CB-453FC810A174}"/>
              </a:ext>
            </a:extLst>
          </p:cNvPr>
          <p:cNvSpPr>
            <a:spLocks noGrp="1"/>
          </p:cNvSpPr>
          <p:nvPr>
            <p:ph type="title"/>
          </p:nvPr>
        </p:nvSpPr>
        <p:spPr/>
        <p:txBody>
          <a:bodyPr/>
          <a:lstStyle/>
          <a:p>
            <a:r>
              <a:rPr lang="en-US" dirty="0"/>
              <a:t>Liver Disorder Prediction</a:t>
            </a:r>
          </a:p>
        </p:txBody>
      </p:sp>
      <p:sp>
        <p:nvSpPr>
          <p:cNvPr id="3" name="Content Placeholder 2">
            <a:extLst>
              <a:ext uri="{FF2B5EF4-FFF2-40B4-BE49-F238E27FC236}">
                <a16:creationId xmlns:a16="http://schemas.microsoft.com/office/drawing/2014/main" id="{90EAA717-8428-3728-F563-B33CF4E0BF9F}"/>
              </a:ext>
            </a:extLst>
          </p:cNvPr>
          <p:cNvSpPr>
            <a:spLocks noGrp="1"/>
          </p:cNvSpPr>
          <p:nvPr>
            <p:ph idx="1"/>
          </p:nvPr>
        </p:nvSpPr>
        <p:spPr>
          <a:xfrm>
            <a:off x="838200" y="1825625"/>
            <a:ext cx="10515600" cy="1026432"/>
          </a:xfrm>
        </p:spPr>
        <p:txBody>
          <a:bodyPr>
            <a:normAutofit/>
          </a:bodyPr>
          <a:lstStyle/>
          <a:p>
            <a:r>
              <a:rPr lang="en-US" sz="1800" dirty="0"/>
              <a:t>How well does our approach work for other Clinical Outcomes?</a:t>
            </a:r>
          </a:p>
          <a:p>
            <a:r>
              <a:rPr lang="en-US" sz="1800" dirty="0"/>
              <a:t>Choose liver disorders and rerun the entire pipeline:</a:t>
            </a:r>
          </a:p>
          <a:p>
            <a:endParaRPr lang="en-US" sz="1800" dirty="0"/>
          </a:p>
          <a:p>
            <a:pPr lvl="1"/>
            <a:endParaRPr lang="en-US" sz="1600" dirty="0"/>
          </a:p>
        </p:txBody>
      </p:sp>
      <p:graphicFrame>
        <p:nvGraphicFramePr>
          <p:cNvPr id="4" name="Table 3">
            <a:extLst>
              <a:ext uri="{FF2B5EF4-FFF2-40B4-BE49-F238E27FC236}">
                <a16:creationId xmlns:a16="http://schemas.microsoft.com/office/drawing/2014/main" id="{E11757D4-062D-8E6E-E319-A3045FAAE228}"/>
              </a:ext>
            </a:extLst>
          </p:cNvPr>
          <p:cNvGraphicFramePr>
            <a:graphicFrameLocks noGrp="1"/>
          </p:cNvGraphicFramePr>
          <p:nvPr>
            <p:extLst>
              <p:ext uri="{D42A27DB-BD31-4B8C-83A1-F6EECF244321}">
                <p14:modId xmlns:p14="http://schemas.microsoft.com/office/powerpoint/2010/main" val="2837223385"/>
              </p:ext>
            </p:extLst>
          </p:nvPr>
        </p:nvGraphicFramePr>
        <p:xfrm>
          <a:off x="979714" y="2708955"/>
          <a:ext cx="5914572" cy="1828800"/>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3127829">
                  <a:extLst>
                    <a:ext uri="{9D8B030D-6E8A-4147-A177-3AD203B41FA5}">
                      <a16:colId xmlns:a16="http://schemas.microsoft.com/office/drawing/2014/main" val="2907648327"/>
                    </a:ext>
                  </a:extLst>
                </a:gridCol>
                <a:gridCol w="2786743">
                  <a:extLst>
                    <a:ext uri="{9D8B030D-6E8A-4147-A177-3AD203B41FA5}">
                      <a16:colId xmlns:a16="http://schemas.microsoft.com/office/drawing/2014/main" val="3342748042"/>
                    </a:ext>
                  </a:extLst>
                </a:gridCol>
              </a:tblGrid>
              <a:tr h="130427">
                <a:tc>
                  <a:txBody>
                    <a:bodyPr/>
                    <a:lstStyle/>
                    <a:p>
                      <a:pPr algn="ctr"/>
                      <a:r>
                        <a:rPr lang="en-US" sz="1400" dirty="0">
                          <a:solidFill>
                            <a:schemeClr val="tx1"/>
                          </a:solidFill>
                        </a:rPr>
                        <a:t>Liver Disorder Type</a:t>
                      </a:r>
                    </a:p>
                  </a:txBody>
                  <a:tcPr>
                    <a:blipFill>
                      <a:blip r:embed="rId2"/>
                      <a:tile tx="0" ty="0" sx="100000" sy="100000" flip="none" algn="tl"/>
                    </a:blipFill>
                  </a:tcPr>
                </a:tc>
                <a:tc>
                  <a:txBody>
                    <a:bodyPr/>
                    <a:lstStyle/>
                    <a:p>
                      <a:pPr algn="ctr"/>
                      <a:r>
                        <a:rPr lang="en-US" sz="1400" dirty="0">
                          <a:solidFill>
                            <a:schemeClr val="tx1"/>
                          </a:solidFill>
                        </a:rPr>
                        <a:t>Number of Patient Admissions</a:t>
                      </a:r>
                    </a:p>
                  </a:txBody>
                  <a:tcPr>
                    <a:blipFill>
                      <a:blip r:embed="rId2"/>
                      <a:tile tx="0" ty="0" sx="100000" sy="100000" flip="none" algn="tl"/>
                    </a:blipFill>
                  </a:tcPr>
                </a:tc>
                <a:extLst>
                  <a:ext uri="{0D108BD9-81ED-4DB2-BD59-A6C34878D82A}">
                    <a16:rowId xmlns:a16="http://schemas.microsoft.com/office/drawing/2014/main" val="413914501"/>
                  </a:ext>
                </a:extLst>
              </a:tr>
              <a:tr h="130427">
                <a:tc>
                  <a:txBody>
                    <a:bodyPr/>
                    <a:lstStyle/>
                    <a:p>
                      <a:r>
                        <a:rPr lang="en-US" sz="1400" dirty="0"/>
                        <a:t>Alcoholic cirrhosis of the liver</a:t>
                      </a:r>
                    </a:p>
                  </a:txBody>
                  <a:tcPr>
                    <a:blipFill>
                      <a:blip r:embed="rId2"/>
                      <a:tile tx="0" ty="0" sx="100000" sy="100000" flip="none" algn="tl"/>
                    </a:blipFill>
                  </a:tcPr>
                </a:tc>
                <a:tc>
                  <a:txBody>
                    <a:bodyPr/>
                    <a:lstStyle/>
                    <a:p>
                      <a:r>
                        <a:rPr lang="en-US" sz="1400" dirty="0"/>
                        <a:t>1202</a:t>
                      </a:r>
                    </a:p>
                  </a:txBody>
                  <a:tcPr>
                    <a:blipFill>
                      <a:blip r:embed="rId2"/>
                      <a:tile tx="0" ty="0" sx="100000" sy="100000" flip="none" algn="tl"/>
                    </a:blipFill>
                  </a:tcPr>
                </a:tc>
                <a:extLst>
                  <a:ext uri="{0D108BD9-81ED-4DB2-BD59-A6C34878D82A}">
                    <a16:rowId xmlns:a16="http://schemas.microsoft.com/office/drawing/2014/main" val="2751566152"/>
                  </a:ext>
                </a:extLst>
              </a:tr>
              <a:tr h="130427">
                <a:tc>
                  <a:txBody>
                    <a:bodyPr/>
                    <a:lstStyle/>
                    <a:p>
                      <a:r>
                        <a:rPr lang="en-US" sz="1400" dirty="0"/>
                        <a:t>Liver cirrhosis without alcohol mention</a:t>
                      </a:r>
                    </a:p>
                  </a:txBody>
                  <a:tcPr>
                    <a:blipFill>
                      <a:blip r:embed="rId2"/>
                      <a:tile tx="0" ty="0" sx="100000" sy="100000" flip="none" algn="tl"/>
                    </a:blipFill>
                  </a:tcPr>
                </a:tc>
                <a:tc>
                  <a:txBody>
                    <a:bodyPr/>
                    <a:lstStyle/>
                    <a:p>
                      <a:r>
                        <a:rPr lang="en-US" sz="1400" dirty="0"/>
                        <a:t>1287</a:t>
                      </a:r>
                    </a:p>
                  </a:txBody>
                  <a:tcPr>
                    <a:blipFill>
                      <a:blip r:embed="rId2"/>
                      <a:tile tx="0" ty="0" sx="100000" sy="100000" flip="none" algn="tl"/>
                    </a:blipFill>
                  </a:tcPr>
                </a:tc>
                <a:extLst>
                  <a:ext uri="{0D108BD9-81ED-4DB2-BD59-A6C34878D82A}">
                    <a16:rowId xmlns:a16="http://schemas.microsoft.com/office/drawing/2014/main" val="2338897892"/>
                  </a:ext>
                </a:extLst>
              </a:tr>
              <a:tr h="130427">
                <a:tc>
                  <a:txBody>
                    <a:bodyPr/>
                    <a:lstStyle/>
                    <a:p>
                      <a:r>
                        <a:rPr lang="en-US" sz="1400" dirty="0"/>
                        <a:t>Hepatic Encephalopathy</a:t>
                      </a:r>
                    </a:p>
                  </a:txBody>
                  <a:tcPr>
                    <a:blipFill>
                      <a:blip r:embed="rId2"/>
                      <a:tile tx="0" ty="0" sx="100000" sy="100000" flip="none" algn="tl"/>
                    </a:blipFill>
                  </a:tcPr>
                </a:tc>
                <a:tc>
                  <a:txBody>
                    <a:bodyPr/>
                    <a:lstStyle/>
                    <a:p>
                      <a:r>
                        <a:rPr lang="en-US" sz="1400" dirty="0"/>
                        <a:t>666</a:t>
                      </a:r>
                    </a:p>
                  </a:txBody>
                  <a:tcPr>
                    <a:blipFill>
                      <a:blip r:embed="rId2"/>
                      <a:tile tx="0" ty="0" sx="100000" sy="100000" flip="none" algn="tl"/>
                    </a:blipFill>
                  </a:tcPr>
                </a:tc>
                <a:extLst>
                  <a:ext uri="{0D108BD9-81ED-4DB2-BD59-A6C34878D82A}">
                    <a16:rowId xmlns:a16="http://schemas.microsoft.com/office/drawing/2014/main" val="494990024"/>
                  </a:ext>
                </a:extLst>
              </a:tr>
              <a:tr h="130427">
                <a:tc>
                  <a:txBody>
                    <a:bodyPr/>
                    <a:lstStyle/>
                    <a:p>
                      <a:r>
                        <a:rPr lang="en-US" sz="1400" dirty="0"/>
                        <a:t>Portal Hypertension</a:t>
                      </a:r>
                    </a:p>
                  </a:txBody>
                  <a:tcPr>
                    <a:blipFill>
                      <a:blip r:embed="rId2"/>
                      <a:tile tx="0" ty="0" sx="100000" sy="100000" flip="none" algn="tl"/>
                    </a:blipFill>
                  </a:tcPr>
                </a:tc>
                <a:tc>
                  <a:txBody>
                    <a:bodyPr/>
                    <a:lstStyle/>
                    <a:p>
                      <a:r>
                        <a:rPr lang="en-US" sz="1400" dirty="0"/>
                        <a:t>1007</a:t>
                      </a:r>
                    </a:p>
                  </a:txBody>
                  <a:tcPr>
                    <a:blipFill>
                      <a:blip r:embed="rId2"/>
                      <a:tile tx="0" ty="0" sx="100000" sy="100000" flip="none" algn="tl"/>
                    </a:blipFill>
                  </a:tcPr>
                </a:tc>
                <a:extLst>
                  <a:ext uri="{0D108BD9-81ED-4DB2-BD59-A6C34878D82A}">
                    <a16:rowId xmlns:a16="http://schemas.microsoft.com/office/drawing/2014/main" val="888466471"/>
                  </a:ext>
                </a:extLst>
              </a:tr>
              <a:tr h="130427">
                <a:tc>
                  <a:txBody>
                    <a:bodyPr/>
                    <a:lstStyle/>
                    <a:p>
                      <a:r>
                        <a:rPr lang="en-US" sz="1400" dirty="0"/>
                        <a:t>No Liver Disorder</a:t>
                      </a:r>
                    </a:p>
                  </a:txBody>
                  <a:tcPr>
                    <a:blipFill>
                      <a:blip r:embed="rId2"/>
                      <a:tile tx="0" ty="0" sx="100000" sy="100000" flip="none" algn="tl"/>
                    </a:blipFill>
                  </a:tcPr>
                </a:tc>
                <a:tc>
                  <a:txBody>
                    <a:bodyPr/>
                    <a:lstStyle/>
                    <a:p>
                      <a:r>
                        <a:rPr lang="en-US" sz="1400" dirty="0"/>
                        <a:t>1500</a:t>
                      </a:r>
                    </a:p>
                  </a:txBody>
                  <a:tcPr>
                    <a:blipFill>
                      <a:blip r:embed="rId2"/>
                      <a:tile tx="0" ty="0" sx="100000" sy="100000" flip="none" algn="tl"/>
                    </a:blipFill>
                  </a:tcPr>
                </a:tc>
                <a:extLst>
                  <a:ext uri="{0D108BD9-81ED-4DB2-BD59-A6C34878D82A}">
                    <a16:rowId xmlns:a16="http://schemas.microsoft.com/office/drawing/2014/main" val="1062822099"/>
                  </a:ext>
                </a:extLst>
              </a:tr>
            </a:tbl>
          </a:graphicData>
        </a:graphic>
      </p:graphicFrame>
      <p:sp>
        <p:nvSpPr>
          <p:cNvPr id="13" name="TextBox 12">
            <a:extLst>
              <a:ext uri="{FF2B5EF4-FFF2-40B4-BE49-F238E27FC236}">
                <a16:creationId xmlns:a16="http://schemas.microsoft.com/office/drawing/2014/main" id="{9780D1D9-298B-60DB-D36F-0C37D90B02F4}"/>
              </a:ext>
            </a:extLst>
          </p:cNvPr>
          <p:cNvSpPr txBox="1"/>
          <p:nvPr/>
        </p:nvSpPr>
        <p:spPr>
          <a:xfrm>
            <a:off x="707571" y="4928596"/>
            <a:ext cx="9470572" cy="923330"/>
          </a:xfrm>
          <a:prstGeom prst="rect">
            <a:avLst/>
          </a:prstGeom>
          <a:noFill/>
        </p:spPr>
        <p:txBody>
          <a:bodyPr wrap="square" rtlCol="0">
            <a:spAutoFit/>
          </a:bodyPr>
          <a:lstStyle/>
          <a:p>
            <a:r>
              <a:rPr lang="en-US" dirty="0"/>
              <a:t>Our Approach achieves the highest F1 score for only 1 of 4 Liver Disorders</a:t>
            </a:r>
          </a:p>
          <a:p>
            <a:endParaRPr lang="en-US" dirty="0"/>
          </a:p>
          <a:p>
            <a:r>
              <a:rPr lang="en-US" dirty="0"/>
              <a:t>Why is our approach not performing as well?</a:t>
            </a:r>
          </a:p>
        </p:txBody>
      </p:sp>
      <p:pic>
        <p:nvPicPr>
          <p:cNvPr id="14" name="Picture 13">
            <a:extLst>
              <a:ext uri="{FF2B5EF4-FFF2-40B4-BE49-F238E27FC236}">
                <a16:creationId xmlns:a16="http://schemas.microsoft.com/office/drawing/2014/main" id="{AA2D95C4-042D-6C82-E913-0FA94CBA291A}"/>
              </a:ext>
            </a:extLst>
          </p:cNvPr>
          <p:cNvPicPr>
            <a:picLocks noChangeAspect="1"/>
          </p:cNvPicPr>
          <p:nvPr/>
        </p:nvPicPr>
        <p:blipFill>
          <a:blip r:embed="rId3"/>
          <a:stretch>
            <a:fillRect/>
          </a:stretch>
        </p:blipFill>
        <p:spPr>
          <a:xfrm>
            <a:off x="7282543" y="1649083"/>
            <a:ext cx="4826000" cy="3321118"/>
          </a:xfrm>
          <a:prstGeom prst="rect">
            <a:avLst/>
          </a:prstGeom>
          <a:effectLst>
            <a:outerShdw blurRad="63500" sx="102000" sy="102000" algn="ctr" rotWithShape="0">
              <a:prstClr val="black">
                <a:alpha val="40000"/>
              </a:prstClr>
            </a:outerShdw>
          </a:effectLst>
        </p:spPr>
      </p:pic>
      <p:sp>
        <p:nvSpPr>
          <p:cNvPr id="20" name="Slide Number Placeholder 19">
            <a:extLst>
              <a:ext uri="{FF2B5EF4-FFF2-40B4-BE49-F238E27FC236}">
                <a16:creationId xmlns:a16="http://schemas.microsoft.com/office/drawing/2014/main" id="{DDB4E84E-713F-2F5C-DAD6-6835C3F0086B}"/>
              </a:ext>
            </a:extLst>
          </p:cNvPr>
          <p:cNvSpPr>
            <a:spLocks noGrp="1"/>
          </p:cNvSpPr>
          <p:nvPr>
            <p:ph type="sldNum" sz="quarter" idx="12"/>
          </p:nvPr>
        </p:nvSpPr>
        <p:spPr/>
        <p:txBody>
          <a:bodyPr/>
          <a:lstStyle/>
          <a:p>
            <a:fld id="{BDA8D12A-5188-A74B-8183-7E806E12A340}" type="slidenum">
              <a:rPr lang="en-US" smtClean="0"/>
              <a:t>71</a:t>
            </a:fld>
            <a:endParaRPr lang="en-US"/>
          </a:p>
        </p:txBody>
      </p:sp>
    </p:spTree>
    <p:extLst>
      <p:ext uri="{BB962C8B-B14F-4D97-AF65-F5344CB8AC3E}">
        <p14:creationId xmlns:p14="http://schemas.microsoft.com/office/powerpoint/2010/main" val="21996452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D7AE9-0F0F-DDF0-6058-AEBFD32B0207}"/>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FCF9F7C2-DF1E-3C95-6486-6ADCDA705F3A}"/>
              </a:ext>
            </a:extLst>
          </p:cNvPr>
          <p:cNvSpPr>
            <a:spLocks noGrp="1"/>
          </p:cNvSpPr>
          <p:nvPr>
            <p:ph idx="1"/>
          </p:nvPr>
        </p:nvSpPr>
        <p:spPr/>
        <p:txBody>
          <a:bodyPr>
            <a:normAutofit fontScale="85000" lnSpcReduction="20000"/>
          </a:bodyPr>
          <a:lstStyle/>
          <a:p>
            <a:r>
              <a:rPr lang="en-US" dirty="0"/>
              <a:t>GPT-4 fails to identify certain concepts in patient notes with high accuracy</a:t>
            </a:r>
          </a:p>
          <a:p>
            <a:pPr lvl="1"/>
            <a:r>
              <a:rPr lang="en-US" dirty="0"/>
              <a:t>Could be a potential flaw in our prompting approach – forcing the output to satisfy the template “The patient exhibits ____”.</a:t>
            </a:r>
          </a:p>
          <a:p>
            <a:pPr lvl="1"/>
            <a:endParaRPr lang="en-US" dirty="0"/>
          </a:p>
          <a:p>
            <a:r>
              <a:rPr lang="en-US" dirty="0"/>
              <a:t>Our atomic concept features do not contain all possible modifiers</a:t>
            </a:r>
          </a:p>
          <a:p>
            <a:pPr lvl="1"/>
            <a:r>
              <a:rPr lang="en-US" dirty="0"/>
              <a:t>For example, “</a:t>
            </a:r>
            <a:r>
              <a:rPr lang="en-US" i="1" dirty="0"/>
              <a:t>big</a:t>
            </a:r>
            <a:r>
              <a:rPr lang="en-US" dirty="0"/>
              <a:t>” vs “</a:t>
            </a:r>
            <a:r>
              <a:rPr lang="en-US" i="1" dirty="0"/>
              <a:t>small</a:t>
            </a:r>
            <a:r>
              <a:rPr lang="en-US" dirty="0"/>
              <a:t>” </a:t>
            </a:r>
            <a:r>
              <a:rPr lang="en-US" i="1" dirty="0"/>
              <a:t>lesion</a:t>
            </a:r>
            <a:r>
              <a:rPr lang="en-US" dirty="0"/>
              <a:t> or “</a:t>
            </a:r>
            <a:r>
              <a:rPr lang="en-US" i="1" dirty="0"/>
              <a:t>frequent</a:t>
            </a:r>
            <a:r>
              <a:rPr lang="en-US" dirty="0"/>
              <a:t>” vs “</a:t>
            </a:r>
            <a:r>
              <a:rPr lang="en-US" i="1" dirty="0"/>
              <a:t>occasional</a:t>
            </a:r>
            <a:r>
              <a:rPr lang="en-US" dirty="0"/>
              <a:t>” </a:t>
            </a:r>
            <a:r>
              <a:rPr lang="en-US" i="1" dirty="0"/>
              <a:t>memory loss</a:t>
            </a:r>
            <a:r>
              <a:rPr lang="en-US" dirty="0"/>
              <a:t>.</a:t>
            </a:r>
          </a:p>
          <a:p>
            <a:pPr lvl="1"/>
            <a:endParaRPr lang="en-US" dirty="0"/>
          </a:p>
          <a:p>
            <a:r>
              <a:rPr lang="en-US" dirty="0"/>
              <a:t>We only consider clinical features but ignore non-clinical features.</a:t>
            </a:r>
          </a:p>
          <a:p>
            <a:pPr lvl="1"/>
            <a:r>
              <a:rPr lang="en-US" dirty="0"/>
              <a:t>Non-Clinical Features: Environmental Exposures, Demographics (age, gender), lifestyle (active vs sedentary).</a:t>
            </a:r>
          </a:p>
          <a:p>
            <a:pPr lvl="1"/>
            <a:endParaRPr lang="en-US" dirty="0"/>
          </a:p>
          <a:p>
            <a:r>
              <a:rPr lang="en-US" dirty="0"/>
              <a:t>We only consider clinical features related to dementia.</a:t>
            </a:r>
          </a:p>
          <a:p>
            <a:pPr lvl="1"/>
            <a:r>
              <a:rPr lang="en-US" dirty="0"/>
              <a:t>The 254 clinical features related to dementia might not be expressed by a majority of the control group </a:t>
            </a:r>
            <a:r>
              <a:rPr lang="en-US" dirty="0">
                <a:sym typeface="Wingdings" pitchFamily="2" charset="2"/>
              </a:rPr>
              <a:t> poor modeling of the negative examples</a:t>
            </a:r>
            <a:endParaRPr lang="en-US" dirty="0"/>
          </a:p>
          <a:p>
            <a:endParaRPr lang="en-US" dirty="0"/>
          </a:p>
          <a:p>
            <a:pPr lvl="1"/>
            <a:endParaRPr lang="en-US" dirty="0"/>
          </a:p>
          <a:p>
            <a:endParaRPr lang="en-US" dirty="0"/>
          </a:p>
          <a:p>
            <a:endParaRPr lang="en-US" dirty="0"/>
          </a:p>
        </p:txBody>
      </p:sp>
      <p:sp>
        <p:nvSpPr>
          <p:cNvPr id="9" name="Slide Number Placeholder 8">
            <a:extLst>
              <a:ext uri="{FF2B5EF4-FFF2-40B4-BE49-F238E27FC236}">
                <a16:creationId xmlns:a16="http://schemas.microsoft.com/office/drawing/2014/main" id="{1DD44B01-C857-407F-1848-74F630A00268}"/>
              </a:ext>
            </a:extLst>
          </p:cNvPr>
          <p:cNvSpPr>
            <a:spLocks noGrp="1"/>
          </p:cNvSpPr>
          <p:nvPr>
            <p:ph type="sldNum" sz="quarter" idx="12"/>
          </p:nvPr>
        </p:nvSpPr>
        <p:spPr/>
        <p:txBody>
          <a:bodyPr/>
          <a:lstStyle/>
          <a:p>
            <a:fld id="{BDA8D12A-5188-A74B-8183-7E806E12A340}" type="slidenum">
              <a:rPr lang="en-US" smtClean="0"/>
              <a:t>72</a:t>
            </a:fld>
            <a:endParaRPr lang="en-US"/>
          </a:p>
        </p:txBody>
      </p:sp>
    </p:spTree>
    <p:extLst>
      <p:ext uri="{BB962C8B-B14F-4D97-AF65-F5344CB8AC3E}">
        <p14:creationId xmlns:p14="http://schemas.microsoft.com/office/powerpoint/2010/main" val="428610565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9BBDF-73CD-FD9E-9202-A5717E083071}"/>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7D5CF1AF-FB4F-6517-6711-73F94A44BF68}"/>
              </a:ext>
            </a:extLst>
          </p:cNvPr>
          <p:cNvSpPr>
            <a:spLocks noGrp="1"/>
          </p:cNvSpPr>
          <p:nvPr>
            <p:ph idx="1"/>
          </p:nvPr>
        </p:nvSpPr>
        <p:spPr/>
        <p:txBody>
          <a:bodyPr>
            <a:normAutofit fontScale="92500" lnSpcReduction="20000"/>
          </a:bodyPr>
          <a:lstStyle/>
          <a:p>
            <a:r>
              <a:rPr lang="en-US" dirty="0"/>
              <a:t>We provide a novel approach for extracting 254 dementia concepts from the Oxford Textbook of Medicine. For example:</a:t>
            </a:r>
          </a:p>
          <a:p>
            <a:pPr lvl="1"/>
            <a:r>
              <a:rPr lang="en-US" dirty="0"/>
              <a:t>The patient exhibits memory loss.</a:t>
            </a:r>
          </a:p>
          <a:p>
            <a:pPr lvl="1"/>
            <a:r>
              <a:rPr lang="en-US" dirty="0"/>
              <a:t>The patient exhibits ambulatory difficulties.</a:t>
            </a:r>
          </a:p>
          <a:p>
            <a:pPr marL="0" indent="0">
              <a:buNone/>
            </a:pPr>
            <a:endParaRPr lang="en-US" dirty="0"/>
          </a:p>
          <a:p>
            <a:r>
              <a:rPr lang="en-US" dirty="0"/>
              <a:t>We explore different agreement models for converting patient notes to concept vector representations.</a:t>
            </a:r>
          </a:p>
          <a:p>
            <a:endParaRPr lang="en-US" dirty="0"/>
          </a:p>
          <a:p>
            <a:r>
              <a:rPr lang="en-US" dirty="0"/>
              <a:t>Our Concept Bottleneck approach forces the model to focus on high level clinical concepts, reducing the extent of spurious correlations.</a:t>
            </a:r>
          </a:p>
          <a:p>
            <a:pPr lvl="1"/>
            <a:r>
              <a:rPr lang="en-US" dirty="0"/>
              <a:t>Performs well for patient dementia diagnosis</a:t>
            </a:r>
          </a:p>
          <a:p>
            <a:pPr lvl="1"/>
            <a:r>
              <a:rPr lang="en-US" dirty="0"/>
              <a:t>Liver disorder performance </a:t>
            </a:r>
            <a:r>
              <a:rPr lang="en-US" dirty="0">
                <a:sym typeface="Wingdings" pitchFamily="2" charset="2"/>
              </a:rPr>
              <a:t></a:t>
            </a:r>
            <a:r>
              <a:rPr lang="en-US" dirty="0"/>
              <a:t> highlights limitations and potential areas for future work</a:t>
            </a:r>
          </a:p>
          <a:p>
            <a:endParaRPr lang="en-US" dirty="0"/>
          </a:p>
        </p:txBody>
      </p:sp>
      <p:sp>
        <p:nvSpPr>
          <p:cNvPr id="9" name="Slide Number Placeholder 8">
            <a:extLst>
              <a:ext uri="{FF2B5EF4-FFF2-40B4-BE49-F238E27FC236}">
                <a16:creationId xmlns:a16="http://schemas.microsoft.com/office/drawing/2014/main" id="{497DBBD9-C794-C962-AF06-99D85CEB03E9}"/>
              </a:ext>
            </a:extLst>
          </p:cNvPr>
          <p:cNvSpPr>
            <a:spLocks noGrp="1"/>
          </p:cNvSpPr>
          <p:nvPr>
            <p:ph type="sldNum" sz="quarter" idx="12"/>
          </p:nvPr>
        </p:nvSpPr>
        <p:spPr/>
        <p:txBody>
          <a:bodyPr/>
          <a:lstStyle/>
          <a:p>
            <a:fld id="{BDA8D12A-5188-A74B-8183-7E806E12A340}" type="slidenum">
              <a:rPr lang="en-US" smtClean="0"/>
              <a:t>73</a:t>
            </a:fld>
            <a:endParaRPr lang="en-US"/>
          </a:p>
        </p:txBody>
      </p:sp>
    </p:spTree>
    <p:extLst>
      <p:ext uri="{BB962C8B-B14F-4D97-AF65-F5344CB8AC3E}">
        <p14:creationId xmlns:p14="http://schemas.microsoft.com/office/powerpoint/2010/main" val="238255763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A607F-BD28-6D4F-F9B9-AB616528405A}"/>
              </a:ext>
            </a:extLst>
          </p:cNvPr>
          <p:cNvSpPr>
            <a:spLocks noGrp="1"/>
          </p:cNvSpPr>
          <p:nvPr>
            <p:ph type="title"/>
          </p:nvPr>
        </p:nvSpPr>
        <p:spPr/>
        <p:txBody>
          <a:bodyPr/>
          <a:lstStyle/>
          <a:p>
            <a:r>
              <a:rPr lang="en-US" dirty="0"/>
              <a:t>Future Work</a:t>
            </a:r>
          </a:p>
        </p:txBody>
      </p:sp>
      <p:sp>
        <p:nvSpPr>
          <p:cNvPr id="3" name="Content Placeholder 2">
            <a:extLst>
              <a:ext uri="{FF2B5EF4-FFF2-40B4-BE49-F238E27FC236}">
                <a16:creationId xmlns:a16="http://schemas.microsoft.com/office/drawing/2014/main" id="{AF19CD6A-E437-707E-E2AF-3F036E126A6E}"/>
              </a:ext>
            </a:extLst>
          </p:cNvPr>
          <p:cNvSpPr>
            <a:spLocks noGrp="1"/>
          </p:cNvSpPr>
          <p:nvPr>
            <p:ph idx="1"/>
          </p:nvPr>
        </p:nvSpPr>
        <p:spPr/>
        <p:txBody>
          <a:bodyPr>
            <a:normAutofit lnSpcReduction="10000"/>
          </a:bodyPr>
          <a:lstStyle/>
          <a:p>
            <a:r>
              <a:rPr lang="en-US" dirty="0"/>
              <a:t>Using LLMs for end-to-end patient diagnosis</a:t>
            </a:r>
          </a:p>
          <a:p>
            <a:pPr lvl="1"/>
            <a:r>
              <a:rPr lang="en-US" dirty="0"/>
              <a:t>Unreliable, as model maybe be right for the wrong reasons</a:t>
            </a:r>
          </a:p>
          <a:p>
            <a:pPr lvl="1"/>
            <a:r>
              <a:rPr lang="en-US" dirty="0"/>
              <a:t>Blackbox model </a:t>
            </a:r>
            <a:r>
              <a:rPr lang="en-US" dirty="0">
                <a:sym typeface="Wingdings" pitchFamily="2" charset="2"/>
              </a:rPr>
              <a:t> almost impossible to find true reasoning of the model</a:t>
            </a:r>
          </a:p>
          <a:p>
            <a:pPr lvl="1"/>
            <a:endParaRPr lang="en-US" dirty="0">
              <a:sym typeface="Wingdings" pitchFamily="2" charset="2"/>
            </a:endParaRPr>
          </a:p>
          <a:p>
            <a:r>
              <a:rPr lang="en-US" dirty="0">
                <a:sym typeface="Wingdings" pitchFamily="2" charset="2"/>
              </a:rPr>
              <a:t>Breaking the diagnosis pipeline into smaller steps</a:t>
            </a:r>
          </a:p>
          <a:p>
            <a:pPr lvl="1"/>
            <a:r>
              <a:rPr lang="en-US" dirty="0">
                <a:sym typeface="Wingdings" pitchFamily="2" charset="2"/>
              </a:rPr>
              <a:t>Better interpretability</a:t>
            </a:r>
          </a:p>
          <a:p>
            <a:pPr lvl="1"/>
            <a:r>
              <a:rPr lang="en-US" dirty="0">
                <a:sym typeface="Wingdings" pitchFamily="2" charset="2"/>
              </a:rPr>
              <a:t>Domain knowledge integration</a:t>
            </a:r>
          </a:p>
          <a:p>
            <a:pPr lvl="1"/>
            <a:r>
              <a:rPr lang="en-US" dirty="0">
                <a:sym typeface="Wingdings" pitchFamily="2" charset="2"/>
              </a:rPr>
              <a:t>Debugging and troubleshooting</a:t>
            </a:r>
          </a:p>
          <a:p>
            <a:pPr lvl="1"/>
            <a:endParaRPr lang="en-US" dirty="0">
              <a:sym typeface="Wingdings" pitchFamily="2" charset="2"/>
            </a:endParaRPr>
          </a:p>
          <a:p>
            <a:r>
              <a:rPr lang="en-US" dirty="0">
                <a:sym typeface="Wingdings" pitchFamily="2" charset="2"/>
              </a:rPr>
              <a:t>As a result, my future work will focus on improving diagnostic clinical models using the Concept Bottleneck approach</a:t>
            </a:r>
          </a:p>
        </p:txBody>
      </p:sp>
      <p:sp>
        <p:nvSpPr>
          <p:cNvPr id="9" name="Slide Number Placeholder 8">
            <a:extLst>
              <a:ext uri="{FF2B5EF4-FFF2-40B4-BE49-F238E27FC236}">
                <a16:creationId xmlns:a16="http://schemas.microsoft.com/office/drawing/2014/main" id="{2C041179-ED6A-329F-FDBA-CD187547AACF}"/>
              </a:ext>
            </a:extLst>
          </p:cNvPr>
          <p:cNvSpPr>
            <a:spLocks noGrp="1"/>
          </p:cNvSpPr>
          <p:nvPr>
            <p:ph type="sldNum" sz="quarter" idx="12"/>
          </p:nvPr>
        </p:nvSpPr>
        <p:spPr/>
        <p:txBody>
          <a:bodyPr/>
          <a:lstStyle/>
          <a:p>
            <a:fld id="{BDA8D12A-5188-A74B-8183-7E806E12A340}" type="slidenum">
              <a:rPr lang="en-US" smtClean="0"/>
              <a:t>74</a:t>
            </a:fld>
            <a:endParaRPr lang="en-US"/>
          </a:p>
        </p:txBody>
      </p:sp>
    </p:spTree>
    <p:extLst>
      <p:ext uri="{BB962C8B-B14F-4D97-AF65-F5344CB8AC3E}">
        <p14:creationId xmlns:p14="http://schemas.microsoft.com/office/powerpoint/2010/main" val="314318296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40676-29EF-817B-D91E-4D267C32B8C4}"/>
              </a:ext>
            </a:extLst>
          </p:cNvPr>
          <p:cNvSpPr>
            <a:spLocks noGrp="1"/>
          </p:cNvSpPr>
          <p:nvPr>
            <p:ph type="title"/>
          </p:nvPr>
        </p:nvSpPr>
        <p:spPr/>
        <p:txBody>
          <a:bodyPr/>
          <a:lstStyle/>
          <a:p>
            <a:r>
              <a:rPr lang="en-US" dirty="0"/>
              <a:t>Future Work: Standardize Concept Features</a:t>
            </a:r>
          </a:p>
        </p:txBody>
      </p:sp>
      <p:sp>
        <p:nvSpPr>
          <p:cNvPr id="3" name="Content Placeholder 2">
            <a:extLst>
              <a:ext uri="{FF2B5EF4-FFF2-40B4-BE49-F238E27FC236}">
                <a16:creationId xmlns:a16="http://schemas.microsoft.com/office/drawing/2014/main" id="{51161DF7-F39F-4E55-6317-F8567BBB2BB6}"/>
              </a:ext>
            </a:extLst>
          </p:cNvPr>
          <p:cNvSpPr>
            <a:spLocks noGrp="1"/>
          </p:cNvSpPr>
          <p:nvPr>
            <p:ph idx="1"/>
          </p:nvPr>
        </p:nvSpPr>
        <p:spPr>
          <a:xfrm>
            <a:off x="838200" y="1825625"/>
            <a:ext cx="7108371" cy="4351338"/>
          </a:xfrm>
        </p:spPr>
        <p:txBody>
          <a:bodyPr>
            <a:normAutofit fontScale="70000" lnSpcReduction="20000"/>
          </a:bodyPr>
          <a:lstStyle/>
          <a:p>
            <a:r>
              <a:rPr lang="en-US" i="1" dirty="0"/>
              <a:t>Fever</a:t>
            </a:r>
            <a:r>
              <a:rPr lang="en-US" dirty="0"/>
              <a:t> vs </a:t>
            </a:r>
            <a:r>
              <a:rPr lang="en-US" i="1" dirty="0"/>
              <a:t>Pyrexia</a:t>
            </a:r>
          </a:p>
          <a:p>
            <a:r>
              <a:rPr lang="en-US" i="1" dirty="0"/>
              <a:t>Vomiting</a:t>
            </a:r>
            <a:r>
              <a:rPr lang="en-US" dirty="0"/>
              <a:t> vs </a:t>
            </a:r>
            <a:r>
              <a:rPr lang="en-US" i="1" dirty="0"/>
              <a:t>Emesis</a:t>
            </a:r>
          </a:p>
          <a:p>
            <a:r>
              <a:rPr lang="en-US" i="1" dirty="0"/>
              <a:t>Shortness of breath</a:t>
            </a:r>
            <a:r>
              <a:rPr lang="en-US" dirty="0"/>
              <a:t> vs </a:t>
            </a:r>
            <a:r>
              <a:rPr lang="en-US" i="1" dirty="0"/>
              <a:t>Dyspnea</a:t>
            </a:r>
            <a:endParaRPr lang="en-US" dirty="0"/>
          </a:p>
          <a:p>
            <a:endParaRPr lang="en-US" dirty="0"/>
          </a:p>
          <a:p>
            <a:r>
              <a:rPr lang="en-US" dirty="0"/>
              <a:t>Reduces the dimensionality of the feature space</a:t>
            </a:r>
          </a:p>
          <a:p>
            <a:endParaRPr lang="en-US" b="0" i="0" u="none" strike="noStrike" dirty="0">
              <a:solidFill>
                <a:srgbClr val="000000"/>
              </a:solidFill>
              <a:effectLst/>
            </a:endParaRPr>
          </a:p>
          <a:p>
            <a:r>
              <a:rPr lang="en-US" dirty="0"/>
              <a:t>UMLS </a:t>
            </a:r>
            <a:r>
              <a:rPr lang="en-US" b="0" i="0" u="none" strike="noStrike" dirty="0">
                <a:solidFill>
                  <a:srgbClr val="000000"/>
                </a:solidFill>
                <a:effectLst/>
              </a:rPr>
              <a:t>(Unified Medical Language System)</a:t>
            </a:r>
          </a:p>
          <a:p>
            <a:pPr lvl="1"/>
            <a:r>
              <a:rPr lang="en-US" dirty="0">
                <a:solidFill>
                  <a:srgbClr val="000000"/>
                </a:solidFill>
              </a:rPr>
              <a:t>Integrates multiple health and biomedical terminologies</a:t>
            </a:r>
          </a:p>
          <a:p>
            <a:pPr lvl="2"/>
            <a:r>
              <a:rPr lang="en-US" dirty="0"/>
              <a:t>SNOMED CT (</a:t>
            </a:r>
            <a:r>
              <a:rPr lang="en-US" b="0" i="0" u="none" strike="noStrike" dirty="0">
                <a:solidFill>
                  <a:srgbClr val="000000"/>
                </a:solidFill>
                <a:effectLst/>
              </a:rPr>
              <a:t>Systematized Nomenclature of Medicine – Clinical Terms)</a:t>
            </a:r>
          </a:p>
          <a:p>
            <a:pPr lvl="3"/>
            <a:r>
              <a:rPr lang="en-US" dirty="0">
                <a:solidFill>
                  <a:srgbClr val="000000"/>
                </a:solidFill>
              </a:rPr>
              <a:t>Database for consistently describing symptoms, diagnoses, procedures, etc.</a:t>
            </a:r>
          </a:p>
          <a:p>
            <a:pPr lvl="3"/>
            <a:r>
              <a:rPr lang="en-US" b="0" i="0" u="none" strike="noStrike" dirty="0">
                <a:solidFill>
                  <a:srgbClr val="000000"/>
                </a:solidFill>
                <a:effectLst/>
              </a:rPr>
              <a:t>350,000 clinical concepts</a:t>
            </a:r>
          </a:p>
          <a:p>
            <a:pPr lvl="2"/>
            <a:r>
              <a:rPr lang="en-US" dirty="0">
                <a:solidFill>
                  <a:srgbClr val="000000"/>
                </a:solidFill>
              </a:rPr>
              <a:t>LOINC </a:t>
            </a:r>
            <a:r>
              <a:rPr lang="en-US" b="0" i="0" u="none" strike="noStrike" dirty="0">
                <a:solidFill>
                  <a:srgbClr val="000000"/>
                </a:solidFill>
                <a:effectLst/>
              </a:rPr>
              <a:t>(Logical Observation Identifiers Names and Codes)</a:t>
            </a:r>
          </a:p>
          <a:p>
            <a:pPr lvl="3"/>
            <a:r>
              <a:rPr lang="en-US" dirty="0">
                <a:solidFill>
                  <a:srgbClr val="000000"/>
                </a:solidFill>
              </a:rPr>
              <a:t>Standardization of test results, vital signs and more</a:t>
            </a:r>
          </a:p>
          <a:p>
            <a:pPr lvl="2"/>
            <a:r>
              <a:rPr lang="en-US" b="0" i="0" u="none" strike="noStrike" dirty="0">
                <a:solidFill>
                  <a:srgbClr val="000000"/>
                </a:solidFill>
                <a:effectLst/>
              </a:rPr>
              <a:t>ICD-10</a:t>
            </a:r>
          </a:p>
          <a:p>
            <a:pPr lvl="3"/>
            <a:r>
              <a:rPr lang="en-US" dirty="0">
                <a:solidFill>
                  <a:srgbClr val="000000"/>
                </a:solidFill>
              </a:rPr>
              <a:t>Global standard for classifying diseases and health conditions</a:t>
            </a:r>
            <a:endParaRPr lang="en-US" b="0" i="0" u="none" strike="noStrike" dirty="0">
              <a:solidFill>
                <a:srgbClr val="000000"/>
              </a:solidFill>
              <a:effectLst/>
            </a:endParaRPr>
          </a:p>
          <a:p>
            <a:pPr lvl="2"/>
            <a:endParaRPr lang="en-US" b="0" i="0" u="none" strike="noStrike" dirty="0">
              <a:solidFill>
                <a:srgbClr val="000000"/>
              </a:solidFill>
              <a:effectLst/>
            </a:endParaRPr>
          </a:p>
          <a:p>
            <a:pPr lvl="3"/>
            <a:endParaRPr lang="en-US" b="0" i="0" u="none" strike="noStrike" dirty="0">
              <a:solidFill>
                <a:srgbClr val="000000"/>
              </a:solidFill>
              <a:effectLst/>
            </a:endParaRPr>
          </a:p>
          <a:p>
            <a:pPr lvl="3"/>
            <a:endParaRPr lang="en-US" b="0" i="0" u="none" strike="noStrike" dirty="0">
              <a:solidFill>
                <a:srgbClr val="000000"/>
              </a:solidFill>
              <a:effectLst/>
            </a:endParaRPr>
          </a:p>
          <a:p>
            <a:pPr lvl="3"/>
            <a:endParaRPr lang="en-US" dirty="0"/>
          </a:p>
          <a:p>
            <a:pPr lvl="4"/>
            <a:endParaRPr lang="en-US" b="0" i="0" u="none" strike="noStrike" dirty="0">
              <a:solidFill>
                <a:srgbClr val="000000"/>
              </a:solidFill>
              <a:effectLst/>
            </a:endParaRPr>
          </a:p>
          <a:p>
            <a:pPr lvl="3"/>
            <a:endParaRPr lang="en-US" b="0" i="0" u="none" strike="noStrike" dirty="0">
              <a:solidFill>
                <a:srgbClr val="000000"/>
              </a:solidFill>
              <a:effectLst/>
            </a:endParaRPr>
          </a:p>
          <a:p>
            <a:pPr lvl="1"/>
            <a:endParaRPr lang="en-US" b="0" i="0" u="none" strike="noStrike" dirty="0">
              <a:solidFill>
                <a:srgbClr val="000000"/>
              </a:solidFill>
              <a:effectLst/>
            </a:endParaRPr>
          </a:p>
          <a:p>
            <a:pPr lvl="2"/>
            <a:endParaRPr lang="en-US" i="1" dirty="0"/>
          </a:p>
          <a:p>
            <a:pPr marL="0" indent="0">
              <a:buNone/>
            </a:pPr>
            <a:endParaRPr lang="en-US" dirty="0"/>
          </a:p>
        </p:txBody>
      </p:sp>
      <p:sp>
        <p:nvSpPr>
          <p:cNvPr id="4" name="Rounded Rectangle 3">
            <a:extLst>
              <a:ext uri="{FF2B5EF4-FFF2-40B4-BE49-F238E27FC236}">
                <a16:creationId xmlns:a16="http://schemas.microsoft.com/office/drawing/2014/main" id="{87EE51F1-AFC5-0388-9C03-74DCF05C224B}"/>
              </a:ext>
            </a:extLst>
          </p:cNvPr>
          <p:cNvSpPr/>
          <p:nvPr/>
        </p:nvSpPr>
        <p:spPr>
          <a:xfrm>
            <a:off x="8278589" y="1509033"/>
            <a:ext cx="903514" cy="391886"/>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Fever</a:t>
            </a:r>
          </a:p>
        </p:txBody>
      </p:sp>
      <p:sp>
        <p:nvSpPr>
          <p:cNvPr id="5" name="Rounded Rectangle 4">
            <a:extLst>
              <a:ext uri="{FF2B5EF4-FFF2-40B4-BE49-F238E27FC236}">
                <a16:creationId xmlns:a16="http://schemas.microsoft.com/office/drawing/2014/main" id="{A21A85F3-C75A-9934-36D6-D9D7E48E04F8}"/>
              </a:ext>
            </a:extLst>
          </p:cNvPr>
          <p:cNvSpPr/>
          <p:nvPr/>
        </p:nvSpPr>
        <p:spPr>
          <a:xfrm>
            <a:off x="9704616" y="1509033"/>
            <a:ext cx="903514" cy="391886"/>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Pyrexia</a:t>
            </a:r>
          </a:p>
        </p:txBody>
      </p:sp>
      <p:sp>
        <p:nvSpPr>
          <p:cNvPr id="6" name="Rounded Rectangle 5">
            <a:extLst>
              <a:ext uri="{FF2B5EF4-FFF2-40B4-BE49-F238E27FC236}">
                <a16:creationId xmlns:a16="http://schemas.microsoft.com/office/drawing/2014/main" id="{FE0C8DF5-3C12-76A7-F1B8-66229C5E2953}"/>
              </a:ext>
            </a:extLst>
          </p:cNvPr>
          <p:cNvSpPr/>
          <p:nvPr/>
        </p:nvSpPr>
        <p:spPr>
          <a:xfrm>
            <a:off x="8278588" y="1915207"/>
            <a:ext cx="2329542" cy="203426"/>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C0015967</a:t>
            </a:r>
          </a:p>
        </p:txBody>
      </p:sp>
      <p:sp>
        <p:nvSpPr>
          <p:cNvPr id="7" name="Rounded Rectangle 6">
            <a:extLst>
              <a:ext uri="{FF2B5EF4-FFF2-40B4-BE49-F238E27FC236}">
                <a16:creationId xmlns:a16="http://schemas.microsoft.com/office/drawing/2014/main" id="{811E7060-EFBB-A818-A3BE-D015B4CACF00}"/>
              </a:ext>
            </a:extLst>
          </p:cNvPr>
          <p:cNvSpPr/>
          <p:nvPr/>
        </p:nvSpPr>
        <p:spPr>
          <a:xfrm>
            <a:off x="8278589" y="3110168"/>
            <a:ext cx="903514" cy="391886"/>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Shortness of Breath</a:t>
            </a:r>
          </a:p>
        </p:txBody>
      </p:sp>
      <p:sp>
        <p:nvSpPr>
          <p:cNvPr id="8" name="Rounded Rectangle 7">
            <a:extLst>
              <a:ext uri="{FF2B5EF4-FFF2-40B4-BE49-F238E27FC236}">
                <a16:creationId xmlns:a16="http://schemas.microsoft.com/office/drawing/2014/main" id="{EE407537-93A8-08F9-DD79-9601ABEDDA57}"/>
              </a:ext>
            </a:extLst>
          </p:cNvPr>
          <p:cNvSpPr/>
          <p:nvPr/>
        </p:nvSpPr>
        <p:spPr>
          <a:xfrm>
            <a:off x="9704616" y="3110168"/>
            <a:ext cx="903514" cy="391886"/>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Dyspnea</a:t>
            </a:r>
          </a:p>
        </p:txBody>
      </p:sp>
      <p:sp>
        <p:nvSpPr>
          <p:cNvPr id="9" name="Rounded Rectangle 8">
            <a:extLst>
              <a:ext uri="{FF2B5EF4-FFF2-40B4-BE49-F238E27FC236}">
                <a16:creationId xmlns:a16="http://schemas.microsoft.com/office/drawing/2014/main" id="{21B0B050-C8CA-0343-C340-9C614E48BAEE}"/>
              </a:ext>
            </a:extLst>
          </p:cNvPr>
          <p:cNvSpPr/>
          <p:nvPr/>
        </p:nvSpPr>
        <p:spPr>
          <a:xfrm>
            <a:off x="8278588" y="3516342"/>
            <a:ext cx="2329542" cy="203426"/>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C0013404</a:t>
            </a:r>
          </a:p>
        </p:txBody>
      </p:sp>
      <p:sp>
        <p:nvSpPr>
          <p:cNvPr id="10" name="Rounded Rectangle 9">
            <a:extLst>
              <a:ext uri="{FF2B5EF4-FFF2-40B4-BE49-F238E27FC236}">
                <a16:creationId xmlns:a16="http://schemas.microsoft.com/office/drawing/2014/main" id="{BD73D423-D8AA-D57F-ADF8-2FC56922AB9E}"/>
              </a:ext>
            </a:extLst>
          </p:cNvPr>
          <p:cNvSpPr/>
          <p:nvPr/>
        </p:nvSpPr>
        <p:spPr>
          <a:xfrm>
            <a:off x="8278589" y="4697016"/>
            <a:ext cx="903514" cy="391886"/>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Vomiting</a:t>
            </a:r>
          </a:p>
        </p:txBody>
      </p:sp>
      <p:sp>
        <p:nvSpPr>
          <p:cNvPr id="11" name="Rounded Rectangle 10">
            <a:extLst>
              <a:ext uri="{FF2B5EF4-FFF2-40B4-BE49-F238E27FC236}">
                <a16:creationId xmlns:a16="http://schemas.microsoft.com/office/drawing/2014/main" id="{5212748F-81F4-C80A-7B43-E57AD7E65865}"/>
              </a:ext>
            </a:extLst>
          </p:cNvPr>
          <p:cNvSpPr/>
          <p:nvPr/>
        </p:nvSpPr>
        <p:spPr>
          <a:xfrm>
            <a:off x="9704616" y="4697016"/>
            <a:ext cx="903514" cy="391886"/>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Emesis</a:t>
            </a:r>
          </a:p>
        </p:txBody>
      </p:sp>
      <p:sp>
        <p:nvSpPr>
          <p:cNvPr id="12" name="Rounded Rectangle 11">
            <a:extLst>
              <a:ext uri="{FF2B5EF4-FFF2-40B4-BE49-F238E27FC236}">
                <a16:creationId xmlns:a16="http://schemas.microsoft.com/office/drawing/2014/main" id="{B48F11D0-AC0C-EB2D-D517-4EBCEF629FAE}"/>
              </a:ext>
            </a:extLst>
          </p:cNvPr>
          <p:cNvSpPr/>
          <p:nvPr/>
        </p:nvSpPr>
        <p:spPr>
          <a:xfrm>
            <a:off x="8278588" y="5103190"/>
            <a:ext cx="2329542" cy="203426"/>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C0042963</a:t>
            </a:r>
          </a:p>
        </p:txBody>
      </p:sp>
      <p:sp>
        <p:nvSpPr>
          <p:cNvPr id="18" name="Slide Number Placeholder 17">
            <a:extLst>
              <a:ext uri="{FF2B5EF4-FFF2-40B4-BE49-F238E27FC236}">
                <a16:creationId xmlns:a16="http://schemas.microsoft.com/office/drawing/2014/main" id="{56EB9B4C-65BD-3078-308F-C7706DCD339C}"/>
              </a:ext>
            </a:extLst>
          </p:cNvPr>
          <p:cNvSpPr>
            <a:spLocks noGrp="1"/>
          </p:cNvSpPr>
          <p:nvPr>
            <p:ph type="sldNum" sz="quarter" idx="12"/>
          </p:nvPr>
        </p:nvSpPr>
        <p:spPr/>
        <p:txBody>
          <a:bodyPr/>
          <a:lstStyle/>
          <a:p>
            <a:fld id="{BDA8D12A-5188-A74B-8183-7E806E12A340}" type="slidenum">
              <a:rPr lang="en-US" smtClean="0"/>
              <a:t>75</a:t>
            </a:fld>
            <a:endParaRPr lang="en-US"/>
          </a:p>
        </p:txBody>
      </p:sp>
    </p:spTree>
    <p:extLst>
      <p:ext uri="{BB962C8B-B14F-4D97-AF65-F5344CB8AC3E}">
        <p14:creationId xmlns:p14="http://schemas.microsoft.com/office/powerpoint/2010/main" val="396224738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B2C97-7459-C95F-82C2-D80ACAAB85DF}"/>
              </a:ext>
            </a:extLst>
          </p:cNvPr>
          <p:cNvSpPr>
            <a:spLocks noGrp="1"/>
          </p:cNvSpPr>
          <p:nvPr>
            <p:ph type="title"/>
          </p:nvPr>
        </p:nvSpPr>
        <p:spPr/>
        <p:txBody>
          <a:bodyPr/>
          <a:lstStyle/>
          <a:p>
            <a:r>
              <a:rPr lang="en-US" dirty="0"/>
              <a:t>Future Work: Concept Feature Modifiers </a:t>
            </a:r>
          </a:p>
        </p:txBody>
      </p:sp>
      <p:sp>
        <p:nvSpPr>
          <p:cNvPr id="3" name="Content Placeholder 2">
            <a:extLst>
              <a:ext uri="{FF2B5EF4-FFF2-40B4-BE49-F238E27FC236}">
                <a16:creationId xmlns:a16="http://schemas.microsoft.com/office/drawing/2014/main" id="{970EAFB6-0DA3-5DBE-36CD-B5A341628340}"/>
              </a:ext>
            </a:extLst>
          </p:cNvPr>
          <p:cNvSpPr>
            <a:spLocks noGrp="1"/>
          </p:cNvSpPr>
          <p:nvPr>
            <p:ph idx="1"/>
          </p:nvPr>
        </p:nvSpPr>
        <p:spPr>
          <a:xfrm>
            <a:off x="838200" y="1825624"/>
            <a:ext cx="10515600" cy="4358199"/>
          </a:xfrm>
        </p:spPr>
        <p:txBody>
          <a:bodyPr>
            <a:normAutofit lnSpcReduction="10000"/>
          </a:bodyPr>
          <a:lstStyle/>
          <a:p>
            <a:r>
              <a:rPr lang="en-US" dirty="0"/>
              <a:t>Create a set of modifiers for each concept feature</a:t>
            </a:r>
          </a:p>
          <a:p>
            <a:pPr lvl="1"/>
            <a:r>
              <a:rPr lang="en-US" b="1" dirty="0"/>
              <a:t>Size modifiers</a:t>
            </a:r>
            <a:r>
              <a:rPr lang="en-US" dirty="0"/>
              <a:t>: large, small, tiny, huge</a:t>
            </a:r>
          </a:p>
          <a:p>
            <a:pPr lvl="1"/>
            <a:r>
              <a:rPr lang="en-US" b="1" dirty="0"/>
              <a:t>Frequency modifiers</a:t>
            </a:r>
            <a:r>
              <a:rPr lang="en-US" dirty="0"/>
              <a:t>: frequent, occasional, intermittent, rare</a:t>
            </a:r>
          </a:p>
          <a:p>
            <a:pPr lvl="1"/>
            <a:r>
              <a:rPr lang="en-US" b="1" dirty="0"/>
              <a:t>Severity modifiers</a:t>
            </a:r>
            <a:r>
              <a:rPr lang="en-US" dirty="0"/>
              <a:t>: mild, moderate, severe, excruciating</a:t>
            </a:r>
          </a:p>
          <a:p>
            <a:pPr lvl="1"/>
            <a:r>
              <a:rPr lang="en-US" b="1" dirty="0"/>
              <a:t>Time modifiers</a:t>
            </a:r>
            <a:r>
              <a:rPr lang="en-US" dirty="0"/>
              <a:t>: chronic, acute, recent, persistent</a:t>
            </a:r>
          </a:p>
          <a:p>
            <a:pPr lvl="1"/>
            <a:r>
              <a:rPr lang="en-US" b="1" dirty="0"/>
              <a:t>Other clinical modifiers</a:t>
            </a:r>
            <a:r>
              <a:rPr lang="en-US" dirty="0"/>
              <a:t>: bilateral, symmetrical, right-sided</a:t>
            </a:r>
          </a:p>
          <a:p>
            <a:endParaRPr lang="en-US" dirty="0"/>
          </a:p>
          <a:p>
            <a:r>
              <a:rPr lang="en-US" dirty="0"/>
              <a:t>Concepts with modifiers </a:t>
            </a:r>
            <a:r>
              <a:rPr lang="en-US" dirty="0">
                <a:sym typeface="Wingdings" pitchFamily="2" charset="2"/>
              </a:rPr>
              <a:t> </a:t>
            </a:r>
            <a:r>
              <a:rPr lang="en-US" dirty="0"/>
              <a:t>concept feature representation</a:t>
            </a:r>
          </a:p>
          <a:p>
            <a:pPr lvl="1"/>
            <a:endParaRPr lang="en-US" dirty="0"/>
          </a:p>
          <a:p>
            <a:r>
              <a:rPr lang="en-US" dirty="0"/>
              <a:t>Resource: SNOWMED CT and the UMLS </a:t>
            </a:r>
            <a:r>
              <a:rPr lang="en-US" dirty="0" err="1"/>
              <a:t>Metathesaurus</a:t>
            </a:r>
            <a:endParaRPr lang="en-US" dirty="0"/>
          </a:p>
          <a:p>
            <a:pPr lvl="1"/>
            <a:r>
              <a:rPr lang="en-US" dirty="0"/>
              <a:t>Can additionally use LLMs to generate a list of modifiers </a:t>
            </a:r>
          </a:p>
        </p:txBody>
      </p:sp>
      <p:sp>
        <p:nvSpPr>
          <p:cNvPr id="4" name="Rounded Rectangle 3">
            <a:extLst>
              <a:ext uri="{FF2B5EF4-FFF2-40B4-BE49-F238E27FC236}">
                <a16:creationId xmlns:a16="http://schemas.microsoft.com/office/drawing/2014/main" id="{93EB5234-96FC-1E3D-E968-83FF3EA74BD7}"/>
              </a:ext>
            </a:extLst>
          </p:cNvPr>
          <p:cNvSpPr/>
          <p:nvPr/>
        </p:nvSpPr>
        <p:spPr>
          <a:xfrm>
            <a:off x="10145809" y="3246480"/>
            <a:ext cx="1730828" cy="413657"/>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Skin Lesion</a:t>
            </a:r>
          </a:p>
        </p:txBody>
      </p:sp>
      <p:sp>
        <p:nvSpPr>
          <p:cNvPr id="5" name="Rounded Rectangle 4">
            <a:extLst>
              <a:ext uri="{FF2B5EF4-FFF2-40B4-BE49-F238E27FC236}">
                <a16:creationId xmlns:a16="http://schemas.microsoft.com/office/drawing/2014/main" id="{E2533E69-3A09-CBF3-1F61-06BC759C5033}"/>
              </a:ext>
            </a:extLst>
          </p:cNvPr>
          <p:cNvSpPr/>
          <p:nvPr/>
        </p:nvSpPr>
        <p:spPr>
          <a:xfrm>
            <a:off x="9640222" y="2655977"/>
            <a:ext cx="696686" cy="348343"/>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Size</a:t>
            </a:r>
          </a:p>
        </p:txBody>
      </p:sp>
      <p:sp>
        <p:nvSpPr>
          <p:cNvPr id="6" name="Rounded Rectangle 5">
            <a:extLst>
              <a:ext uri="{FF2B5EF4-FFF2-40B4-BE49-F238E27FC236}">
                <a16:creationId xmlns:a16="http://schemas.microsoft.com/office/drawing/2014/main" id="{D4660F03-AA0E-9C27-B3E9-F3A42ECCA96E}"/>
              </a:ext>
            </a:extLst>
          </p:cNvPr>
          <p:cNvSpPr/>
          <p:nvPr/>
        </p:nvSpPr>
        <p:spPr>
          <a:xfrm>
            <a:off x="8811711" y="3283607"/>
            <a:ext cx="1055914" cy="348343"/>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Location</a:t>
            </a:r>
          </a:p>
        </p:txBody>
      </p:sp>
      <p:sp>
        <p:nvSpPr>
          <p:cNvPr id="7" name="Rounded Rectangle 6">
            <a:extLst>
              <a:ext uri="{FF2B5EF4-FFF2-40B4-BE49-F238E27FC236}">
                <a16:creationId xmlns:a16="http://schemas.microsoft.com/office/drawing/2014/main" id="{398FC982-CA93-6C8A-ED50-DB8A01F754A8}"/>
              </a:ext>
            </a:extLst>
          </p:cNvPr>
          <p:cNvSpPr/>
          <p:nvPr/>
        </p:nvSpPr>
        <p:spPr>
          <a:xfrm>
            <a:off x="9339668" y="3939424"/>
            <a:ext cx="1055914" cy="348343"/>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Type</a:t>
            </a:r>
          </a:p>
        </p:txBody>
      </p:sp>
      <p:sp>
        <p:nvSpPr>
          <p:cNvPr id="8" name="Rounded Rectangle 7">
            <a:extLst>
              <a:ext uri="{FF2B5EF4-FFF2-40B4-BE49-F238E27FC236}">
                <a16:creationId xmlns:a16="http://schemas.microsoft.com/office/drawing/2014/main" id="{AC627FFB-71F8-C4A3-D8C6-E28D2054F47F}"/>
              </a:ext>
            </a:extLst>
          </p:cNvPr>
          <p:cNvSpPr/>
          <p:nvPr/>
        </p:nvSpPr>
        <p:spPr>
          <a:xfrm>
            <a:off x="10715694" y="3900580"/>
            <a:ext cx="1055914" cy="348343"/>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Severity</a:t>
            </a:r>
          </a:p>
        </p:txBody>
      </p:sp>
      <p:sp>
        <p:nvSpPr>
          <p:cNvPr id="9" name="Rounded Rectangle 8">
            <a:extLst>
              <a:ext uri="{FF2B5EF4-FFF2-40B4-BE49-F238E27FC236}">
                <a16:creationId xmlns:a16="http://schemas.microsoft.com/office/drawing/2014/main" id="{500E230A-89F0-AB0E-6A6B-179A46F35EDF}"/>
              </a:ext>
            </a:extLst>
          </p:cNvPr>
          <p:cNvSpPr/>
          <p:nvPr/>
        </p:nvSpPr>
        <p:spPr>
          <a:xfrm>
            <a:off x="10715694" y="2655978"/>
            <a:ext cx="1055914" cy="348343"/>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Duration</a:t>
            </a:r>
          </a:p>
        </p:txBody>
      </p:sp>
      <p:sp>
        <p:nvSpPr>
          <p:cNvPr id="20" name="Slide Number Placeholder 19">
            <a:extLst>
              <a:ext uri="{FF2B5EF4-FFF2-40B4-BE49-F238E27FC236}">
                <a16:creationId xmlns:a16="http://schemas.microsoft.com/office/drawing/2014/main" id="{DF305EB0-28A3-0A44-EEA5-06EF48D5ADD8}"/>
              </a:ext>
            </a:extLst>
          </p:cNvPr>
          <p:cNvSpPr>
            <a:spLocks noGrp="1"/>
          </p:cNvSpPr>
          <p:nvPr>
            <p:ph type="sldNum" sz="quarter" idx="12"/>
          </p:nvPr>
        </p:nvSpPr>
        <p:spPr/>
        <p:txBody>
          <a:bodyPr/>
          <a:lstStyle/>
          <a:p>
            <a:fld id="{BDA8D12A-5188-A74B-8183-7E806E12A340}" type="slidenum">
              <a:rPr lang="en-US" smtClean="0"/>
              <a:t>76</a:t>
            </a:fld>
            <a:endParaRPr lang="en-US"/>
          </a:p>
        </p:txBody>
      </p:sp>
    </p:spTree>
    <p:extLst>
      <p:ext uri="{BB962C8B-B14F-4D97-AF65-F5344CB8AC3E}">
        <p14:creationId xmlns:p14="http://schemas.microsoft.com/office/powerpoint/2010/main" val="210407631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81F18-4C09-1014-434D-DEB1A4A5F1E0}"/>
              </a:ext>
            </a:extLst>
          </p:cNvPr>
          <p:cNvSpPr>
            <a:spLocks noGrp="1"/>
          </p:cNvSpPr>
          <p:nvPr>
            <p:ph type="title"/>
          </p:nvPr>
        </p:nvSpPr>
        <p:spPr/>
        <p:txBody>
          <a:bodyPr/>
          <a:lstStyle/>
          <a:p>
            <a:r>
              <a:rPr lang="en-US" dirty="0"/>
              <a:t>Future Work: Non-Clinical Features</a:t>
            </a:r>
          </a:p>
        </p:txBody>
      </p:sp>
      <p:sp>
        <p:nvSpPr>
          <p:cNvPr id="5" name="Content Placeholder 4">
            <a:extLst>
              <a:ext uri="{FF2B5EF4-FFF2-40B4-BE49-F238E27FC236}">
                <a16:creationId xmlns:a16="http://schemas.microsoft.com/office/drawing/2014/main" id="{BE84108C-B025-4BF9-901E-00D6D81F1D18}"/>
              </a:ext>
            </a:extLst>
          </p:cNvPr>
          <p:cNvSpPr>
            <a:spLocks noGrp="1"/>
          </p:cNvSpPr>
          <p:nvPr>
            <p:ph idx="1"/>
          </p:nvPr>
        </p:nvSpPr>
        <p:spPr/>
        <p:txBody>
          <a:bodyPr>
            <a:normAutofit/>
          </a:bodyPr>
          <a:lstStyle/>
          <a:p>
            <a:r>
              <a:rPr lang="en-US" dirty="0"/>
              <a:t>Create a set of non-clinical concept features</a:t>
            </a:r>
          </a:p>
          <a:p>
            <a:pPr lvl="1"/>
            <a:r>
              <a:rPr lang="en-US" b="1" dirty="0"/>
              <a:t>Demographic information</a:t>
            </a:r>
            <a:r>
              <a:rPr lang="en-US" dirty="0"/>
              <a:t>: Age, Gender, Ethnicity</a:t>
            </a:r>
          </a:p>
          <a:p>
            <a:pPr lvl="1"/>
            <a:r>
              <a:rPr lang="en-US" b="1" dirty="0"/>
              <a:t>Economic Stability</a:t>
            </a:r>
            <a:r>
              <a:rPr lang="en-US" dirty="0"/>
              <a:t>: Income Level, Employment Status, Housing Stability</a:t>
            </a:r>
          </a:p>
          <a:p>
            <a:pPr lvl="1"/>
            <a:r>
              <a:rPr lang="en-US" b="1" dirty="0"/>
              <a:t>Social and Community Context</a:t>
            </a:r>
            <a:r>
              <a:rPr lang="en-US" dirty="0"/>
              <a:t>: Family Support, Social Isolation</a:t>
            </a:r>
          </a:p>
          <a:p>
            <a:pPr lvl="1"/>
            <a:r>
              <a:rPr lang="en-US" b="1" dirty="0"/>
              <a:t>Neighborhood</a:t>
            </a:r>
            <a:r>
              <a:rPr lang="en-US" dirty="0"/>
              <a:t>: Housing Quality, Cleanliness, Food Security</a:t>
            </a:r>
          </a:p>
          <a:p>
            <a:pPr lvl="1"/>
            <a:r>
              <a:rPr lang="en-US" b="1" dirty="0"/>
              <a:t>Behavioral and Lifestyle Factors</a:t>
            </a:r>
            <a:r>
              <a:rPr lang="en-US" dirty="0"/>
              <a:t>: Physical Activity, Diet, Substance Use, Sleep</a:t>
            </a:r>
          </a:p>
          <a:p>
            <a:endParaRPr lang="en-US" dirty="0"/>
          </a:p>
          <a:p>
            <a:r>
              <a:rPr lang="en-US" i="0" u="none" strike="noStrike" dirty="0">
                <a:solidFill>
                  <a:srgbClr val="000000"/>
                </a:solidFill>
                <a:effectLst/>
              </a:rPr>
              <a:t>Resource: ICF (International Classification of Functioning, Disability, and Health)</a:t>
            </a:r>
          </a:p>
          <a:p>
            <a:endParaRPr lang="en-US" dirty="0"/>
          </a:p>
        </p:txBody>
      </p:sp>
      <p:sp>
        <p:nvSpPr>
          <p:cNvPr id="12" name="Slide Number Placeholder 11">
            <a:extLst>
              <a:ext uri="{FF2B5EF4-FFF2-40B4-BE49-F238E27FC236}">
                <a16:creationId xmlns:a16="http://schemas.microsoft.com/office/drawing/2014/main" id="{19767C2D-7808-EC76-0EC3-000D0B6EC08E}"/>
              </a:ext>
            </a:extLst>
          </p:cNvPr>
          <p:cNvSpPr>
            <a:spLocks noGrp="1"/>
          </p:cNvSpPr>
          <p:nvPr>
            <p:ph type="sldNum" sz="quarter" idx="12"/>
          </p:nvPr>
        </p:nvSpPr>
        <p:spPr/>
        <p:txBody>
          <a:bodyPr/>
          <a:lstStyle/>
          <a:p>
            <a:fld id="{BDA8D12A-5188-A74B-8183-7E806E12A340}" type="slidenum">
              <a:rPr lang="en-US" smtClean="0"/>
              <a:t>77</a:t>
            </a:fld>
            <a:endParaRPr lang="en-US"/>
          </a:p>
        </p:txBody>
      </p:sp>
    </p:spTree>
    <p:extLst>
      <p:ext uri="{BB962C8B-B14F-4D97-AF65-F5344CB8AC3E}">
        <p14:creationId xmlns:p14="http://schemas.microsoft.com/office/powerpoint/2010/main" val="223835725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F20BD-B1AE-C9F2-5A58-B7E1D0E4BFA3}"/>
              </a:ext>
            </a:extLst>
          </p:cNvPr>
          <p:cNvSpPr>
            <a:spLocks noGrp="1"/>
          </p:cNvSpPr>
          <p:nvPr>
            <p:ph type="title"/>
          </p:nvPr>
        </p:nvSpPr>
        <p:spPr/>
        <p:txBody>
          <a:bodyPr/>
          <a:lstStyle/>
          <a:p>
            <a:r>
              <a:rPr lang="en-US" dirty="0"/>
              <a:t>Future Work: Scaling to More Diseases</a:t>
            </a:r>
          </a:p>
        </p:txBody>
      </p:sp>
      <p:sp>
        <p:nvSpPr>
          <p:cNvPr id="3" name="Content Placeholder 2">
            <a:extLst>
              <a:ext uri="{FF2B5EF4-FFF2-40B4-BE49-F238E27FC236}">
                <a16:creationId xmlns:a16="http://schemas.microsoft.com/office/drawing/2014/main" id="{B3414E06-469B-0CC4-32E4-853CA2F44E06}"/>
              </a:ext>
            </a:extLst>
          </p:cNvPr>
          <p:cNvSpPr>
            <a:spLocks noGrp="1"/>
          </p:cNvSpPr>
          <p:nvPr>
            <p:ph idx="1"/>
          </p:nvPr>
        </p:nvSpPr>
        <p:spPr/>
        <p:txBody>
          <a:bodyPr>
            <a:normAutofit lnSpcReduction="10000"/>
          </a:bodyPr>
          <a:lstStyle/>
          <a:p>
            <a:r>
              <a:rPr lang="en-US" dirty="0"/>
              <a:t>Scaling up our Concept Bottleneck approach to include a universal set of diseases</a:t>
            </a:r>
          </a:p>
          <a:p>
            <a:pPr lvl="1"/>
            <a:r>
              <a:rPr lang="en-US" dirty="0"/>
              <a:t>A major hurdle is run time and cost for using LLMs</a:t>
            </a:r>
          </a:p>
          <a:p>
            <a:pPr lvl="2"/>
            <a:r>
              <a:rPr lang="en-US" dirty="0"/>
              <a:t>Trends of decreasing costs and higher API calls might make this possible in the future!</a:t>
            </a:r>
          </a:p>
          <a:p>
            <a:pPr lvl="2"/>
            <a:r>
              <a:rPr lang="en-US" dirty="0"/>
              <a:t>Newer open-source models like Llama3 show comparable performance to GPT-4</a:t>
            </a:r>
          </a:p>
          <a:p>
            <a:pPr lvl="2"/>
            <a:endParaRPr lang="en-US" dirty="0"/>
          </a:p>
          <a:p>
            <a:pPr lvl="1"/>
            <a:r>
              <a:rPr lang="en-US" dirty="0"/>
              <a:t>Alternatively, improve our Text Embedding approach with GPT-4 to require fewer API calls.</a:t>
            </a:r>
          </a:p>
          <a:p>
            <a:endParaRPr lang="en-US" dirty="0"/>
          </a:p>
          <a:p>
            <a:r>
              <a:rPr lang="en-US" dirty="0"/>
              <a:t>This will result in better modeling of the control group and a more accurate decision boundary</a:t>
            </a:r>
          </a:p>
          <a:p>
            <a:pPr lvl="1"/>
            <a:endParaRPr lang="en-US" dirty="0"/>
          </a:p>
        </p:txBody>
      </p:sp>
      <p:sp>
        <p:nvSpPr>
          <p:cNvPr id="9" name="Slide Number Placeholder 8">
            <a:extLst>
              <a:ext uri="{FF2B5EF4-FFF2-40B4-BE49-F238E27FC236}">
                <a16:creationId xmlns:a16="http://schemas.microsoft.com/office/drawing/2014/main" id="{3AB50001-9302-5CD7-5DF9-D60730E4E82B}"/>
              </a:ext>
            </a:extLst>
          </p:cNvPr>
          <p:cNvSpPr>
            <a:spLocks noGrp="1"/>
          </p:cNvSpPr>
          <p:nvPr>
            <p:ph type="sldNum" sz="quarter" idx="12"/>
          </p:nvPr>
        </p:nvSpPr>
        <p:spPr/>
        <p:txBody>
          <a:bodyPr/>
          <a:lstStyle/>
          <a:p>
            <a:fld id="{BDA8D12A-5188-A74B-8183-7E806E12A340}" type="slidenum">
              <a:rPr lang="en-US" smtClean="0"/>
              <a:t>78</a:t>
            </a:fld>
            <a:endParaRPr lang="en-US"/>
          </a:p>
        </p:txBody>
      </p:sp>
    </p:spTree>
    <p:extLst>
      <p:ext uri="{BB962C8B-B14F-4D97-AF65-F5344CB8AC3E}">
        <p14:creationId xmlns:p14="http://schemas.microsoft.com/office/powerpoint/2010/main" val="65649860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35802-59C6-4FB0-1EA0-E04196E5348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6CC263A3-2BB7-5F55-BFB4-65277501C870}"/>
              </a:ext>
            </a:extLst>
          </p:cNvPr>
          <p:cNvSpPr>
            <a:spLocks noGrp="1"/>
          </p:cNvSpPr>
          <p:nvPr>
            <p:ph idx="1"/>
          </p:nvPr>
        </p:nvSpPr>
        <p:spPr/>
        <p:txBody>
          <a:bodyPr>
            <a:normAutofit fontScale="77500" lnSpcReduction="20000"/>
          </a:bodyPr>
          <a:lstStyle/>
          <a:p>
            <a:r>
              <a:rPr lang="en-US" dirty="0"/>
              <a:t>Chris </a:t>
            </a:r>
            <a:r>
              <a:rPr lang="en-US" dirty="0" err="1"/>
              <a:t>Callison</a:t>
            </a:r>
            <a:r>
              <a:rPr lang="en-US" dirty="0"/>
              <a:t>-Burch, Mary Regina Boland and Li Shen</a:t>
            </a:r>
          </a:p>
          <a:p>
            <a:r>
              <a:rPr lang="en-US" dirty="0"/>
              <a:t>Lyle Ungar, Mark Liberman, Ying Ding</a:t>
            </a:r>
          </a:p>
          <a:p>
            <a:r>
              <a:rPr lang="en-US" dirty="0"/>
              <a:t>Lab mates:</a:t>
            </a:r>
          </a:p>
          <a:p>
            <a:pPr lvl="1"/>
            <a:r>
              <a:rPr lang="en-US" dirty="0" err="1"/>
              <a:t>Delip</a:t>
            </a:r>
            <a:r>
              <a:rPr lang="en-US" dirty="0"/>
              <a:t> Rao</a:t>
            </a:r>
          </a:p>
          <a:p>
            <a:pPr lvl="1"/>
            <a:r>
              <a:rPr lang="en-US" dirty="0"/>
              <a:t>Artemis </a:t>
            </a:r>
            <a:r>
              <a:rPr lang="en-US" i="0" dirty="0" err="1">
                <a:effectLst/>
              </a:rPr>
              <a:t>Panagopoulou</a:t>
            </a:r>
            <a:endParaRPr lang="en-US" i="0" dirty="0">
              <a:effectLst/>
            </a:endParaRPr>
          </a:p>
          <a:p>
            <a:pPr lvl="1"/>
            <a:r>
              <a:rPr lang="en-US" dirty="0"/>
              <a:t>Yue Yang</a:t>
            </a:r>
          </a:p>
          <a:p>
            <a:pPr lvl="1"/>
            <a:r>
              <a:rPr lang="en-US" dirty="0"/>
              <a:t>Liam Dugan</a:t>
            </a:r>
          </a:p>
          <a:p>
            <a:pPr lvl="1"/>
            <a:r>
              <a:rPr lang="en-US" dirty="0"/>
              <a:t>Andrew Zhu</a:t>
            </a:r>
          </a:p>
          <a:p>
            <a:pPr lvl="1"/>
            <a:r>
              <a:rPr lang="en-US" dirty="0"/>
              <a:t>Alyssa Hwang</a:t>
            </a:r>
          </a:p>
          <a:p>
            <a:pPr lvl="1"/>
            <a:r>
              <a:rPr lang="en-US" dirty="0"/>
              <a:t>Harry Zhang</a:t>
            </a:r>
          </a:p>
          <a:p>
            <a:pPr lvl="1"/>
            <a:r>
              <a:rPr lang="en-US" dirty="0"/>
              <a:t>Veronica Qing </a:t>
            </a:r>
            <a:r>
              <a:rPr lang="en-US" dirty="0" err="1"/>
              <a:t>Lyu</a:t>
            </a:r>
            <a:endParaRPr lang="en-US" dirty="0"/>
          </a:p>
          <a:p>
            <a:pPr lvl="1"/>
            <a:r>
              <a:rPr lang="en-US" dirty="0"/>
              <a:t>Mohammad Sadegh </a:t>
            </a:r>
            <a:r>
              <a:rPr lang="en-US" dirty="0" err="1"/>
              <a:t>Rasooli</a:t>
            </a:r>
            <a:endParaRPr lang="en-US" dirty="0"/>
          </a:p>
          <a:p>
            <a:r>
              <a:rPr lang="en-US" dirty="0"/>
              <a:t>University of Pennsylvania</a:t>
            </a:r>
          </a:p>
          <a:p>
            <a:r>
              <a:rPr lang="en-US" dirty="0"/>
              <a:t>Parents and Partner</a:t>
            </a:r>
          </a:p>
        </p:txBody>
      </p:sp>
      <p:pic>
        <p:nvPicPr>
          <p:cNvPr id="11266" name="Picture 2" descr="Penn Engineering">
            <a:extLst>
              <a:ext uri="{FF2B5EF4-FFF2-40B4-BE49-F238E27FC236}">
                <a16:creationId xmlns:a16="http://schemas.microsoft.com/office/drawing/2014/main" id="{284C9A32-F58A-5094-9506-1950B00A21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6928" y="2769684"/>
            <a:ext cx="2857500" cy="285750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8654D80F-2E22-05E9-DA8D-205422D6397D}"/>
              </a:ext>
            </a:extLst>
          </p:cNvPr>
          <p:cNvSpPr>
            <a:spLocks noGrp="1"/>
          </p:cNvSpPr>
          <p:nvPr>
            <p:ph type="sldNum" sz="quarter" idx="12"/>
          </p:nvPr>
        </p:nvSpPr>
        <p:spPr/>
        <p:txBody>
          <a:bodyPr/>
          <a:lstStyle/>
          <a:p>
            <a:fld id="{BDA8D12A-5188-A74B-8183-7E806E12A340}" type="slidenum">
              <a:rPr lang="en-US" smtClean="0"/>
              <a:t>79</a:t>
            </a:fld>
            <a:endParaRPr lang="en-US"/>
          </a:p>
        </p:txBody>
      </p:sp>
    </p:spTree>
    <p:extLst>
      <p:ext uri="{BB962C8B-B14F-4D97-AF65-F5344CB8AC3E}">
        <p14:creationId xmlns:p14="http://schemas.microsoft.com/office/powerpoint/2010/main" val="40041945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85035</TotalTime>
  <Words>7504</Words>
  <Application>Microsoft Macintosh PowerPoint</Application>
  <PresentationFormat>Widescreen</PresentationFormat>
  <Paragraphs>946</Paragraphs>
  <Slides>79</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79</vt:i4>
      </vt:variant>
    </vt:vector>
  </HeadingPairs>
  <TitlesOfParts>
    <vt:vector size="85" baseType="lpstr">
      <vt:lpstr>Arial</vt:lpstr>
      <vt:lpstr>Calibri</vt:lpstr>
      <vt:lpstr>Calibri Light</vt:lpstr>
      <vt:lpstr>ElsevierGulliver</vt:lpstr>
      <vt:lpstr>ElsevierSans</vt:lpstr>
      <vt:lpstr>Office Theme</vt:lpstr>
      <vt:lpstr>Applying Language Models to Patient Health Records: Acronym Expansion, Long Document Classification and Explainable Predictions</vt:lpstr>
      <vt:lpstr>Clinical NLP</vt:lpstr>
      <vt:lpstr>Clinical NLP</vt:lpstr>
      <vt:lpstr>Clinical NLP</vt:lpstr>
      <vt:lpstr>Clinical NLP</vt:lpstr>
      <vt:lpstr>Clinical NLP</vt:lpstr>
      <vt:lpstr>Challenges Addressed in this Dissertation</vt:lpstr>
      <vt:lpstr>Challenges Addressed in this Dissertation</vt:lpstr>
      <vt:lpstr>Acronym Disambiguation in Clinical Notes</vt:lpstr>
      <vt:lpstr>Motivation</vt:lpstr>
      <vt:lpstr>What makes this problem hard?</vt:lpstr>
      <vt:lpstr>Limitations of Past Work</vt:lpstr>
      <vt:lpstr>Approach </vt:lpstr>
      <vt:lpstr>Approach </vt:lpstr>
      <vt:lpstr>Approach </vt:lpstr>
      <vt:lpstr>Evaluation on Mimic-III Clinical Notes</vt:lpstr>
      <vt:lpstr>Contributions and Conclusion</vt:lpstr>
      <vt:lpstr>Structured and Unstructured Long Document EHR classification</vt:lpstr>
      <vt:lpstr>Structured and Unstructured Long Document EHR classification</vt:lpstr>
      <vt:lpstr>Past Research on Long Document Classification</vt:lpstr>
      <vt:lpstr>Past Research on Long Document Classification</vt:lpstr>
      <vt:lpstr>Task Formulation and Dataset</vt:lpstr>
      <vt:lpstr>Model Development: Example</vt:lpstr>
      <vt:lpstr>Model Development: Example</vt:lpstr>
      <vt:lpstr>Results</vt:lpstr>
      <vt:lpstr>Predictive Features for OUD</vt:lpstr>
      <vt:lpstr>Conclusion</vt:lpstr>
      <vt:lpstr>Explainable Predictions using Concept Bottlenecks</vt:lpstr>
      <vt:lpstr>Explainable Predictions using Concept Bottlenecks</vt:lpstr>
      <vt:lpstr>Previous Approaches for Explainable Predictions</vt:lpstr>
      <vt:lpstr>Previous Approaches for Explainable Predictions</vt:lpstr>
      <vt:lpstr>Previous Approaches for Explainable Predictions</vt:lpstr>
      <vt:lpstr>Previous Approaches for Explainable Predictions</vt:lpstr>
      <vt:lpstr>Explainable Predictions using Concept Bottlenecks</vt:lpstr>
      <vt:lpstr>Dementia Dataset </vt:lpstr>
      <vt:lpstr>How does GPT-4 Perform on Patient Dementia Diagnosis?</vt:lpstr>
      <vt:lpstr>Example of a Concept Vector from a Patient Note</vt:lpstr>
      <vt:lpstr>Example of a Concept Vector from a Patient Note</vt:lpstr>
      <vt:lpstr>Obtaining Concepts related to Dementia</vt:lpstr>
      <vt:lpstr>Obtaining Concepts related to Dementia</vt:lpstr>
      <vt:lpstr>Obtaining Concepts related to Dementia</vt:lpstr>
      <vt:lpstr>Breaking Complex Concepts Into Atomic Concepts </vt:lpstr>
      <vt:lpstr>Clinical Features Extracted</vt:lpstr>
      <vt:lpstr>Pipeline Overview</vt:lpstr>
      <vt:lpstr>Pipeline Overview</vt:lpstr>
      <vt:lpstr>Pipeline Overview</vt:lpstr>
      <vt:lpstr>Pipeline Overview</vt:lpstr>
      <vt:lpstr>Agreement Model</vt:lpstr>
      <vt:lpstr>Agreement Model: Example Input and Output</vt:lpstr>
      <vt:lpstr>Agreement Model: Example Input and Output</vt:lpstr>
      <vt:lpstr>Agreement Model Approaches</vt:lpstr>
      <vt:lpstr>Input for GPT-4 as Agreement Model</vt:lpstr>
      <vt:lpstr>Input for GPT-4 as Agreement Model</vt:lpstr>
      <vt:lpstr>GPT-4 as Agreement Model: Results</vt:lpstr>
      <vt:lpstr>Llama-2 as Agreement Model</vt:lpstr>
      <vt:lpstr>GPT-4 with Text Embeddings as Agreement Model</vt:lpstr>
      <vt:lpstr>GPT-4 with Text Embeddings as Agreement Model: Pipeline Overview</vt:lpstr>
      <vt:lpstr>GPT-4 with Text Embeddings as Agreement Model: Pipeline Overview</vt:lpstr>
      <vt:lpstr>GPT-4 with Text Embeddings as Agreement Model: Pipeline Overview</vt:lpstr>
      <vt:lpstr>GPT-4 with Text Embeddings as Agreement Model: Pipeline Overview</vt:lpstr>
      <vt:lpstr>GPT-4 with Text Embeddings as Agreement Model: Pipeline Overview</vt:lpstr>
      <vt:lpstr>GPT-4 with Text Embeddings as Agreement Model</vt:lpstr>
      <vt:lpstr>GPT-4 with Text Embeddings as Agreement Model: Results</vt:lpstr>
      <vt:lpstr>Additional Advantage of using Text Embeddings with GPT-4</vt:lpstr>
      <vt:lpstr>Pipeline Overview</vt:lpstr>
      <vt:lpstr>Pipeline Overview</vt:lpstr>
      <vt:lpstr>Dementia Prediction using Patient Concept Vectors</vt:lpstr>
      <vt:lpstr>Dementia Prediction: Results</vt:lpstr>
      <vt:lpstr>Top Predictive Features of our Concept Bottleneck Approach</vt:lpstr>
      <vt:lpstr>Exploring Gradient Tree Boosting as Final Classification Model</vt:lpstr>
      <vt:lpstr>Liver Disorder Prediction</vt:lpstr>
      <vt:lpstr>Limitations</vt:lpstr>
      <vt:lpstr>Conclusion</vt:lpstr>
      <vt:lpstr>Future Work</vt:lpstr>
      <vt:lpstr>Future Work: Standardize Concept Features</vt:lpstr>
      <vt:lpstr>Future Work: Concept Feature Modifiers </vt:lpstr>
      <vt:lpstr>Future Work: Non-Clinical Features</vt:lpstr>
      <vt:lpstr>Future Work: Scaling to More Diseases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Kashyap, Aditya Mahesh</dc:creator>
  <cp:lastModifiedBy>Kashyap, Aditya Mahesh</cp:lastModifiedBy>
  <cp:revision>186</cp:revision>
  <dcterms:created xsi:type="dcterms:W3CDTF">2025-01-07T18:30:19Z</dcterms:created>
  <dcterms:modified xsi:type="dcterms:W3CDTF">2025-03-07T19:45:32Z</dcterms:modified>
</cp:coreProperties>
</file>